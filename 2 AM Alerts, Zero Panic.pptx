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3327"/>
  </p:normalViewPr>
  <p:slideViewPr>
    <p:cSldViewPr snapToGrid="0" snapToObjects="1">
      <p:cViewPr varScale="1">
        <p:scale>
          <a:sx n="60" d="100"/>
          <a:sy n="60" d="100"/>
        </p:scale>
        <p:origin x="27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85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Good morning everyone. Thank you for being here.</a:t>
            </a:r>
            <a:br>
              <a:rPr lang="en-US" dirty="0"/>
            </a:br>
            <a:br>
              <a:rPr lang="en-US" dirty="0"/>
            </a:br>
            <a:r>
              <a:rPr lang="en-US" dirty="0"/>
              <a:t>
An engineer, got paged at 2 AM. Bunch of  Lambda function was throwing 500s, CloudWatch was screaming, and That engineer spent 33 minutes... just trying to understand what was happening. Not fixing it. Just understanding </a:t>
            </a:r>
            <a:r>
              <a:rPr lang="en-US" dirty="0" err="1"/>
              <a:t>it.That</a:t>
            </a:r>
            <a:r>
              <a:rPr lang="en-US" dirty="0"/>
              <a:t> engineer is standing right in front of you
[PAUSE]
Raise your hand if you have been there. That 2 AM moment where your phone buzzes and your stomach drops.
[Look around - hands will go up]
Today I want to show you something that would have changed that night completely. Sounds like a dream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this. It is 2:07 AM. Your phone lights up.
PagerDuty. Severity 1. You have 15 minutes before it escalates to your lead, manager.
You roll out of bed. Open the laptop. And now the clock starts. Which service changed last? CloudWatch. Datadog. Then you check the CI/CD deployment history. Then Slack - maybe someone mentioned something.
</a:t>
            </a:r>
            <a:r>
              <a:rPr lang="en-US" b="1" dirty="0"/>
              <a:t>Five dashboards. Zero context. And your brain is running at 30 percent capacity because it is 2 AM.</a:t>
            </a:r>
            <a:r>
              <a:rPr lang="en-US" dirty="0"/>
              <a:t>
The industry average? 47 minutes to resolve. Not to fix - just to UNDERSTAND what is happening. 47 minutes of panic, guessing, and context-switching.
Now - what if I told you that could become 3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I have got some swag to give away. And you have to earn it.
</a:t>
            </a:r>
            <a:br>
              <a:rPr lang="en-US" dirty="0"/>
            </a:br>
            <a:r>
              <a:rPr lang="en-US" dirty="0"/>
              <a:t>Read the slide</a:t>
            </a:r>
            <a:br>
              <a:rPr lang="en-US" dirty="0"/>
            </a:br>
            <a:br>
              <a:rPr lang="en-US" dirty="0"/>
            </a:br>
            <a:r>
              <a:rPr lang="en-US" dirty="0"/>
              <a:t>Pause</a:t>
            </a:r>
            <a:br>
              <a:rPr lang="en-US" dirty="0"/>
            </a:br>
            <a:r>
              <a:rPr lang="en-US" dirty="0"/>
              <a:t>
Yes! CONTEXT. It takes 23 minutes on average for an engineer to gain context during an incident. But one wrong hypothesis, one distraction, one Slack message - and you lose it in seconds. You are back to zero.
That fragility of context? That is the core problem we are solving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is a concept from manufacturing called the Theory of Constraints. Goldratt said: the output of any system - any system - is limited by its single tightest bottleneck.
[Point to the chain image]
Look at this chain. Every link is strong except one. That one glowing link? </a:t>
            </a:r>
            <a:br>
              <a:rPr lang="en-US" dirty="0"/>
            </a:br>
            <a:r>
              <a:rPr lang="en-US" dirty="0"/>
              <a:t>In incident response, that is the human. It is you at 2 AM. You, me, we  are the bottleneck.
Not because you are bad at your job. Because you are HUMAN. You have finite cognitive bandwidth. And your architecture just grew from 5 services to 500.
Goldratt said when you cannot make the bottleneck faster, you must ELEVATE it. Compliment it with something that does not have the same constraints.
[Let me show you what elevation looks like.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anticipation - slow pace]
What if... the first responder never sleeps?
What if you had an operations teammate who has investigated every incident your system has ever had... and remembers every single one?
[Click to reveal]
This is AWS DevOps Agent.
It is a frontier AI agent - and I use that word deliberately. Not a chatbot. Not a log search tool. A frontier agent that acts as an experienced DevOps engineer.
It investigates the moment an incident occurs. It works across AWS, multicloud, and on-prem. </a:t>
            </a:r>
            <a:r>
              <a:rPr lang="en-US" dirty="0" err="1"/>
              <a:t>ANd</a:t>
            </a:r>
            <a:r>
              <a:rPr lang="en-US" dirty="0"/>
              <a:t> it learns your topology - it knows how your services connect, what depends on what, and where the blast radius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is this structured? Three concepts you need to know.
[Point to each card]
First - Agent Space. Think of it as a container. You put your AWS accounts in it, your integrations, your permissions. One Agent Space per application or team - however you want to organize.
Second - the Web App. This is where your operations team lives day to day. They run investigations here, they chat with the agent in natural language, they browse the topology, they review prevention recommendations. It is separate from the AWS Console - this is purpose-built for operators.
Third - and this is the magic - Topology. DevOps Agent does not ask you to manually map your architecture. It DISCOVERS it. It finds your services, maps dependencies, understands blast radius - across accounts. 
[Transition] Now let me show you how it actually THINKS during an investigation.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delight slide for your 200-300 audience - go deeper]
This is what separates DevOps Agent from every LLM wrapper out there. Four layers.
[Point to each layer]
Layer 1 It knows your architecture. Not because you drew a diagram - because it discovered it. It knows Service A talks to Service B through an API Gateway, which hits DynamoDB.
Layer 2: Signal Correlation. It is not looking at one log file. It is ingesting from CloudWatch AND Datadog AND your GitHub deployment history AND your CI/CD pipeline - simultaneously. All the signals.
Layer 3 - and this is the key differentiator: Hypothesis Reasoning. It does not grep logs for error strings. It builds a hypothesis TREE. "Maybe it is the deployment from 12 minutes ago. Maybe it is a DynamoDB throttle. Maybe it is a downstream dependency." And it explores ALL of these branches in parallel - then validates each against evidence.
[Lean in] That is not search. That is reasoning.
Layer 4: Learned Skills. Every successful investigation path becomes a reusable skill. Next time a similar incident happens? It skips straight to the right hypothesis. It gets faster every time.
[PAUSE] Now - pay attention to this slide. There will be a quiz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a question I always get: "How does an incident actually REACH the agent?"
Five ways in.
[Point to each]
Web App - you can manually start an investigation. 
Webhooks - this is the event-driven path. Your PagerDuty fires, your Grafana alert triggers, your Datadog alarm goes off - webhook hits DevOps Agent and investigation starts automatically. No human needed to initiate.
MCP - Model Context Protocol. This is for developers. You are in Kiro or Claude Code, coding away, an incident fires - you can investigate it RIGHT FROM YOUR IDE without context-switching. Think about that.
ACP - Agent Client Protocol. Programmatic. Build your own orchestration.
API - Direct access for custom applications.
[Wink] Also pay attention to MCP. There might be a quiz about it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previous slide]
I mentioned MCP - that your coding agent can investigate incidents from your IDE. But it goes further than just DevOps Agent.
AWS has something called the Agent Toolkit for AWS. Think of it as the bridge between your AI coding agent and all of AWS.
[Point to each]
First - the AWS MCP Server. Managed, remote server that gives your coding agent secure access to over 300 AWS services. Your agent can execute AWS CLI commands, search documentation, even run sandboxed Python scripts - all with CloudWatch monitoring and IAM guardrails
Second - Agent Skills + </a:t>
            </a:r>
            <a:r>
              <a:rPr lang="en-US" dirty="0" err="1"/>
              <a:t>RUles</a:t>
            </a:r>
            <a:r>
              <a:rPr lang="en-US" dirty="0"/>
              <a:t>. These are curated packages for diff services - step-by-step procedures, troubleshooting guides, decision guides. Open source on GitHub. Your agent discovers the right skill at runtime - it does not load everything into context.
Third - Agent Plugins. One-click install for Claude Code, Kiro, Codex, Cursor. Skills and MCP config auto-update.
[Land the key point]
imagine DevOps Agent finds the root cause - a bad deployment broke a Lambda function. It generates a mitigation plan. You are in Kiro. Agent Toolkit lets your coding agent take that mitigation plan and IMPLEMENT the fix - right there. </a:t>
            </a:r>
            <a:br>
              <a:rPr lang="en-US" dirty="0"/>
            </a:br>
            <a:br>
              <a:rPr lang="en-US" dirty="0"/>
            </a:br>
            <a:r>
              <a:rPr lang="en-US" dirty="0"/>
              <a:t>Investigate with DevOps Agent, fix with Agent Toolkit. That is the agentic future: agents that investigate AND agents that fix.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lifecycle in one picture.
Alert comes in. Triage happens in SECONDS - not minutes. The agent decides: is this related to something I am already investigating? If yes, it links them. If it is noise, it skips. If it is new, it proceeds.
Then investigation. Then root cause with EVIDENCE - not just a guess. Then mitigation plans - specific commands, rollback steps, config changes.
[Key point] And here is the kicker: those mitigation plans are agent-ready. You can hand them to Kiro - the autonomous coding agent - and it implements the fix. Agents investigating, agents fixing. That is the future.
And proactively? After every investigation, DevOps Agent recommends improvements in four areas: observability, infrastructure, pipelines, and resilience. Every incident makes your system STRONGER.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 smile]
Alright! Swag round 2. This one is harder.
[Read the question]
I told you about the hypothesis tree. DevOps Agent builds multiple hypotheses and prunes the wrong ones. HOW does it prune them?
[Read options A through D]
[PAUSE 5-8 seconds]
[Point to answer] B! Evidence validation against telemetry. It does not randomly guess. It does not wait for timeout. It checks each hypothesis against REAL data - metric patterns, deployment timestamps, log correlations. If the evidence does not support it, that branch gets pruned.
That is what makes this different from someone pasting logs into Chat </a:t>
            </a:r>
            <a:r>
              <a:rPr lang="en-US" dirty="0" err="1"/>
              <a:t>Assistanrs</a:t>
            </a:r>
            <a:r>
              <a:rPr lang="en-US" dirty="0"/>
              <a:t>. This is structured reasoning with evidence.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8D576-8588-5241-7B57-148DFBD74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EB4AB-3ACF-96C6-A75C-9F0D5B79D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FF265-23AC-842F-4AAC-43FEED912CDF}"/>
              </a:ext>
            </a:extLst>
          </p:cNvPr>
          <p:cNvSpPr>
            <a:spLocks noGrp="1"/>
          </p:cNvSpPr>
          <p:nvPr>
            <p:ph type="body" idx="1"/>
          </p:nvPr>
        </p:nvSpPr>
        <p:spPr/>
        <p:txBody>
          <a:bodyPr/>
          <a:lstStyle/>
          <a:p>
            <a:r>
              <a:rPr lang="en-US" dirty="0"/>
              <a:t>[ENERGY - smile]
Alright! Swag round 2. This one is harder.
[Read the question]
I told you about the hypothesis tree. DevOps Agent builds multiple hypotheses and prunes the wrong ones. HOW does it prune them?
[Read options A through D]
[PAUSE 5-8 seconds]
[Point to answer] B! Evidence validation against telemetry. It does not randomly guess. It does not wait for timeout. It checks each hypothesis against REAL data - metric patterns, deployment timestamps, log correlations. If the evidence does not support it, that branch gets pruned.
That is what makes this different from someone pasting logs into Chat </a:t>
            </a:r>
            <a:r>
              <a:rPr lang="en-US" dirty="0" err="1"/>
              <a:t>Assistanrs</a:t>
            </a:r>
            <a:r>
              <a:rPr lang="en-US" dirty="0"/>
              <a:t>. This is structured reasoning with evidence.</a:t>
            </a:r>
          </a:p>
        </p:txBody>
      </p:sp>
      <p:sp>
        <p:nvSpPr>
          <p:cNvPr id="4" name="Slide Number Placeholder 3">
            <a:extLst>
              <a:ext uri="{FF2B5EF4-FFF2-40B4-BE49-F238E27FC236}">
                <a16:creationId xmlns:a16="http://schemas.microsoft.com/office/drawing/2014/main" id="{57A01B84-700E-EA0F-6353-607396BF56F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603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demo energy]
Alright - enough slides. Let me show you the real thing.
I have a Lambda function pre-provisioned that is generating errors right now. CloudWatch is going to pick it up, the alarm is going to fire, and DevOps Agent is going to auto-investigate.
Watch what happens.
[Switch to console]
[During demo, narrate: "See the triage happening... it is correlating the Lambda error logs with the deployment that happened 10 minutes ago... it is checking the code diff... forming a hypothesis... and there is the root cause. With evidence. And a mitigation plan."]
[After demo] That took about 3 minutes. An engineer at 2 AM? 45 to 90 minutes. And they might have gone down 2 wrong paths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energy high]
Now let us make it harder. Different environment entirely.
I have an EKS cluster with pods that are failing. This is containerized workloads - a different beast. The agent needs to correlate pod events, node-level metrics, deployment history, maybe even check if someone changed the Kubernetes manifests.
[Switch to console]
[During demo, narrate: "Notice it is checking pod events... correlating with node metrics... looking at deployment history in GitHub... there - it found it. The deployment 20 minutes ago changed resource limits and pods are OOMKilled."]
[After demo] Two completely different environments - Lambda serverless and EKS containers. Same agent. Same speed. Same quality of root cause. That is the power of topology intelligence plus learned skills.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energy - final swag, biggest prize]
Last one. Hardest question. Biggest swag.
[Read slowly]
"DevOps Agent has 5 access methods. One lets you investigate production incidents without leaving your IDE. Name it... AND name the two IDEs that support it out of the box."
[PAUSE 15-20 seconds - this is tough]
[If no one gets it, give the hint] The hint is on screen: what makes a senior SRE irreplaceable? Context without switching tools.
[Award] The answer is MCP - Model Context Protocol. Supported in Kiro and Claude Code.
[Explain for everyone] Imagine this: you are in your IDE writing code. An incident fires. Instead of switching to another browser tab, another console, another tool - you investigate the production incident RIGHT THERE in your editor. That is MCP plus DevOps Agent. Zero context-switch.
[Toss biggest swag]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 this is the landing]
Let us bring it home.
[Point to each stat]
MTTR: from hours to minutes. You saw it live.
Alarm noise: 50 alarms become 3 investigations. Because it correlates. It understands.
engineers shift from firefighting to fireproofing. They are not woken at 2 AM to figure out WHAT is wrong. They wake up to a Slack message that says "Here is what happened, here is why, here is how to fix it, and here is how to prevent it next time."
And your system? It gets stronger after every incident. Every investigation teaches the agent something new.
[PAUSE - deliver the closing line slowly]
Your engineers wake up to solutions... not sirens.
[Let that land]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resonated - here is what you do Monday morning.
Go to the AWS Console. Create an Agent Space. Connect one application - your noisiest one, the one that pages you the most.
Let DevOps Agent run its first investigation. You will have results in minutes.
And then expand. Add more accounts, more integrations, more tools.
[Point to QR code] This QR code takes you straight to the getting started guide. Scan it, and you are 5 minutes away from your first investigation.
Questions? I will be here after the talk as well.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so much for your time today.
I am Jatin Mehrotra, Developer Advocate at AWS. If you want to continue this conversation, connect with me on LinkedIn - QR is right there.
I will be around after the talk if you want to chat about your specific use cases, your on-call challenges, or how to get started.
[Smile] And remember - next time your phone buzzes at 2 AM... it might just be DevOps Agent telling you it already fixed the problem.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1051560" y="2926080"/>
            <a:ext cx="10058400" cy="1097280"/>
          </a:xfrm>
          <a:prstGeom prst="rect">
            <a:avLst/>
          </a:prstGeom>
          <a:noFill/>
          <a:ln/>
        </p:spPr>
        <p:txBody>
          <a:bodyPr wrap="square" lIns="0" tIns="0" rIns="0" bIns="0" rtlCol="0" anchor="ctr"/>
          <a:lstStyle/>
          <a:p>
            <a:pPr marL="0" indent="0" algn="ctr">
              <a:buNone/>
            </a:pPr>
            <a:r>
              <a:rPr lang="en-US" sz="4000" b="1" dirty="0">
                <a:solidFill>
                  <a:srgbClr val="FFFFFF"/>
                </a:solidFill>
                <a:latin typeface="Montserrat" pitchFamily="34" charset="0"/>
                <a:ea typeface="Montserrat" pitchFamily="34" charset="-122"/>
                <a:cs typeface="Montserrat" pitchFamily="34" charset="-120"/>
              </a:rPr>
              <a:t>2 AM Alerts, Zero Panic</a:t>
            </a:r>
            <a:endParaRPr lang="en-US" sz="4000" dirty="0"/>
          </a:p>
        </p:txBody>
      </p:sp>
      <p:sp>
        <p:nvSpPr>
          <p:cNvPr id="6" name="Text 4"/>
          <p:cNvSpPr/>
          <p:nvPr/>
        </p:nvSpPr>
        <p:spPr>
          <a:xfrm>
            <a:off x="1508760" y="4114800"/>
            <a:ext cx="9144000" cy="64008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How </a:t>
            </a:r>
            <a:r>
              <a:rPr lang="en-US" sz="2400" b="1" dirty="0">
                <a:solidFill>
                  <a:srgbClr val="34D399"/>
                </a:solidFill>
                <a:latin typeface="Inter" pitchFamily="34" charset="0"/>
                <a:ea typeface="Inter" pitchFamily="34" charset="-122"/>
                <a:cs typeface="Inter" pitchFamily="34" charset="-120"/>
              </a:rPr>
              <a:t>AWS DevOps Agent</a:t>
            </a:r>
            <a:r>
              <a:rPr lang="en-US" sz="2400" dirty="0">
                <a:solidFill>
                  <a:srgbClr val="9CA3AF"/>
                </a:solidFill>
                <a:latin typeface="Inter" pitchFamily="34" charset="0"/>
                <a:ea typeface="Inter" pitchFamily="34" charset="-122"/>
                <a:cs typeface="Inter" pitchFamily="34" charset="-120"/>
              </a:rPr>
              <a:t> Is Replacing the On-Call Firefight</a:t>
            </a:r>
            <a:endParaRPr lang="en-US" sz="2400" dirty="0"/>
          </a:p>
        </p:txBody>
      </p:sp>
      <p:sp>
        <p:nvSpPr>
          <p:cNvPr id="7" name="Text 5"/>
          <p:cNvSpPr/>
          <p:nvPr/>
        </p:nvSpPr>
        <p:spPr>
          <a:xfrm>
            <a:off x="1508760" y="5669280"/>
            <a:ext cx="9144000" cy="45720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Jatin Mehrotra | Developer Advocate, AWS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pic>
        <p:nvPicPr>
          <p:cNvPr id="2" name="Image 0" descr="artifacts/image_026.png"/>
          <p:cNvPicPr>
            <a:picLocks noChangeAspect="1"/>
          </p:cNvPicPr>
          <p:nvPr/>
        </p:nvPicPr>
        <p:blipFill>
          <a:blip r:embed="rId3"/>
          <a:stretch>
            <a:fillRect/>
          </a:stretch>
        </p:blipFill>
        <p:spPr>
          <a:xfrm>
            <a:off x="0" y="0"/>
            <a:ext cx="12161520" cy="6858000"/>
          </a:xfrm>
          <a:prstGeom prst="rect">
            <a:avLst/>
          </a:prstGeom>
        </p:spPr>
      </p:pic>
      <p:sp>
        <p:nvSpPr>
          <p:cNvPr id="3" name="Shape 0"/>
          <p:cNvSpPr/>
          <p:nvPr/>
        </p:nvSpPr>
        <p:spPr>
          <a:xfrm>
            <a:off x="7772400" y="2286000"/>
            <a:ext cx="3657600" cy="2286000"/>
          </a:xfrm>
          <a:prstGeom prst="roundRect">
            <a:avLst>
              <a:gd name="adj" fmla="val 4000"/>
            </a:avLst>
          </a:prstGeom>
          <a:solidFill>
            <a:srgbClr val="0D1117">
              <a:alpha val="90000"/>
            </a:srgbClr>
          </a:solidFill>
          <a:ln w="12700">
            <a:solidFill>
              <a:srgbClr val="2D3748"/>
            </a:solidFill>
            <a:prstDash val="solid"/>
          </a:ln>
        </p:spPr>
        <p:txBody>
          <a:bodyPr/>
          <a:lstStyle/>
          <a:p>
            <a:endParaRPr lang="en-US"/>
          </a:p>
        </p:txBody>
      </p:sp>
      <p:sp>
        <p:nvSpPr>
          <p:cNvPr id="4" name="Text 1"/>
          <p:cNvSpPr/>
          <p:nvPr/>
        </p:nvSpPr>
        <p:spPr>
          <a:xfrm>
            <a:off x="731520" y="457200"/>
            <a:ext cx="5486400" cy="82296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The 2 AM Reality</a:t>
            </a:r>
            <a:endParaRPr lang="en-US" sz="3600" dirty="0"/>
          </a:p>
        </p:txBody>
      </p:sp>
      <p:sp>
        <p:nvSpPr>
          <p:cNvPr id="5" name="Text 2"/>
          <p:cNvSpPr/>
          <p:nvPr/>
        </p:nvSpPr>
        <p:spPr>
          <a:xfrm>
            <a:off x="731520" y="1828800"/>
            <a:ext cx="5029200" cy="2743200"/>
          </a:xfrm>
          <a:prstGeom prst="rect">
            <a:avLst/>
          </a:prstGeom>
          <a:noFill/>
          <a:ln/>
        </p:spPr>
        <p:txBody>
          <a:bodyPr wrap="square" lIns="0" tIns="0" rIns="0" bIns="0" rtlCol="0" anchor="t"/>
          <a:lstStyle/>
          <a:p>
            <a:pPr marL="0" indent="0">
              <a:buNone/>
            </a:pPr>
            <a:r>
              <a:rPr lang="en-US" sz="2400" b="1" dirty="0">
                <a:solidFill>
                  <a:srgbClr val="FFFFFF"/>
                </a:solidFill>
                <a:latin typeface="Inter" pitchFamily="34" charset="0"/>
                <a:ea typeface="Inter" pitchFamily="34" charset="-122"/>
                <a:cs typeface="Inter" pitchFamily="34" charset="-120"/>
              </a:rPr>
              <a:t>Phone buzzes.</a:t>
            </a:r>
            <a:endParaRPr lang="en-US" sz="2400" dirty="0"/>
          </a:p>
          <a:p>
            <a:pPr marL="0" indent="0">
              <a:buNone/>
            </a:pPr>
            <a:r>
              <a:rPr lang="en-US" sz="2400" b="1" dirty="0">
                <a:solidFill>
                  <a:srgbClr val="F472B6"/>
                </a:solidFill>
                <a:latin typeface="Inter" pitchFamily="34" charset="0"/>
                <a:ea typeface="Inter" pitchFamily="34" charset="-122"/>
                <a:cs typeface="Inter" pitchFamily="34" charset="-120"/>
              </a:rPr>
              <a:t>PagerDuty fires.</a:t>
            </a:r>
            <a:endParaRPr lang="en-US" sz="2400" dirty="0"/>
          </a:p>
          <a:p>
            <a:pPr marL="0" indent="0">
              <a:buNone/>
            </a:pP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15 min to acknowledge.</a:t>
            </a:r>
            <a:endParaRPr lang="en-US" sz="2400" dirty="0"/>
          </a:p>
          <a:p>
            <a:pPr marL="0" indent="0">
              <a:buNone/>
            </a:pPr>
            <a:r>
              <a:rPr lang="en-US" sz="2400" b="1" dirty="0">
                <a:solidFill>
                  <a:srgbClr val="FFFFFF"/>
                </a:solidFill>
                <a:latin typeface="Inter" pitchFamily="34" charset="0"/>
                <a:ea typeface="Inter" pitchFamily="34" charset="-122"/>
                <a:cs typeface="Inter" pitchFamily="34" charset="-120"/>
              </a:rPr>
              <a:t>No context. Just panic.</a:t>
            </a:r>
            <a:endParaRPr lang="en-US" sz="2400" dirty="0"/>
          </a:p>
        </p:txBody>
      </p:sp>
      <p:sp>
        <p:nvSpPr>
          <p:cNvPr id="6" name="Text 3"/>
          <p:cNvSpPr/>
          <p:nvPr/>
        </p:nvSpPr>
        <p:spPr>
          <a:xfrm>
            <a:off x="7955280" y="2468880"/>
            <a:ext cx="3200400" cy="1188720"/>
          </a:xfrm>
          <a:prstGeom prst="rect">
            <a:avLst/>
          </a:prstGeom>
          <a:noFill/>
          <a:ln/>
        </p:spPr>
        <p:txBody>
          <a:bodyPr wrap="square" lIns="0" tIns="0" rIns="0" bIns="0" rtlCol="0" anchor="ctr"/>
          <a:lstStyle/>
          <a:p>
            <a:pPr marL="0" indent="0" algn="ctr">
              <a:buNone/>
            </a:pPr>
            <a:r>
              <a:rPr lang="en-US" sz="7200" b="1" dirty="0">
                <a:solidFill>
                  <a:srgbClr val="34D399"/>
                </a:solidFill>
                <a:latin typeface="Montserrat" pitchFamily="34" charset="0"/>
                <a:ea typeface="Montserrat" pitchFamily="34" charset="-122"/>
                <a:cs typeface="Montserrat" pitchFamily="34" charset="-120"/>
              </a:rPr>
              <a:t>47</a:t>
            </a:r>
            <a:endParaRPr lang="en-US" sz="7200" dirty="0"/>
          </a:p>
        </p:txBody>
      </p:sp>
      <p:sp>
        <p:nvSpPr>
          <p:cNvPr id="7" name="Text 4"/>
          <p:cNvSpPr/>
          <p:nvPr/>
        </p:nvSpPr>
        <p:spPr>
          <a:xfrm>
            <a:off x="7955280" y="3566160"/>
            <a:ext cx="3200400" cy="54864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min avg MTTR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pic>
        <p:nvPicPr>
          <p:cNvPr id="5" name="Image 0" descr="artifacts/image_028.png"/>
          <p:cNvPicPr>
            <a:picLocks noChangeAspect="1"/>
          </p:cNvPicPr>
          <p:nvPr/>
        </p:nvPicPr>
        <p:blipFill>
          <a:blip r:embed="rId3"/>
          <a:stretch>
            <a:fillRect/>
          </a:stretch>
        </p:blipFill>
        <p:spPr>
          <a:xfrm>
            <a:off x="6858000" y="182880"/>
            <a:ext cx="5029200" cy="3657600"/>
          </a:xfrm>
          <a:prstGeom prst="rect">
            <a:avLst/>
          </a:prstGeom>
        </p:spPr>
      </p:pic>
      <p:sp>
        <p:nvSpPr>
          <p:cNvPr id="6" name="Text 3"/>
          <p:cNvSpPr/>
          <p:nvPr/>
        </p:nvSpPr>
        <p:spPr>
          <a:xfrm>
            <a:off x="914400" y="457200"/>
            <a:ext cx="5486400" cy="731520"/>
          </a:xfrm>
          <a:prstGeom prst="rect">
            <a:avLst/>
          </a:prstGeom>
          <a:noFill/>
          <a:ln/>
        </p:spPr>
        <p:txBody>
          <a:bodyPr wrap="square" lIns="0" tIns="0" rIns="0" bIns="0" rtlCol="0" anchor="ctr"/>
          <a:lstStyle/>
          <a:p>
            <a:pPr marL="0" indent="0">
              <a:buNone/>
            </a:pPr>
            <a:r>
              <a:rPr lang="en-US" sz="2800" b="1" dirty="0">
                <a:solidFill>
                  <a:srgbClr val="34D399"/>
                </a:solidFill>
                <a:latin typeface="Montserrat" pitchFamily="34" charset="0"/>
                <a:ea typeface="Montserrat" pitchFamily="34" charset="-122"/>
                <a:cs typeface="Montserrat" pitchFamily="34" charset="-120"/>
              </a:rPr>
              <a:t>🎯 Riddle #1 — Easy</a:t>
            </a:r>
            <a:endParaRPr lang="en-US" sz="2800" dirty="0"/>
          </a:p>
        </p:txBody>
      </p:sp>
      <p:sp>
        <p:nvSpPr>
          <p:cNvPr id="7" name="Text 4"/>
          <p:cNvSpPr/>
          <p:nvPr/>
        </p:nvSpPr>
        <p:spPr>
          <a:xfrm>
            <a:off x="1371600" y="1828800"/>
            <a:ext cx="9144000" cy="3474720"/>
          </a:xfrm>
          <a:prstGeom prst="rect">
            <a:avLst/>
          </a:prstGeom>
          <a:noFill/>
          <a:ln/>
        </p:spPr>
        <p:txBody>
          <a:bodyPr wrap="square" lIns="0" tIns="0" rIns="0" bIns="0" rtlCol="0" anchor="ctr"/>
          <a:lstStyle/>
          <a:p>
            <a:pPr marL="0" indent="0" algn="ctr">
              <a:buNone/>
            </a:pPr>
            <a:r>
              <a:rPr lang="en-US" sz="3000" dirty="0">
                <a:solidFill>
                  <a:srgbClr val="FFFFFF"/>
                </a:solidFill>
                <a:latin typeface="Inter" pitchFamily="34" charset="0"/>
                <a:ea typeface="Inter" pitchFamily="34" charset="-122"/>
                <a:cs typeface="Inter" pitchFamily="34" charset="-120"/>
              </a:rPr>
              <a:t>"I take </a:t>
            </a:r>
            <a:r>
              <a:rPr lang="en-US" sz="3000" b="1" dirty="0">
                <a:solidFill>
                  <a:srgbClr val="34D399"/>
                </a:solidFill>
                <a:latin typeface="Inter" pitchFamily="34" charset="0"/>
                <a:ea typeface="Inter" pitchFamily="34" charset="-122"/>
                <a:cs typeface="Inter" pitchFamily="34" charset="-120"/>
              </a:rPr>
              <a:t>23 minutes</a:t>
            </a:r>
            <a:r>
              <a:rPr lang="en-US" sz="3000" dirty="0">
                <a:solidFill>
                  <a:srgbClr val="FFFFFF"/>
                </a:solidFill>
                <a:latin typeface="Inter" pitchFamily="34" charset="0"/>
                <a:ea typeface="Inter" pitchFamily="34" charset="-122"/>
                <a:cs typeface="Inter" pitchFamily="34" charset="-120"/>
              </a:rPr>
              <a:t> to build</a:t>
            </a:r>
            <a:endParaRPr lang="en-US" sz="3000" dirty="0"/>
          </a:p>
          <a:p>
            <a:pPr marL="0" indent="0" algn="ctr">
              <a:buNone/>
            </a:pPr>
            <a:r>
              <a:rPr lang="en-US" sz="3000" dirty="0">
                <a:solidFill>
                  <a:srgbClr val="FFFFFF"/>
                </a:solidFill>
                <a:latin typeface="Inter" pitchFamily="34" charset="0"/>
                <a:ea typeface="Inter" pitchFamily="34" charset="-122"/>
                <a:cs typeface="Inter" pitchFamily="34" charset="-120"/>
              </a:rPr>
              <a:t>but vanish in </a:t>
            </a:r>
            <a:r>
              <a:rPr lang="en-US" sz="3000" b="1" dirty="0">
                <a:solidFill>
                  <a:srgbClr val="F472B6"/>
                </a:solidFill>
                <a:latin typeface="Inter" pitchFamily="34" charset="0"/>
                <a:ea typeface="Inter" pitchFamily="34" charset="-122"/>
                <a:cs typeface="Inter" pitchFamily="34" charset="-120"/>
              </a:rPr>
              <a:t>3 seconds.</a:t>
            </a:r>
            <a:endParaRPr lang="en-US" sz="3000" dirty="0"/>
          </a:p>
          <a:p>
            <a:pPr marL="0" indent="0" algn="ctr">
              <a:buNone/>
            </a:pPr>
            <a:endParaRPr lang="en-US" sz="3000" dirty="0"/>
          </a:p>
          <a:p>
            <a:pPr marL="0" indent="0" algn="ctr">
              <a:buNone/>
            </a:pPr>
            <a:r>
              <a:rPr lang="en-US" sz="3000" dirty="0">
                <a:solidFill>
                  <a:srgbClr val="FFFFFF"/>
                </a:solidFill>
                <a:latin typeface="Inter" pitchFamily="34" charset="0"/>
                <a:ea typeface="Inter" pitchFamily="34" charset="-122"/>
                <a:cs typeface="Inter" pitchFamily="34" charset="-120"/>
              </a:rPr>
              <a:t>Every on-call engineer</a:t>
            </a:r>
            <a:endParaRPr lang="en-US" sz="3000" dirty="0"/>
          </a:p>
          <a:p>
            <a:pPr marL="0" indent="0" algn="ctr">
              <a:buNone/>
            </a:pPr>
            <a:r>
              <a:rPr lang="en-US" sz="3000" dirty="0">
                <a:solidFill>
                  <a:srgbClr val="FFFFFF"/>
                </a:solidFill>
                <a:latin typeface="Inter" pitchFamily="34" charset="0"/>
                <a:ea typeface="Inter" pitchFamily="34" charset="-122"/>
                <a:cs typeface="Inter" pitchFamily="34" charset="-120"/>
              </a:rPr>
              <a:t>needs me at 2 AM.</a:t>
            </a:r>
            <a:endParaRPr lang="en-US" sz="3000" dirty="0"/>
          </a:p>
          <a:p>
            <a:pPr marL="0" indent="0" algn="ctr">
              <a:buNone/>
            </a:pPr>
            <a:endParaRPr lang="en-US" sz="3000" dirty="0"/>
          </a:p>
          <a:p>
            <a:pPr marL="0" indent="0" algn="ctr">
              <a:buNone/>
            </a:pPr>
            <a:r>
              <a:rPr lang="en-US" sz="3000" b="1" dirty="0">
                <a:solidFill>
                  <a:srgbClr val="FF9900"/>
                </a:solidFill>
                <a:latin typeface="Inter" pitchFamily="34" charset="0"/>
                <a:ea typeface="Inter" pitchFamily="34" charset="-122"/>
                <a:cs typeface="Inter" pitchFamily="34" charset="-120"/>
              </a:rPr>
              <a:t>What am I?"</a:t>
            </a:r>
            <a:endParaRPr lang="en-US" sz="3000" dirty="0"/>
          </a:p>
        </p:txBody>
      </p:sp>
      <p:sp>
        <p:nvSpPr>
          <p:cNvPr id="8" name="Text 5"/>
          <p:cNvSpPr/>
          <p:nvPr/>
        </p:nvSpPr>
        <p:spPr>
          <a:xfrm>
            <a:off x="1371600" y="5669280"/>
            <a:ext cx="9144000" cy="457200"/>
          </a:xfrm>
          <a:prstGeom prst="rect">
            <a:avLst/>
          </a:prstGeom>
          <a:noFill/>
          <a:ln/>
        </p:spPr>
        <p:txBody>
          <a:bodyPr wrap="square" lIns="0" tIns="0" rIns="0" bIns="0" rtlCol="0" anchor="ctr"/>
          <a:lstStyle/>
          <a:p>
            <a:pPr marL="0" indent="0" algn="ctr">
              <a:buNone/>
            </a:pPr>
            <a:r>
              <a:rPr lang="en-US" sz="2400" dirty="0">
                <a:solidFill>
                  <a:srgbClr val="F59E0B"/>
                </a:solidFill>
                <a:latin typeface="Inter" pitchFamily="34" charset="0"/>
                <a:ea typeface="Inter" pitchFamily="34" charset="-122"/>
                <a:cs typeface="Inter" pitchFamily="34" charset="-120"/>
              </a:rPr>
              <a:t>🏆 First correct answer wins swag!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pic>
        <p:nvPicPr>
          <p:cNvPr id="5" name="Image 0" descr="artifacts/image_029.png"/>
          <p:cNvPicPr>
            <a:picLocks noChangeAspect="1"/>
          </p:cNvPicPr>
          <p:nvPr/>
        </p:nvPicPr>
        <p:blipFill>
          <a:blip r:embed="rId3"/>
          <a:stretch>
            <a:fillRect/>
          </a:stretch>
        </p:blipFill>
        <p:spPr>
          <a:xfrm>
            <a:off x="914400" y="3474720"/>
            <a:ext cx="10332720" cy="3200400"/>
          </a:xfrm>
          <a:prstGeom prst="rect">
            <a:avLst/>
          </a:prstGeom>
        </p:spPr>
      </p:pic>
      <p:sp>
        <p:nvSpPr>
          <p:cNvPr id="6" name="Text 3"/>
          <p:cNvSpPr/>
          <p:nvPr/>
        </p:nvSpPr>
        <p:spPr>
          <a:xfrm>
            <a:off x="914400" y="365760"/>
            <a:ext cx="1033272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Montserrat" pitchFamily="34" charset="0"/>
                <a:ea typeface="Montserrat" pitchFamily="34" charset="-122"/>
                <a:cs typeface="Montserrat" pitchFamily="34" charset="-120"/>
              </a:rPr>
              <a:t>The Bottleneck</a:t>
            </a:r>
            <a:endParaRPr lang="en-US" sz="4000" dirty="0"/>
          </a:p>
        </p:txBody>
      </p:sp>
      <p:sp>
        <p:nvSpPr>
          <p:cNvPr id="7" name="Text 4"/>
          <p:cNvSpPr/>
          <p:nvPr/>
        </p:nvSpPr>
        <p:spPr>
          <a:xfrm>
            <a:off x="1828800" y="1463040"/>
            <a:ext cx="8503920" cy="1280160"/>
          </a:xfrm>
          <a:prstGeom prst="rect">
            <a:avLst/>
          </a:prstGeom>
          <a:noFill/>
          <a:ln/>
        </p:spPr>
        <p:txBody>
          <a:bodyPr wrap="square" lIns="0" tIns="0" rIns="0" bIns="0" rtlCol="0" anchor="ctr"/>
          <a:lstStyle/>
          <a:p>
            <a:pPr marL="0" indent="0" algn="ctr">
              <a:buNone/>
            </a:pPr>
            <a:r>
              <a:rPr lang="en-US" sz="2600" i="1" dirty="0">
                <a:solidFill>
                  <a:srgbClr val="FFFFFF"/>
                </a:solidFill>
                <a:latin typeface="Inter" pitchFamily="34" charset="0"/>
                <a:ea typeface="Inter" pitchFamily="34" charset="-122"/>
                <a:cs typeface="Inter" pitchFamily="34" charset="-120"/>
              </a:rPr>
              <a:t>"The throughput of any system is limited</a:t>
            </a:r>
            <a:endParaRPr lang="en-US" sz="2600" dirty="0"/>
          </a:p>
          <a:p>
            <a:pPr marL="0" indent="0" algn="ctr">
              <a:buNone/>
            </a:pPr>
            <a:r>
              <a:rPr lang="en-US" sz="2600" i="1" dirty="0">
                <a:solidFill>
                  <a:srgbClr val="FFFFFF"/>
                </a:solidFill>
                <a:latin typeface="Inter" pitchFamily="34" charset="0"/>
                <a:ea typeface="Inter" pitchFamily="34" charset="-122"/>
                <a:cs typeface="Inter" pitchFamily="34" charset="-120"/>
              </a:rPr>
              <a:t>by its single tightest constraint."</a:t>
            </a:r>
            <a:endParaRPr lang="en-US" sz="2600" dirty="0"/>
          </a:p>
        </p:txBody>
      </p:sp>
      <p:sp>
        <p:nvSpPr>
          <p:cNvPr id="8" name="Text 5"/>
          <p:cNvSpPr/>
          <p:nvPr/>
        </p:nvSpPr>
        <p:spPr>
          <a:xfrm>
            <a:off x="1828800" y="2743200"/>
            <a:ext cx="8503920" cy="457200"/>
          </a:xfrm>
          <a:prstGeom prst="rect">
            <a:avLst/>
          </a:prstGeom>
          <a:noFill/>
          <a:ln/>
        </p:spPr>
        <p:txBody>
          <a:bodyPr wrap="square" lIns="0" tIns="0" rIns="0" bIns="0" rtlCol="0" anchor="ctr"/>
          <a:lstStyle/>
          <a:p>
            <a:pPr marL="0" indent="0" algn="ctr">
              <a:buNone/>
            </a:pPr>
            <a:r>
              <a:rPr lang="en-US" sz="2400" dirty="0">
                <a:solidFill>
                  <a:srgbClr val="A78BFA"/>
                </a:solidFill>
                <a:latin typeface="Inter" pitchFamily="34" charset="0"/>
                <a:ea typeface="Inter" pitchFamily="34" charset="-122"/>
                <a:cs typeface="Inter" pitchFamily="34" charset="-120"/>
              </a:rPr>
              <a:t>— Eliyahu Goldratt, Theory of Constraints</a:t>
            </a:r>
            <a:endParaRPr lang="en-US" sz="2400" dirty="0"/>
          </a:p>
        </p:txBody>
      </p:sp>
      <p:sp>
        <p:nvSpPr>
          <p:cNvPr id="9" name="Text 6"/>
          <p:cNvSpPr/>
          <p:nvPr/>
        </p:nvSpPr>
        <p:spPr>
          <a:xfrm>
            <a:off x="1371600" y="5486400"/>
            <a:ext cx="9418320" cy="54864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You can’t scale a human at 2 AM — you must </a:t>
            </a:r>
            <a:r>
              <a:rPr lang="en-US" sz="2400" b="1" dirty="0">
                <a:solidFill>
                  <a:srgbClr val="34D399"/>
                </a:solidFill>
                <a:latin typeface="Inter" pitchFamily="34" charset="0"/>
                <a:ea typeface="Inter" pitchFamily="34" charset="-122"/>
                <a:cs typeface="Inter" pitchFamily="34" charset="-120"/>
              </a:rPr>
              <a:t>ELEVATE</a:t>
            </a:r>
            <a:r>
              <a:rPr lang="en-US" sz="2400" dirty="0">
                <a:solidFill>
                  <a:srgbClr val="9CA3AF"/>
                </a:solidFill>
                <a:latin typeface="Inter" pitchFamily="34" charset="0"/>
                <a:ea typeface="Inter" pitchFamily="34" charset="-122"/>
                <a:cs typeface="Inter" pitchFamily="34" charset="-120"/>
              </a:rPr>
              <a:t> the constraint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Shape 3"/>
          <p:cNvSpPr/>
          <p:nvPr/>
        </p:nvSpPr>
        <p:spPr>
          <a:xfrm>
            <a:off x="1371600" y="5943600"/>
            <a:ext cx="9418320" cy="0"/>
          </a:xfrm>
          <a:prstGeom prst="line">
            <a:avLst/>
          </a:prstGeom>
          <a:noFill/>
          <a:ln w="25400">
            <a:solidFill>
              <a:srgbClr val="34D399"/>
            </a:solidFill>
            <a:prstDash val="solid"/>
          </a:ln>
        </p:spPr>
        <p:txBody>
          <a:bodyPr/>
          <a:lstStyle/>
          <a:p>
            <a:endParaRPr lang="en-US"/>
          </a:p>
        </p:txBody>
      </p:sp>
      <p:sp>
        <p:nvSpPr>
          <p:cNvPr id="6" name="Text 4"/>
          <p:cNvSpPr/>
          <p:nvPr/>
        </p:nvSpPr>
        <p:spPr>
          <a:xfrm>
            <a:off x="1051560" y="1097280"/>
            <a:ext cx="1005840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Montserrat" pitchFamily="34" charset="0"/>
                <a:ea typeface="Montserrat" pitchFamily="34" charset="-122"/>
                <a:cs typeface="Montserrat" pitchFamily="34" charset="-120"/>
              </a:rPr>
              <a:t>AWS DevOps Agent</a:t>
            </a:r>
            <a:endParaRPr lang="en-US" sz="4400" dirty="0"/>
          </a:p>
        </p:txBody>
      </p:sp>
      <p:sp>
        <p:nvSpPr>
          <p:cNvPr id="7" name="Text 5"/>
          <p:cNvSpPr/>
          <p:nvPr/>
        </p:nvSpPr>
        <p:spPr>
          <a:xfrm>
            <a:off x="1508760" y="2286000"/>
            <a:ext cx="9144000" cy="640080"/>
          </a:xfrm>
          <a:prstGeom prst="rect">
            <a:avLst/>
          </a:prstGeom>
          <a:noFill/>
          <a:ln/>
        </p:spPr>
        <p:txBody>
          <a:bodyPr wrap="square" lIns="0" tIns="0" rIns="0" bIns="0" rtlCol="0" anchor="ctr"/>
          <a:lstStyle/>
          <a:p>
            <a:pPr marL="0" indent="0" algn="ctr">
              <a:buNone/>
            </a:pPr>
            <a:r>
              <a:rPr lang="en-US" sz="2400" dirty="0">
                <a:solidFill>
                  <a:srgbClr val="34D399"/>
                </a:solidFill>
                <a:latin typeface="Inter" pitchFamily="34" charset="0"/>
                <a:ea typeface="Inter" pitchFamily="34" charset="-122"/>
                <a:cs typeface="Inter" pitchFamily="34" charset="-120"/>
              </a:rPr>
              <a:t>Your always-available operations teammate</a:t>
            </a:r>
            <a:endParaRPr lang="en-US" sz="2400" dirty="0"/>
          </a:p>
        </p:txBody>
      </p:sp>
      <p:sp>
        <p:nvSpPr>
          <p:cNvPr id="8" name="Text 6"/>
          <p:cNvSpPr/>
          <p:nvPr/>
        </p:nvSpPr>
        <p:spPr>
          <a:xfrm>
            <a:off x="1828800" y="3200400"/>
            <a:ext cx="8503920" cy="27432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Frontier AI agent</a:t>
            </a:r>
            <a:r>
              <a:rPr lang="en-US" sz="2400" dirty="0">
                <a:solidFill>
                  <a:srgbClr val="FFFFFF"/>
                </a:solidFill>
                <a:latin typeface="Inter" pitchFamily="34" charset="0"/>
                <a:ea typeface="Inter" pitchFamily="34" charset="-122"/>
                <a:cs typeface="Inter" pitchFamily="34" charset="-120"/>
              </a:rPr>
              <a:t> — acts as an experienced DevOps engineer</a:t>
            </a:r>
            <a:endParaRPr lang="en-US" sz="2400" dirty="0"/>
          </a:p>
          <a:p>
            <a:pPr marL="0" indent="0">
              <a:buNone/>
            </a:pPr>
            <a:endParaRPr lang="en-US" sz="2400" dirty="0"/>
          </a:p>
          <a:p>
            <a:pPr marL="0" indent="0">
              <a:buNone/>
            </a:pPr>
            <a:r>
              <a:rPr lang="en-US" sz="2400" b="1" dirty="0">
                <a:solidFill>
                  <a:srgbClr val="F472B6"/>
                </a:solidFill>
                <a:latin typeface="Inter" pitchFamily="34" charset="0"/>
                <a:ea typeface="Inter" pitchFamily="34" charset="-122"/>
                <a:cs typeface="Inter" pitchFamily="34" charset="-120"/>
              </a:rPr>
              <a:t>Autonomously investigates</a:t>
            </a:r>
            <a:r>
              <a:rPr lang="en-US" sz="2400" dirty="0">
                <a:solidFill>
                  <a:srgbClr val="FFFFFF"/>
                </a:solidFill>
                <a:latin typeface="Inter" pitchFamily="34" charset="0"/>
                <a:ea typeface="Inter" pitchFamily="34" charset="-122"/>
                <a:cs typeface="Inter" pitchFamily="34" charset="-120"/>
              </a:rPr>
              <a:t> the moment incidents occur</a:t>
            </a:r>
            <a:endParaRPr lang="en-US" sz="2400" dirty="0"/>
          </a:p>
          <a:p>
            <a:pPr marL="0" indent="0">
              <a:buNone/>
            </a:pPr>
            <a:endParaRPr lang="en-US" sz="2400" dirty="0"/>
          </a:p>
          <a:p>
            <a:pPr marL="0" indent="0">
              <a:buNone/>
            </a:pPr>
            <a:r>
              <a:rPr lang="en-US" sz="2400" dirty="0">
                <a:solidFill>
                  <a:srgbClr val="FFFFFF"/>
                </a:solidFill>
                <a:latin typeface="Inter" pitchFamily="34" charset="0"/>
                <a:ea typeface="Inter" pitchFamily="34" charset="-122"/>
                <a:cs typeface="Inter" pitchFamily="34" charset="-120"/>
              </a:rPr>
              <a:t>Works across </a:t>
            </a:r>
            <a:r>
              <a:rPr lang="en-US" sz="2400" b="1" dirty="0">
                <a:solidFill>
                  <a:srgbClr val="FF9900"/>
                </a:solidFill>
                <a:latin typeface="Inter" pitchFamily="34" charset="0"/>
                <a:ea typeface="Inter" pitchFamily="34" charset="-122"/>
                <a:cs typeface="Inter" pitchFamily="34" charset="-120"/>
              </a:rPr>
              <a:t>AWS, multicloud, and on-prem</a:t>
            </a:r>
            <a:endParaRPr lang="en-US" sz="2400" dirty="0"/>
          </a:p>
          <a:p>
            <a:pPr marL="0" indent="0">
              <a:buNone/>
            </a:pPr>
            <a:endParaRPr lang="en-US" sz="2400" dirty="0"/>
          </a:p>
          <a:p>
            <a:pPr marL="0" indent="0">
              <a:buNone/>
            </a:pPr>
            <a:r>
              <a:rPr lang="en-US" sz="2400" dirty="0">
                <a:solidFill>
                  <a:srgbClr val="FFFFFF"/>
                </a:solidFill>
                <a:latin typeface="Inter" pitchFamily="34" charset="0"/>
                <a:ea typeface="Inter" pitchFamily="34" charset="-122"/>
                <a:cs typeface="Inter" pitchFamily="34" charset="-120"/>
              </a:rPr>
              <a:t>Learns your topology, correlates </a:t>
            </a:r>
            <a:r>
              <a:rPr lang="en-US" sz="2400" b="1" dirty="0">
                <a:solidFill>
                  <a:srgbClr val="A78BFA"/>
                </a:solidFill>
                <a:latin typeface="Inter" pitchFamily="34" charset="0"/>
                <a:ea typeface="Inter" pitchFamily="34" charset="-122"/>
                <a:cs typeface="Inter" pitchFamily="34" charset="-120"/>
              </a:rPr>
              <a:t>telemetry + code + deployments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Shape 3"/>
          <p:cNvSpPr/>
          <p:nvPr/>
        </p:nvSpPr>
        <p:spPr>
          <a:xfrm>
            <a:off x="914400" y="2011680"/>
            <a:ext cx="3200400" cy="3657600"/>
          </a:xfrm>
          <a:prstGeom prst="roundRect">
            <a:avLst>
              <a:gd name="adj" fmla="val 2857"/>
            </a:avLst>
          </a:prstGeom>
          <a:solidFill>
            <a:srgbClr val="1E2530"/>
          </a:solidFill>
          <a:ln w="19050">
            <a:solidFill>
              <a:srgbClr val="34D399"/>
            </a:solidFill>
            <a:prstDash val="solid"/>
          </a:ln>
        </p:spPr>
        <p:txBody>
          <a:bodyPr/>
          <a:lstStyle/>
          <a:p>
            <a:endParaRPr lang="en-US"/>
          </a:p>
        </p:txBody>
      </p:sp>
      <p:sp>
        <p:nvSpPr>
          <p:cNvPr id="6" name="Shape 4"/>
          <p:cNvSpPr/>
          <p:nvPr/>
        </p:nvSpPr>
        <p:spPr>
          <a:xfrm>
            <a:off x="914400" y="2011680"/>
            <a:ext cx="3200400" cy="54864"/>
          </a:xfrm>
          <a:prstGeom prst="rect">
            <a:avLst/>
          </a:prstGeom>
          <a:solidFill>
            <a:srgbClr val="34D399"/>
          </a:solidFill>
          <a:ln/>
        </p:spPr>
        <p:txBody>
          <a:bodyPr/>
          <a:lstStyle/>
          <a:p>
            <a:endParaRPr lang="en-US"/>
          </a:p>
        </p:txBody>
      </p:sp>
      <p:sp>
        <p:nvSpPr>
          <p:cNvPr id="7" name="Text 5"/>
          <p:cNvSpPr/>
          <p:nvPr/>
        </p:nvSpPr>
        <p:spPr>
          <a:xfrm>
            <a:off x="1188720" y="2377440"/>
            <a:ext cx="2651760" cy="640080"/>
          </a:xfrm>
          <a:prstGeom prst="rect">
            <a:avLst/>
          </a:prstGeom>
          <a:noFill/>
          <a:ln/>
        </p:spPr>
        <p:txBody>
          <a:bodyPr wrap="square" lIns="0" tIns="0" rIns="0" bIns="0" rtlCol="0" anchor="ctr"/>
          <a:lstStyle/>
          <a:p>
            <a:pPr marL="0" indent="0">
              <a:buNone/>
            </a:pPr>
            <a:r>
              <a:rPr lang="en-US" sz="2400" b="1" dirty="0">
                <a:solidFill>
                  <a:srgbClr val="34D399"/>
                </a:solidFill>
                <a:latin typeface="Montserrat" pitchFamily="34" charset="0"/>
                <a:ea typeface="Montserrat" pitchFamily="34" charset="-122"/>
                <a:cs typeface="Montserrat" pitchFamily="34" charset="-120"/>
              </a:rPr>
              <a:t>Agent Space</a:t>
            </a:r>
            <a:endParaRPr lang="en-US" sz="2400" dirty="0"/>
          </a:p>
        </p:txBody>
      </p:sp>
      <p:sp>
        <p:nvSpPr>
          <p:cNvPr id="8" name="Text 6"/>
          <p:cNvSpPr/>
          <p:nvPr/>
        </p:nvSpPr>
        <p:spPr>
          <a:xfrm>
            <a:off x="1188720" y="3200400"/>
            <a:ext cx="2651760" cy="22860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Logical container:</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your accounts,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integrations,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and permissions</a:t>
            </a:r>
            <a:endParaRPr lang="en-US" sz="2400" dirty="0"/>
          </a:p>
        </p:txBody>
      </p:sp>
      <p:sp>
        <p:nvSpPr>
          <p:cNvPr id="9" name="Shape 7"/>
          <p:cNvSpPr/>
          <p:nvPr/>
        </p:nvSpPr>
        <p:spPr>
          <a:xfrm>
            <a:off x="4663440" y="2011680"/>
            <a:ext cx="3200400" cy="3657600"/>
          </a:xfrm>
          <a:prstGeom prst="roundRect">
            <a:avLst>
              <a:gd name="adj" fmla="val 2857"/>
            </a:avLst>
          </a:prstGeom>
          <a:solidFill>
            <a:srgbClr val="1E2530"/>
          </a:solidFill>
          <a:ln w="19050">
            <a:solidFill>
              <a:srgbClr val="A78BFA"/>
            </a:solidFill>
            <a:prstDash val="solid"/>
          </a:ln>
        </p:spPr>
        <p:txBody>
          <a:bodyPr/>
          <a:lstStyle/>
          <a:p>
            <a:endParaRPr lang="en-US"/>
          </a:p>
        </p:txBody>
      </p:sp>
      <p:sp>
        <p:nvSpPr>
          <p:cNvPr id="10" name="Shape 8"/>
          <p:cNvSpPr/>
          <p:nvPr/>
        </p:nvSpPr>
        <p:spPr>
          <a:xfrm>
            <a:off x="4663440" y="2011680"/>
            <a:ext cx="3200400" cy="54864"/>
          </a:xfrm>
          <a:prstGeom prst="rect">
            <a:avLst/>
          </a:prstGeom>
          <a:solidFill>
            <a:srgbClr val="A78BFA"/>
          </a:solidFill>
          <a:ln/>
        </p:spPr>
        <p:txBody>
          <a:bodyPr/>
          <a:lstStyle/>
          <a:p>
            <a:endParaRPr lang="en-US"/>
          </a:p>
        </p:txBody>
      </p:sp>
      <p:sp>
        <p:nvSpPr>
          <p:cNvPr id="11" name="Text 9"/>
          <p:cNvSpPr/>
          <p:nvPr/>
        </p:nvSpPr>
        <p:spPr>
          <a:xfrm>
            <a:off x="4937760" y="2377440"/>
            <a:ext cx="2651760" cy="640080"/>
          </a:xfrm>
          <a:prstGeom prst="rect">
            <a:avLst/>
          </a:prstGeom>
          <a:noFill/>
          <a:ln/>
        </p:spPr>
        <p:txBody>
          <a:bodyPr wrap="square" lIns="0" tIns="0" rIns="0" bIns="0" rtlCol="0" anchor="ctr"/>
          <a:lstStyle/>
          <a:p>
            <a:pPr marL="0" indent="0">
              <a:buNone/>
            </a:pPr>
            <a:r>
              <a:rPr lang="en-US" sz="2400" b="1" dirty="0">
                <a:solidFill>
                  <a:srgbClr val="A78BFA"/>
                </a:solidFill>
                <a:latin typeface="Montserrat" pitchFamily="34" charset="0"/>
                <a:ea typeface="Montserrat" pitchFamily="34" charset="-122"/>
                <a:cs typeface="Montserrat" pitchFamily="34" charset="-120"/>
              </a:rPr>
              <a:t>Web App</a:t>
            </a:r>
            <a:endParaRPr lang="en-US" sz="2400" dirty="0"/>
          </a:p>
        </p:txBody>
      </p:sp>
      <p:sp>
        <p:nvSpPr>
          <p:cNvPr id="12" name="Text 10"/>
          <p:cNvSpPr/>
          <p:nvPr/>
        </p:nvSpPr>
        <p:spPr>
          <a:xfrm>
            <a:off x="4937760" y="3200400"/>
            <a:ext cx="2651760" cy="22860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Operator interface:</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investigations, chat,</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topology browser,</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prevention recs</a:t>
            </a:r>
            <a:endParaRPr lang="en-US" sz="2400" dirty="0"/>
          </a:p>
        </p:txBody>
      </p:sp>
      <p:sp>
        <p:nvSpPr>
          <p:cNvPr id="13" name="Shape 11"/>
          <p:cNvSpPr/>
          <p:nvPr/>
        </p:nvSpPr>
        <p:spPr>
          <a:xfrm>
            <a:off x="8412480" y="2011680"/>
            <a:ext cx="3200400" cy="3657600"/>
          </a:xfrm>
          <a:prstGeom prst="roundRect">
            <a:avLst>
              <a:gd name="adj" fmla="val 2857"/>
            </a:avLst>
          </a:prstGeom>
          <a:solidFill>
            <a:srgbClr val="1E2530"/>
          </a:solidFill>
          <a:ln w="19050">
            <a:solidFill>
              <a:srgbClr val="F472B6"/>
            </a:solidFill>
            <a:prstDash val="solid"/>
          </a:ln>
        </p:spPr>
        <p:txBody>
          <a:bodyPr/>
          <a:lstStyle/>
          <a:p>
            <a:endParaRPr lang="en-US"/>
          </a:p>
        </p:txBody>
      </p:sp>
      <p:sp>
        <p:nvSpPr>
          <p:cNvPr id="14" name="Shape 12"/>
          <p:cNvSpPr/>
          <p:nvPr/>
        </p:nvSpPr>
        <p:spPr>
          <a:xfrm>
            <a:off x="8412480" y="2011680"/>
            <a:ext cx="3200400" cy="54864"/>
          </a:xfrm>
          <a:prstGeom prst="rect">
            <a:avLst/>
          </a:prstGeom>
          <a:solidFill>
            <a:srgbClr val="F472B6"/>
          </a:solidFill>
          <a:ln/>
        </p:spPr>
        <p:txBody>
          <a:bodyPr/>
          <a:lstStyle/>
          <a:p>
            <a:endParaRPr lang="en-US"/>
          </a:p>
        </p:txBody>
      </p:sp>
      <p:sp>
        <p:nvSpPr>
          <p:cNvPr id="15" name="Text 13"/>
          <p:cNvSpPr/>
          <p:nvPr/>
        </p:nvSpPr>
        <p:spPr>
          <a:xfrm>
            <a:off x="8686800" y="2377440"/>
            <a:ext cx="2651760" cy="640080"/>
          </a:xfrm>
          <a:prstGeom prst="rect">
            <a:avLst/>
          </a:prstGeom>
          <a:noFill/>
          <a:ln/>
        </p:spPr>
        <p:txBody>
          <a:bodyPr wrap="square" lIns="0" tIns="0" rIns="0" bIns="0" rtlCol="0" anchor="ctr"/>
          <a:lstStyle/>
          <a:p>
            <a:pPr marL="0" indent="0">
              <a:buNone/>
            </a:pPr>
            <a:r>
              <a:rPr lang="en-US" sz="2400" b="1" dirty="0">
                <a:solidFill>
                  <a:srgbClr val="F472B6"/>
                </a:solidFill>
                <a:latin typeface="Montserrat" pitchFamily="34" charset="0"/>
                <a:ea typeface="Montserrat" pitchFamily="34" charset="-122"/>
                <a:cs typeface="Montserrat" pitchFamily="34" charset="-120"/>
              </a:rPr>
              <a:t>Topology</a:t>
            </a:r>
            <a:endParaRPr lang="en-US" sz="2400" dirty="0"/>
          </a:p>
        </p:txBody>
      </p:sp>
      <p:sp>
        <p:nvSpPr>
          <p:cNvPr id="16" name="Text 14"/>
          <p:cNvSpPr/>
          <p:nvPr/>
        </p:nvSpPr>
        <p:spPr>
          <a:xfrm>
            <a:off x="8686800" y="3200400"/>
            <a:ext cx="2651760" cy="22860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Auto-discovers: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services, dependencies,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blast radius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across accounts</a:t>
            </a:r>
            <a:endParaRPr lang="en-US" sz="2400" dirty="0"/>
          </a:p>
        </p:txBody>
      </p:sp>
      <p:sp>
        <p:nvSpPr>
          <p:cNvPr id="17" name="Text 15"/>
          <p:cNvSpPr/>
          <p:nvPr/>
        </p:nvSpPr>
        <p:spPr>
          <a:xfrm>
            <a:off x="4114800" y="3657600"/>
            <a:ext cx="548640" cy="457200"/>
          </a:xfrm>
          <a:prstGeom prst="rect">
            <a:avLst/>
          </a:prstGeom>
          <a:noFill/>
          <a:ln/>
        </p:spPr>
        <p:txBody>
          <a:bodyPr wrap="square" lIns="0" tIns="0" rIns="0" bIns="0" rtlCol="0" anchor="ctr"/>
          <a:lstStyle/>
          <a:p>
            <a:pPr marL="0" indent="0" algn="ctr">
              <a:buNone/>
            </a:pPr>
            <a:r>
              <a:rPr lang="en-US" sz="2400" dirty="0">
                <a:solidFill>
                  <a:srgbClr val="9CA3AF"/>
                </a:solidFill>
              </a:rPr>
              <a:t>→</a:t>
            </a:r>
            <a:endParaRPr lang="en-US" sz="2400" dirty="0"/>
          </a:p>
        </p:txBody>
      </p:sp>
      <p:sp>
        <p:nvSpPr>
          <p:cNvPr id="18" name="Text 16"/>
          <p:cNvSpPr/>
          <p:nvPr/>
        </p:nvSpPr>
        <p:spPr>
          <a:xfrm>
            <a:off x="7863840" y="3657600"/>
            <a:ext cx="548640" cy="457200"/>
          </a:xfrm>
          <a:prstGeom prst="rect">
            <a:avLst/>
          </a:prstGeom>
          <a:noFill/>
          <a:ln/>
        </p:spPr>
        <p:txBody>
          <a:bodyPr wrap="square" lIns="0" tIns="0" rIns="0" bIns="0" rtlCol="0" anchor="ctr"/>
          <a:lstStyle/>
          <a:p>
            <a:pPr marL="0" indent="0" algn="ctr">
              <a:buNone/>
            </a:pPr>
            <a:r>
              <a:rPr lang="en-US" sz="2400" dirty="0">
                <a:solidFill>
                  <a:srgbClr val="9CA3AF"/>
                </a:solidFill>
              </a:rPr>
              <a:t>→</a:t>
            </a:r>
            <a:endParaRPr lang="en-US" sz="2400" dirty="0"/>
          </a:p>
        </p:txBody>
      </p:sp>
      <p:sp>
        <p:nvSpPr>
          <p:cNvPr id="19" name="Text 17"/>
          <p:cNvSpPr/>
          <p:nvPr/>
        </p:nvSpPr>
        <p:spPr>
          <a:xfrm>
            <a:off x="731520" y="36576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Agent Spaces, Web App &amp; Topology</a:t>
            </a:r>
            <a:endParaRPr lang="en-US" sz="3200" dirty="0"/>
          </a:p>
        </p:txBody>
      </p:sp>
      <p:sp>
        <p:nvSpPr>
          <p:cNvPr id="20" name="Text 18"/>
          <p:cNvSpPr/>
          <p:nvPr/>
        </p:nvSpPr>
        <p:spPr>
          <a:xfrm>
            <a:off x="1371600" y="6126480"/>
            <a:ext cx="9418320" cy="45720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Admin Console → Agent Space → Web App → Operators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Shape 3"/>
          <p:cNvSpPr/>
          <p:nvPr/>
        </p:nvSpPr>
        <p:spPr>
          <a:xfrm>
            <a:off x="914400" y="1920240"/>
            <a:ext cx="10332720" cy="1005840"/>
          </a:xfrm>
          <a:prstGeom prst="roundRect">
            <a:avLst>
              <a:gd name="adj" fmla="val 4545"/>
            </a:avLst>
          </a:prstGeom>
          <a:solidFill>
            <a:srgbClr val="1E2530"/>
          </a:solidFill>
          <a:ln w="19050">
            <a:solidFill>
              <a:srgbClr val="34D399"/>
            </a:solidFill>
            <a:prstDash val="solid"/>
          </a:ln>
        </p:spPr>
        <p:txBody>
          <a:bodyPr/>
          <a:lstStyle/>
          <a:p>
            <a:endParaRPr lang="en-US"/>
          </a:p>
        </p:txBody>
      </p:sp>
      <p:sp>
        <p:nvSpPr>
          <p:cNvPr id="6" name="Shape 4"/>
          <p:cNvSpPr/>
          <p:nvPr/>
        </p:nvSpPr>
        <p:spPr>
          <a:xfrm>
            <a:off x="914400" y="1920240"/>
            <a:ext cx="91440" cy="1005840"/>
          </a:xfrm>
          <a:prstGeom prst="rect">
            <a:avLst/>
          </a:prstGeom>
          <a:solidFill>
            <a:srgbClr val="34D399"/>
          </a:solidFill>
          <a:ln/>
        </p:spPr>
        <p:txBody>
          <a:bodyPr/>
          <a:lstStyle/>
          <a:p>
            <a:endParaRPr lang="en-US"/>
          </a:p>
        </p:txBody>
      </p:sp>
      <p:sp>
        <p:nvSpPr>
          <p:cNvPr id="7" name="Text 5"/>
          <p:cNvSpPr/>
          <p:nvPr/>
        </p:nvSpPr>
        <p:spPr>
          <a:xfrm>
            <a:off x="1371600" y="2011680"/>
            <a:ext cx="4572000" cy="457200"/>
          </a:xfrm>
          <a:prstGeom prst="rect">
            <a:avLst/>
          </a:prstGeom>
          <a:noFill/>
          <a:ln/>
        </p:spPr>
        <p:txBody>
          <a:bodyPr wrap="square" lIns="0" tIns="0" rIns="0" bIns="0" rtlCol="0" anchor="ctr"/>
          <a:lstStyle/>
          <a:p>
            <a:pPr marL="0" indent="0">
              <a:buNone/>
            </a:pPr>
            <a:r>
              <a:rPr lang="en-US" sz="2400" b="1" dirty="0">
                <a:solidFill>
                  <a:srgbClr val="34D399"/>
                </a:solidFill>
                <a:latin typeface="Montserrat" pitchFamily="34" charset="0"/>
                <a:ea typeface="Montserrat" pitchFamily="34" charset="-122"/>
                <a:cs typeface="Montserrat" pitchFamily="34" charset="-120"/>
              </a:rPr>
              <a:t>1. TOPOLOGY INTELLIGENCE</a:t>
            </a:r>
            <a:endParaRPr lang="en-US" sz="2400" dirty="0"/>
          </a:p>
        </p:txBody>
      </p:sp>
      <p:sp>
        <p:nvSpPr>
          <p:cNvPr id="8" name="Text 6"/>
          <p:cNvSpPr/>
          <p:nvPr/>
        </p:nvSpPr>
        <p:spPr>
          <a:xfrm>
            <a:off x="1371600" y="2423160"/>
            <a:ext cx="91440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Knows services, dependencies, blast radius across accounts</a:t>
            </a:r>
            <a:endParaRPr lang="en-US" sz="2400" dirty="0"/>
          </a:p>
        </p:txBody>
      </p:sp>
      <p:sp>
        <p:nvSpPr>
          <p:cNvPr id="9" name="Shape 7"/>
          <p:cNvSpPr/>
          <p:nvPr/>
        </p:nvSpPr>
        <p:spPr>
          <a:xfrm>
            <a:off x="914400" y="3108960"/>
            <a:ext cx="10332720" cy="1005840"/>
          </a:xfrm>
          <a:prstGeom prst="roundRect">
            <a:avLst>
              <a:gd name="adj" fmla="val 4545"/>
            </a:avLst>
          </a:prstGeom>
          <a:solidFill>
            <a:srgbClr val="1E2530"/>
          </a:solidFill>
          <a:ln w="19050">
            <a:solidFill>
              <a:srgbClr val="06B6D4"/>
            </a:solidFill>
            <a:prstDash val="solid"/>
          </a:ln>
        </p:spPr>
        <p:txBody>
          <a:bodyPr/>
          <a:lstStyle/>
          <a:p>
            <a:endParaRPr lang="en-US"/>
          </a:p>
        </p:txBody>
      </p:sp>
      <p:sp>
        <p:nvSpPr>
          <p:cNvPr id="10" name="Shape 8"/>
          <p:cNvSpPr/>
          <p:nvPr/>
        </p:nvSpPr>
        <p:spPr>
          <a:xfrm>
            <a:off x="914400" y="3108960"/>
            <a:ext cx="91440" cy="1005840"/>
          </a:xfrm>
          <a:prstGeom prst="rect">
            <a:avLst/>
          </a:prstGeom>
          <a:solidFill>
            <a:srgbClr val="06B6D4"/>
          </a:solidFill>
          <a:ln/>
        </p:spPr>
        <p:txBody>
          <a:bodyPr/>
          <a:lstStyle/>
          <a:p>
            <a:endParaRPr lang="en-US"/>
          </a:p>
        </p:txBody>
      </p:sp>
      <p:sp>
        <p:nvSpPr>
          <p:cNvPr id="11" name="Text 9"/>
          <p:cNvSpPr/>
          <p:nvPr/>
        </p:nvSpPr>
        <p:spPr>
          <a:xfrm>
            <a:off x="1371600" y="3200400"/>
            <a:ext cx="4572000" cy="457200"/>
          </a:xfrm>
          <a:prstGeom prst="rect">
            <a:avLst/>
          </a:prstGeom>
          <a:noFill/>
          <a:ln/>
        </p:spPr>
        <p:txBody>
          <a:bodyPr wrap="square" lIns="0" tIns="0" rIns="0" bIns="0" rtlCol="0" anchor="ctr"/>
          <a:lstStyle/>
          <a:p>
            <a:pPr marL="0" indent="0">
              <a:buNone/>
            </a:pPr>
            <a:r>
              <a:rPr lang="en-US" sz="2400" b="1" dirty="0">
                <a:solidFill>
                  <a:srgbClr val="06B6D4"/>
                </a:solidFill>
                <a:latin typeface="Montserrat" pitchFamily="34" charset="0"/>
                <a:ea typeface="Montserrat" pitchFamily="34" charset="-122"/>
                <a:cs typeface="Montserrat" pitchFamily="34" charset="-120"/>
              </a:rPr>
              <a:t>2. SIGNAL CORRELATION</a:t>
            </a:r>
            <a:endParaRPr lang="en-US" sz="2400" dirty="0"/>
          </a:p>
        </p:txBody>
      </p:sp>
      <p:sp>
        <p:nvSpPr>
          <p:cNvPr id="12" name="Text 10"/>
          <p:cNvSpPr/>
          <p:nvPr/>
        </p:nvSpPr>
        <p:spPr>
          <a:xfrm>
            <a:off x="1371600" y="3611880"/>
            <a:ext cx="91440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5+ observability tools + code repos + CI/CD simultaneously</a:t>
            </a:r>
            <a:endParaRPr lang="en-US" sz="2400" dirty="0"/>
          </a:p>
        </p:txBody>
      </p:sp>
      <p:sp>
        <p:nvSpPr>
          <p:cNvPr id="13" name="Shape 11"/>
          <p:cNvSpPr/>
          <p:nvPr/>
        </p:nvSpPr>
        <p:spPr>
          <a:xfrm>
            <a:off x="914400" y="4297680"/>
            <a:ext cx="10332720" cy="1005840"/>
          </a:xfrm>
          <a:prstGeom prst="roundRect">
            <a:avLst>
              <a:gd name="adj" fmla="val 4545"/>
            </a:avLst>
          </a:prstGeom>
          <a:solidFill>
            <a:srgbClr val="1E2530"/>
          </a:solidFill>
          <a:ln w="19050">
            <a:solidFill>
              <a:srgbClr val="A78BFA"/>
            </a:solidFill>
            <a:prstDash val="solid"/>
          </a:ln>
        </p:spPr>
        <p:txBody>
          <a:bodyPr/>
          <a:lstStyle/>
          <a:p>
            <a:endParaRPr lang="en-US"/>
          </a:p>
        </p:txBody>
      </p:sp>
      <p:sp>
        <p:nvSpPr>
          <p:cNvPr id="14" name="Shape 12"/>
          <p:cNvSpPr/>
          <p:nvPr/>
        </p:nvSpPr>
        <p:spPr>
          <a:xfrm>
            <a:off x="914400" y="4297680"/>
            <a:ext cx="91440" cy="1005840"/>
          </a:xfrm>
          <a:prstGeom prst="rect">
            <a:avLst/>
          </a:prstGeom>
          <a:solidFill>
            <a:srgbClr val="A78BFA"/>
          </a:solidFill>
          <a:ln/>
        </p:spPr>
        <p:txBody>
          <a:bodyPr/>
          <a:lstStyle/>
          <a:p>
            <a:endParaRPr lang="en-US"/>
          </a:p>
        </p:txBody>
      </p:sp>
      <p:sp>
        <p:nvSpPr>
          <p:cNvPr id="15" name="Text 13"/>
          <p:cNvSpPr/>
          <p:nvPr/>
        </p:nvSpPr>
        <p:spPr>
          <a:xfrm>
            <a:off x="1371600" y="4389120"/>
            <a:ext cx="4572000" cy="457200"/>
          </a:xfrm>
          <a:prstGeom prst="rect">
            <a:avLst/>
          </a:prstGeom>
          <a:noFill/>
          <a:ln/>
        </p:spPr>
        <p:txBody>
          <a:bodyPr wrap="square" lIns="0" tIns="0" rIns="0" bIns="0" rtlCol="0" anchor="ctr"/>
          <a:lstStyle/>
          <a:p>
            <a:pPr marL="0" indent="0">
              <a:buNone/>
            </a:pPr>
            <a:r>
              <a:rPr lang="en-US" sz="2400" b="1" dirty="0">
                <a:solidFill>
                  <a:srgbClr val="A78BFA"/>
                </a:solidFill>
                <a:latin typeface="Montserrat" pitchFamily="34" charset="0"/>
                <a:ea typeface="Montserrat" pitchFamily="34" charset="-122"/>
                <a:cs typeface="Montserrat" pitchFamily="34" charset="-120"/>
              </a:rPr>
              <a:t>3. HYPOTHESIS REASONING</a:t>
            </a:r>
            <a:endParaRPr lang="en-US" sz="2400" dirty="0"/>
          </a:p>
        </p:txBody>
      </p:sp>
      <p:sp>
        <p:nvSpPr>
          <p:cNvPr id="16" name="Text 14"/>
          <p:cNvSpPr/>
          <p:nvPr/>
        </p:nvSpPr>
        <p:spPr>
          <a:xfrm>
            <a:off x="1371600" y="4800600"/>
            <a:ext cx="91440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Builds tree → explores IN PARALLEL → validates with evidence</a:t>
            </a:r>
            <a:endParaRPr lang="en-US" sz="2400" dirty="0"/>
          </a:p>
        </p:txBody>
      </p:sp>
      <p:sp>
        <p:nvSpPr>
          <p:cNvPr id="17" name="Shape 15"/>
          <p:cNvSpPr/>
          <p:nvPr/>
        </p:nvSpPr>
        <p:spPr>
          <a:xfrm>
            <a:off x="914400" y="5486400"/>
            <a:ext cx="10332720" cy="1005840"/>
          </a:xfrm>
          <a:prstGeom prst="roundRect">
            <a:avLst>
              <a:gd name="adj" fmla="val 4545"/>
            </a:avLst>
          </a:prstGeom>
          <a:solidFill>
            <a:srgbClr val="1E2530"/>
          </a:solidFill>
          <a:ln w="19050">
            <a:solidFill>
              <a:srgbClr val="F472B6"/>
            </a:solidFill>
            <a:prstDash val="solid"/>
          </a:ln>
        </p:spPr>
        <p:txBody>
          <a:bodyPr/>
          <a:lstStyle/>
          <a:p>
            <a:endParaRPr lang="en-US"/>
          </a:p>
        </p:txBody>
      </p:sp>
      <p:sp>
        <p:nvSpPr>
          <p:cNvPr id="18" name="Shape 16"/>
          <p:cNvSpPr/>
          <p:nvPr/>
        </p:nvSpPr>
        <p:spPr>
          <a:xfrm>
            <a:off x="914400" y="5486400"/>
            <a:ext cx="91440" cy="1005840"/>
          </a:xfrm>
          <a:prstGeom prst="rect">
            <a:avLst/>
          </a:prstGeom>
          <a:solidFill>
            <a:srgbClr val="F472B6"/>
          </a:solidFill>
          <a:ln/>
        </p:spPr>
        <p:txBody>
          <a:bodyPr/>
          <a:lstStyle/>
          <a:p>
            <a:endParaRPr lang="en-US"/>
          </a:p>
        </p:txBody>
      </p:sp>
      <p:sp>
        <p:nvSpPr>
          <p:cNvPr id="19" name="Text 17"/>
          <p:cNvSpPr/>
          <p:nvPr/>
        </p:nvSpPr>
        <p:spPr>
          <a:xfrm>
            <a:off x="1371600" y="5577840"/>
            <a:ext cx="4572000" cy="457200"/>
          </a:xfrm>
          <a:prstGeom prst="rect">
            <a:avLst/>
          </a:prstGeom>
          <a:noFill/>
          <a:ln/>
        </p:spPr>
        <p:txBody>
          <a:bodyPr wrap="square" lIns="0" tIns="0" rIns="0" bIns="0" rtlCol="0" anchor="ctr"/>
          <a:lstStyle/>
          <a:p>
            <a:pPr marL="0" indent="0">
              <a:buNone/>
            </a:pPr>
            <a:r>
              <a:rPr lang="en-US" sz="2400" b="1" dirty="0">
                <a:solidFill>
                  <a:srgbClr val="F472B6"/>
                </a:solidFill>
                <a:latin typeface="Montserrat" pitchFamily="34" charset="0"/>
                <a:ea typeface="Montserrat" pitchFamily="34" charset="-122"/>
                <a:cs typeface="Montserrat" pitchFamily="34" charset="-120"/>
              </a:rPr>
              <a:t>4. LEARNED SKILLS</a:t>
            </a:r>
            <a:endParaRPr lang="en-US" sz="2400" dirty="0"/>
          </a:p>
        </p:txBody>
      </p:sp>
      <p:sp>
        <p:nvSpPr>
          <p:cNvPr id="20" name="Text 18"/>
          <p:cNvSpPr/>
          <p:nvPr/>
        </p:nvSpPr>
        <p:spPr>
          <a:xfrm>
            <a:off x="1371600" y="5989320"/>
            <a:ext cx="91440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Retains paths → skips to right hypothesis next time</a:t>
            </a:r>
            <a:endParaRPr lang="en-US" sz="2400" dirty="0"/>
          </a:p>
        </p:txBody>
      </p:sp>
      <p:sp>
        <p:nvSpPr>
          <p:cNvPr id="21" name="Text 19"/>
          <p:cNvSpPr/>
          <p:nvPr/>
        </p:nvSpPr>
        <p:spPr>
          <a:xfrm>
            <a:off x="731520" y="3657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How It Thinks</a:t>
            </a:r>
            <a:endParaRPr lang="en-US" sz="3600" dirty="0"/>
          </a:p>
        </p:txBody>
      </p:sp>
      <p:sp>
        <p:nvSpPr>
          <p:cNvPr id="22" name="Text 20"/>
          <p:cNvSpPr/>
          <p:nvPr/>
        </p:nvSpPr>
        <p:spPr>
          <a:xfrm>
            <a:off x="6400800" y="457200"/>
            <a:ext cx="5029200" cy="548640"/>
          </a:xfrm>
          <a:prstGeom prst="rect">
            <a:avLst/>
          </a:prstGeom>
          <a:noFill/>
          <a:ln/>
        </p:spPr>
        <p:txBody>
          <a:bodyPr wrap="square" lIns="0" tIns="0" rIns="0" bIns="0" rtlCol="0" anchor="ctr"/>
          <a:lstStyle/>
          <a:p>
            <a:pPr marL="0" indent="0" algn="r">
              <a:buNone/>
            </a:pPr>
            <a:r>
              <a:rPr lang="en-US" sz="2400" i="1" dirty="0">
                <a:solidFill>
                  <a:srgbClr val="34D399"/>
                </a:solidFill>
                <a:latin typeface="Inter" pitchFamily="34" charset="0"/>
                <a:ea typeface="Inter" pitchFamily="34" charset="-122"/>
                <a:cs typeface="Inter" pitchFamily="34" charset="-120"/>
              </a:rPr>
              <a:t>Not search — reasoning.</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365760"/>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5 Ways to Access DevOps Agent</a:t>
            </a:r>
            <a:endParaRPr lang="en-US" sz="3200" dirty="0"/>
          </a:p>
        </p:txBody>
      </p:sp>
      <p:sp>
        <p:nvSpPr>
          <p:cNvPr id="6" name="Shape 4"/>
          <p:cNvSpPr/>
          <p:nvPr/>
        </p:nvSpPr>
        <p:spPr>
          <a:xfrm>
            <a:off x="4937760" y="2743200"/>
            <a:ext cx="2286000" cy="1828800"/>
          </a:xfrm>
          <a:prstGeom prst="ellipse">
            <a:avLst/>
          </a:prstGeom>
          <a:solidFill>
            <a:srgbClr val="1E2530"/>
          </a:solidFill>
          <a:ln w="25400">
            <a:solidFill>
              <a:srgbClr val="34D399"/>
            </a:solidFill>
            <a:prstDash val="solid"/>
          </a:ln>
        </p:spPr>
        <p:txBody>
          <a:bodyPr/>
          <a:lstStyle/>
          <a:p>
            <a:endParaRPr lang="en-US"/>
          </a:p>
        </p:txBody>
      </p:sp>
      <p:sp>
        <p:nvSpPr>
          <p:cNvPr id="7" name="Text 5"/>
          <p:cNvSpPr/>
          <p:nvPr/>
        </p:nvSpPr>
        <p:spPr>
          <a:xfrm>
            <a:off x="5029200" y="3017520"/>
            <a:ext cx="2103120" cy="12801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DevOps</a:t>
            </a:r>
            <a:endParaRPr lang="en-US" sz="2400" dirty="0"/>
          </a:p>
          <a:p>
            <a:pPr marL="0" indent="0" algn="ctr">
              <a:buNone/>
            </a:pPr>
            <a:r>
              <a:rPr lang="en-US" sz="2400" b="1" dirty="0">
                <a:solidFill>
                  <a:srgbClr val="34D399"/>
                </a:solidFill>
                <a:latin typeface="Montserrat" pitchFamily="34" charset="0"/>
                <a:ea typeface="Montserrat" pitchFamily="34" charset="-122"/>
                <a:cs typeface="Montserrat" pitchFamily="34" charset="-120"/>
              </a:rPr>
              <a:t>Agent</a:t>
            </a:r>
            <a:endParaRPr lang="en-US" sz="2400" dirty="0"/>
          </a:p>
        </p:txBody>
      </p:sp>
      <p:sp>
        <p:nvSpPr>
          <p:cNvPr id="8" name="Text 6"/>
          <p:cNvSpPr/>
          <p:nvPr/>
        </p:nvSpPr>
        <p:spPr>
          <a:xfrm>
            <a:off x="457200" y="2286000"/>
            <a:ext cx="2743200" cy="457200"/>
          </a:xfrm>
          <a:prstGeom prst="rect">
            <a:avLst/>
          </a:prstGeom>
          <a:noFill/>
          <a:ln/>
        </p:spPr>
        <p:txBody>
          <a:bodyPr wrap="square" lIns="0" tIns="0" rIns="0" bIns="0" rtlCol="0" anchor="ctr"/>
          <a:lstStyle/>
          <a:p>
            <a:pPr marL="0" indent="0">
              <a:buNone/>
            </a:pPr>
            <a:r>
              <a:rPr lang="en-US" sz="2400" b="1" dirty="0">
                <a:solidFill>
                  <a:srgbClr val="34D399"/>
                </a:solidFill>
                <a:latin typeface="Montserrat" pitchFamily="34" charset="0"/>
                <a:ea typeface="Montserrat" pitchFamily="34" charset="-122"/>
                <a:cs typeface="Montserrat" pitchFamily="34" charset="-120"/>
              </a:rPr>
              <a:t>Web App</a:t>
            </a:r>
            <a:endParaRPr lang="en-US" sz="2400" dirty="0"/>
          </a:p>
        </p:txBody>
      </p:sp>
      <p:sp>
        <p:nvSpPr>
          <p:cNvPr id="9" name="Text 7"/>
          <p:cNvSpPr/>
          <p:nvPr/>
        </p:nvSpPr>
        <p:spPr>
          <a:xfrm>
            <a:off x="457200" y="2651760"/>
            <a:ext cx="27432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Manual + Chat</a:t>
            </a:r>
            <a:endParaRPr lang="en-US" sz="2400" dirty="0"/>
          </a:p>
        </p:txBody>
      </p:sp>
      <p:sp>
        <p:nvSpPr>
          <p:cNvPr id="10" name="Text 8"/>
          <p:cNvSpPr/>
          <p:nvPr/>
        </p:nvSpPr>
        <p:spPr>
          <a:xfrm>
            <a:off x="457200" y="4572000"/>
            <a:ext cx="2743200" cy="457200"/>
          </a:xfrm>
          <a:prstGeom prst="rect">
            <a:avLst/>
          </a:prstGeom>
          <a:noFill/>
          <a:ln/>
        </p:spPr>
        <p:txBody>
          <a:bodyPr wrap="square" lIns="0" tIns="0" rIns="0" bIns="0" rtlCol="0" anchor="ctr"/>
          <a:lstStyle/>
          <a:p>
            <a:pPr marL="0" indent="0">
              <a:buNone/>
            </a:pPr>
            <a:r>
              <a:rPr lang="en-US" sz="2400" b="1" dirty="0">
                <a:solidFill>
                  <a:srgbClr val="A78BFA"/>
                </a:solidFill>
                <a:latin typeface="Montserrat" pitchFamily="34" charset="0"/>
                <a:ea typeface="Montserrat" pitchFamily="34" charset="-122"/>
                <a:cs typeface="Montserrat" pitchFamily="34" charset="-120"/>
              </a:rPr>
              <a:t>Webhooks</a:t>
            </a:r>
            <a:endParaRPr lang="en-US" sz="2400" dirty="0"/>
          </a:p>
        </p:txBody>
      </p:sp>
      <p:sp>
        <p:nvSpPr>
          <p:cNvPr id="11" name="Text 9"/>
          <p:cNvSpPr/>
          <p:nvPr/>
        </p:nvSpPr>
        <p:spPr>
          <a:xfrm>
            <a:off x="457200" y="5142968"/>
            <a:ext cx="27432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PagerDuty, Grafana, Datadog</a:t>
            </a:r>
            <a:endParaRPr lang="en-US" sz="2400" dirty="0"/>
          </a:p>
        </p:txBody>
      </p:sp>
      <p:sp>
        <p:nvSpPr>
          <p:cNvPr id="12" name="Text 10"/>
          <p:cNvSpPr/>
          <p:nvPr/>
        </p:nvSpPr>
        <p:spPr>
          <a:xfrm>
            <a:off x="8686800" y="2286000"/>
            <a:ext cx="2743200" cy="457200"/>
          </a:xfrm>
          <a:prstGeom prst="rect">
            <a:avLst/>
          </a:prstGeom>
          <a:noFill/>
          <a:ln/>
        </p:spPr>
        <p:txBody>
          <a:bodyPr wrap="square" lIns="0" tIns="0" rIns="0" bIns="0" rtlCol="0" anchor="ctr"/>
          <a:lstStyle/>
          <a:p>
            <a:pPr marL="0" indent="0">
              <a:buNone/>
            </a:pPr>
            <a:r>
              <a:rPr lang="en-US" sz="2400" b="1" dirty="0">
                <a:solidFill>
                  <a:srgbClr val="F472B6"/>
                </a:solidFill>
                <a:latin typeface="Montserrat" pitchFamily="34" charset="0"/>
                <a:ea typeface="Montserrat" pitchFamily="34" charset="-122"/>
                <a:cs typeface="Montserrat" pitchFamily="34" charset="-120"/>
              </a:rPr>
              <a:t>MCP</a:t>
            </a:r>
            <a:endParaRPr lang="en-US" sz="2400" dirty="0"/>
          </a:p>
        </p:txBody>
      </p:sp>
      <p:sp>
        <p:nvSpPr>
          <p:cNvPr id="13" name="Text 11"/>
          <p:cNvSpPr/>
          <p:nvPr/>
        </p:nvSpPr>
        <p:spPr>
          <a:xfrm>
            <a:off x="8686800" y="2926080"/>
            <a:ext cx="27432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IDE: Kiro, Claude Code</a:t>
            </a:r>
            <a:endParaRPr lang="en-US" sz="2400" dirty="0"/>
          </a:p>
        </p:txBody>
      </p:sp>
      <p:sp>
        <p:nvSpPr>
          <p:cNvPr id="14" name="Text 12"/>
          <p:cNvSpPr/>
          <p:nvPr/>
        </p:nvSpPr>
        <p:spPr>
          <a:xfrm>
            <a:off x="8686800" y="4572000"/>
            <a:ext cx="2743200" cy="457200"/>
          </a:xfrm>
          <a:prstGeom prst="rect">
            <a:avLst/>
          </a:prstGeom>
          <a:noFill/>
          <a:ln/>
        </p:spPr>
        <p:txBody>
          <a:bodyPr wrap="square" lIns="0" tIns="0" rIns="0" bIns="0" rtlCol="0" anchor="ctr"/>
          <a:lstStyle/>
          <a:p>
            <a:pPr marL="0" indent="0">
              <a:buNone/>
            </a:pPr>
            <a:r>
              <a:rPr lang="en-US" sz="2400" b="1" dirty="0">
                <a:solidFill>
                  <a:srgbClr val="F59E0B"/>
                </a:solidFill>
                <a:latin typeface="Montserrat" pitchFamily="34" charset="0"/>
                <a:ea typeface="Montserrat" pitchFamily="34" charset="-122"/>
                <a:cs typeface="Montserrat" pitchFamily="34" charset="-120"/>
              </a:rPr>
              <a:t>ACP</a:t>
            </a:r>
            <a:endParaRPr lang="en-US" sz="2400" dirty="0"/>
          </a:p>
        </p:txBody>
      </p:sp>
      <p:sp>
        <p:nvSpPr>
          <p:cNvPr id="15" name="Text 13"/>
          <p:cNvSpPr/>
          <p:nvPr/>
        </p:nvSpPr>
        <p:spPr>
          <a:xfrm>
            <a:off x="8686800" y="5212080"/>
            <a:ext cx="27432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Programmatic invocation</a:t>
            </a:r>
            <a:endParaRPr lang="en-US" sz="2400" dirty="0"/>
          </a:p>
        </p:txBody>
      </p:sp>
      <p:sp>
        <p:nvSpPr>
          <p:cNvPr id="16" name="Text 14"/>
          <p:cNvSpPr/>
          <p:nvPr/>
        </p:nvSpPr>
        <p:spPr>
          <a:xfrm>
            <a:off x="4937760" y="5486400"/>
            <a:ext cx="2743200" cy="457200"/>
          </a:xfrm>
          <a:prstGeom prst="rect">
            <a:avLst/>
          </a:prstGeom>
          <a:noFill/>
          <a:ln/>
        </p:spPr>
        <p:txBody>
          <a:bodyPr wrap="square" lIns="0" tIns="0" rIns="0" bIns="0" rtlCol="0" anchor="ctr"/>
          <a:lstStyle/>
          <a:p>
            <a:pPr marL="0" indent="0">
              <a:buNone/>
            </a:pPr>
            <a:r>
              <a:rPr lang="en-US" sz="2400" b="1" dirty="0">
                <a:solidFill>
                  <a:srgbClr val="9CA3AF"/>
                </a:solidFill>
                <a:latin typeface="Montserrat" pitchFamily="34" charset="0"/>
                <a:ea typeface="Montserrat" pitchFamily="34" charset="-122"/>
                <a:cs typeface="Montserrat" pitchFamily="34" charset="-120"/>
              </a:rPr>
              <a:t>API</a:t>
            </a:r>
            <a:endParaRPr lang="en-US" sz="2400" dirty="0"/>
          </a:p>
        </p:txBody>
      </p:sp>
      <p:sp>
        <p:nvSpPr>
          <p:cNvPr id="17" name="Text 15"/>
          <p:cNvSpPr/>
          <p:nvPr/>
        </p:nvSpPr>
        <p:spPr>
          <a:xfrm>
            <a:off x="4937760" y="6148808"/>
            <a:ext cx="2743200" cy="45720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Direct programmatic access</a:t>
            </a:r>
            <a:endParaRPr lang="en-US" sz="2400" dirty="0"/>
          </a:p>
        </p:txBody>
      </p:sp>
      <p:sp>
        <p:nvSpPr>
          <p:cNvPr id="18" name="Shape 16"/>
          <p:cNvSpPr/>
          <p:nvPr/>
        </p:nvSpPr>
        <p:spPr>
          <a:xfrm>
            <a:off x="2926080" y="2560320"/>
            <a:ext cx="2011680" cy="640080"/>
          </a:xfrm>
          <a:prstGeom prst="line">
            <a:avLst/>
          </a:prstGeom>
          <a:noFill/>
          <a:ln w="12700">
            <a:solidFill>
              <a:srgbClr val="4B5563"/>
            </a:solidFill>
            <a:prstDash val="dash"/>
          </a:ln>
        </p:spPr>
        <p:txBody>
          <a:bodyPr/>
          <a:lstStyle/>
          <a:p>
            <a:endParaRPr lang="en-US"/>
          </a:p>
        </p:txBody>
      </p:sp>
      <p:sp>
        <p:nvSpPr>
          <p:cNvPr id="19" name="Shape 17"/>
          <p:cNvSpPr/>
          <p:nvPr/>
        </p:nvSpPr>
        <p:spPr>
          <a:xfrm flipV="1">
            <a:off x="2926080" y="4114800"/>
            <a:ext cx="2011680" cy="640080"/>
          </a:xfrm>
          <a:prstGeom prst="line">
            <a:avLst/>
          </a:prstGeom>
          <a:noFill/>
          <a:ln w="12700">
            <a:solidFill>
              <a:srgbClr val="4B5563"/>
            </a:solidFill>
            <a:prstDash val="dash"/>
          </a:ln>
        </p:spPr>
        <p:txBody>
          <a:bodyPr/>
          <a:lstStyle/>
          <a:p>
            <a:endParaRPr lang="en-US"/>
          </a:p>
        </p:txBody>
      </p:sp>
      <p:sp>
        <p:nvSpPr>
          <p:cNvPr id="20" name="Shape 18"/>
          <p:cNvSpPr/>
          <p:nvPr/>
        </p:nvSpPr>
        <p:spPr>
          <a:xfrm flipH="1">
            <a:off x="7223760" y="2560320"/>
            <a:ext cx="1645920" cy="640080"/>
          </a:xfrm>
          <a:prstGeom prst="line">
            <a:avLst/>
          </a:prstGeom>
          <a:noFill/>
          <a:ln w="12700">
            <a:solidFill>
              <a:srgbClr val="4B5563"/>
            </a:solidFill>
            <a:prstDash val="dash"/>
          </a:ln>
        </p:spPr>
        <p:txBody>
          <a:bodyPr/>
          <a:lstStyle/>
          <a:p>
            <a:endParaRPr lang="en-US"/>
          </a:p>
        </p:txBody>
      </p:sp>
      <p:sp>
        <p:nvSpPr>
          <p:cNvPr id="21" name="Shape 19"/>
          <p:cNvSpPr/>
          <p:nvPr/>
        </p:nvSpPr>
        <p:spPr>
          <a:xfrm flipH="1" flipV="1">
            <a:off x="7223760" y="4114800"/>
            <a:ext cx="1645920" cy="640080"/>
          </a:xfrm>
          <a:prstGeom prst="line">
            <a:avLst/>
          </a:prstGeom>
          <a:noFill/>
          <a:ln w="12700">
            <a:solidFill>
              <a:srgbClr val="4B5563"/>
            </a:solidFill>
            <a:prstDash val="dash"/>
          </a:ln>
        </p:spPr>
        <p:txBody>
          <a:bodyPr/>
          <a:lstStyle/>
          <a:p>
            <a:endParaRPr lang="en-US"/>
          </a:p>
        </p:txBody>
      </p:sp>
      <p:sp>
        <p:nvSpPr>
          <p:cNvPr id="22" name="Shape 20"/>
          <p:cNvSpPr/>
          <p:nvPr/>
        </p:nvSpPr>
        <p:spPr>
          <a:xfrm>
            <a:off x="6080760" y="4572000"/>
            <a:ext cx="0" cy="914400"/>
          </a:xfrm>
          <a:prstGeom prst="line">
            <a:avLst/>
          </a:prstGeom>
          <a:noFill/>
          <a:ln w="12700">
            <a:solidFill>
              <a:srgbClr val="4B5563"/>
            </a:solidFill>
            <a:prstDash val="dash"/>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365760"/>
            <a:ext cx="10515600" cy="82296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Agent Toolkit for AWS</a:t>
            </a:r>
            <a:endParaRPr lang="en-US" sz="3600" dirty="0"/>
          </a:p>
        </p:txBody>
      </p:sp>
      <p:sp>
        <p:nvSpPr>
          <p:cNvPr id="6" name="Text 4"/>
          <p:cNvSpPr/>
          <p:nvPr/>
        </p:nvSpPr>
        <p:spPr>
          <a:xfrm>
            <a:off x="731520" y="1097280"/>
            <a:ext cx="10515600" cy="548640"/>
          </a:xfrm>
          <a:prstGeom prst="rect">
            <a:avLst/>
          </a:prstGeom>
          <a:noFill/>
          <a:ln/>
        </p:spPr>
        <p:txBody>
          <a:bodyPr wrap="square" lIns="0" tIns="0" rIns="0" bIns="0" rtlCol="0" anchor="ctr"/>
          <a:lstStyle/>
          <a:p>
            <a:pPr marL="0" indent="0">
              <a:buNone/>
            </a:pPr>
            <a:r>
              <a:rPr lang="en-US" sz="2400" i="1" dirty="0">
                <a:solidFill>
                  <a:srgbClr val="34D399"/>
                </a:solidFill>
                <a:latin typeface="Inter" pitchFamily="34" charset="0"/>
                <a:ea typeface="Inter" pitchFamily="34" charset="-122"/>
                <a:cs typeface="Inter" pitchFamily="34" charset="-120"/>
              </a:rPr>
              <a:t>Help AI coding agents build, deploy, and fix on AWS</a:t>
            </a:r>
            <a:endParaRPr lang="en-US" sz="2400" dirty="0"/>
          </a:p>
        </p:txBody>
      </p:sp>
      <p:sp>
        <p:nvSpPr>
          <p:cNvPr id="7" name="Text 5"/>
          <p:cNvSpPr/>
          <p:nvPr/>
        </p:nvSpPr>
        <p:spPr>
          <a:xfrm>
            <a:off x="731520" y="1828800"/>
            <a:ext cx="10515600" cy="45720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AWS MCP Server</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300+ AWS services via single endpoint. Sandboxed. IAM guardrails.</a:t>
            </a:r>
            <a:endParaRPr lang="en-US" sz="2400" dirty="0"/>
          </a:p>
          <a:p>
            <a:pPr marL="0" indent="0">
              <a:buNone/>
            </a:pPr>
            <a:endParaRPr lang="en-US" sz="2400" dirty="0"/>
          </a:p>
          <a:p>
            <a:pPr marL="0" indent="0">
              <a:buNone/>
            </a:pPr>
            <a:r>
              <a:rPr lang="en-US" sz="2400" b="1" dirty="0">
                <a:solidFill>
                  <a:srgbClr val="A78BFA"/>
                </a:solidFill>
                <a:latin typeface="Inter" pitchFamily="34" charset="0"/>
                <a:ea typeface="Inter" pitchFamily="34" charset="-122"/>
                <a:cs typeface="Inter" pitchFamily="34" charset="-120"/>
              </a:rPr>
              <a:t>Agent Skills + Rules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Curated procedures + troubleshooting guides. Runtime-discoverable.</a:t>
            </a:r>
            <a:endParaRPr lang="en-US" sz="2400" dirty="0"/>
          </a:p>
          <a:p>
            <a:pPr marL="0" indent="0">
              <a:buNone/>
            </a:pPr>
            <a:endParaRPr lang="en-US" sz="2400" dirty="0"/>
          </a:p>
          <a:p>
            <a:pPr marL="0" indent="0">
              <a:buNone/>
            </a:pPr>
            <a:r>
              <a:rPr lang="en-US" sz="2400" b="1" dirty="0">
                <a:solidFill>
                  <a:srgbClr val="F472B6"/>
                </a:solidFill>
                <a:latin typeface="Inter" pitchFamily="34" charset="0"/>
                <a:ea typeface="Inter" pitchFamily="34" charset="-122"/>
                <a:cs typeface="Inter" pitchFamily="34" charset="-120"/>
              </a:rPr>
              <a:t>Agent Plugins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One-click install for </a:t>
            </a:r>
            <a:r>
              <a:rPr lang="en-US" sz="2400" b="1" dirty="0">
                <a:solidFill>
                  <a:srgbClr val="FFFFFF"/>
                </a:solidFill>
                <a:latin typeface="Inter" pitchFamily="34" charset="0"/>
                <a:ea typeface="Inter" pitchFamily="34" charset="-122"/>
                <a:cs typeface="Inter" pitchFamily="34" charset="-120"/>
              </a:rPr>
              <a:t>Claude Code, Kiro, Codex, Cursor.</a:t>
            </a:r>
            <a:endParaRPr lang="en-US" sz="2400" dirty="0"/>
          </a:p>
          <a:p>
            <a:pPr marL="0" indent="0">
              <a:buNone/>
            </a:pPr>
            <a:endParaRPr lang="en-US" sz="2400" dirty="0"/>
          </a:p>
          <a:p>
            <a:pPr marL="0" indent="0">
              <a:buNone/>
            </a:pPr>
            <a:r>
              <a:rPr lang="en-US" sz="2400" b="1" dirty="0">
                <a:solidFill>
                  <a:srgbClr val="F59E0B"/>
                </a:solidFill>
                <a:latin typeface="Inter" pitchFamily="34" charset="0"/>
                <a:ea typeface="Inter" pitchFamily="34" charset="-122"/>
                <a:cs typeface="Inter" pitchFamily="34" charset="-120"/>
              </a:rPr>
              <a:t>Investigate → Fix from your IDE</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DevOps Agent finds root cause → Agent Toolkit </a:t>
            </a:r>
            <a:r>
              <a:rPr lang="en-US" sz="2400" b="1" dirty="0">
                <a:solidFill>
                  <a:srgbClr val="34D399"/>
                </a:solidFill>
                <a:latin typeface="Inter" pitchFamily="34" charset="0"/>
                <a:ea typeface="Inter" pitchFamily="34" charset="-122"/>
                <a:cs typeface="Inter" pitchFamily="34" charset="-120"/>
              </a:rPr>
              <a:t>implements the fix.</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36576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Investigate → Mitigate → Prevent</a:t>
            </a:r>
            <a:endParaRPr lang="en-US" sz="3200" dirty="0"/>
          </a:p>
        </p:txBody>
      </p:sp>
      <p:sp>
        <p:nvSpPr>
          <p:cNvPr id="6" name="Shape 4"/>
          <p:cNvSpPr/>
          <p:nvPr/>
        </p:nvSpPr>
        <p:spPr>
          <a:xfrm>
            <a:off x="548640" y="1828800"/>
            <a:ext cx="1920240" cy="1188720"/>
          </a:xfrm>
          <a:prstGeom prst="roundRect">
            <a:avLst>
              <a:gd name="adj" fmla="val 6154"/>
            </a:avLst>
          </a:prstGeom>
          <a:solidFill>
            <a:srgbClr val="1E2530"/>
          </a:solidFill>
          <a:ln w="12700">
            <a:solidFill>
              <a:srgbClr val="34D399"/>
            </a:solidFill>
            <a:prstDash val="solid"/>
          </a:ln>
        </p:spPr>
        <p:txBody>
          <a:bodyPr/>
          <a:lstStyle/>
          <a:p>
            <a:endParaRPr lang="en-US"/>
          </a:p>
        </p:txBody>
      </p:sp>
      <p:sp>
        <p:nvSpPr>
          <p:cNvPr id="7" name="Text 5"/>
          <p:cNvSpPr/>
          <p:nvPr/>
        </p:nvSpPr>
        <p:spPr>
          <a:xfrm>
            <a:off x="640080" y="2011680"/>
            <a:ext cx="1737360" cy="8229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Alert</a:t>
            </a:r>
            <a:endParaRPr lang="en-US" sz="2400" dirty="0"/>
          </a:p>
        </p:txBody>
      </p:sp>
      <p:sp>
        <p:nvSpPr>
          <p:cNvPr id="8" name="Text 6"/>
          <p:cNvSpPr/>
          <p:nvPr/>
        </p:nvSpPr>
        <p:spPr>
          <a:xfrm>
            <a:off x="2468880" y="2194560"/>
            <a:ext cx="365760" cy="457200"/>
          </a:xfrm>
          <a:prstGeom prst="rect">
            <a:avLst/>
          </a:prstGeom>
          <a:noFill/>
          <a:ln/>
        </p:spPr>
        <p:txBody>
          <a:bodyPr wrap="square" lIns="0" tIns="0" rIns="0" bIns="0" rtlCol="0" anchor="ctr"/>
          <a:lstStyle/>
          <a:p>
            <a:pPr marL="0" indent="0" algn="ctr">
              <a:buNone/>
            </a:pPr>
            <a:r>
              <a:rPr lang="en-US" sz="2400" dirty="0">
                <a:solidFill>
                  <a:srgbClr val="34D399"/>
                </a:solidFill>
              </a:rPr>
              <a:t>→</a:t>
            </a:r>
            <a:endParaRPr lang="en-US" sz="2400" dirty="0"/>
          </a:p>
        </p:txBody>
      </p:sp>
      <p:sp>
        <p:nvSpPr>
          <p:cNvPr id="9" name="Shape 7"/>
          <p:cNvSpPr/>
          <p:nvPr/>
        </p:nvSpPr>
        <p:spPr>
          <a:xfrm>
            <a:off x="2834640" y="1828800"/>
            <a:ext cx="1920240" cy="1188720"/>
          </a:xfrm>
          <a:prstGeom prst="roundRect">
            <a:avLst>
              <a:gd name="adj" fmla="val 6154"/>
            </a:avLst>
          </a:prstGeom>
          <a:solidFill>
            <a:srgbClr val="1E2530"/>
          </a:solidFill>
          <a:ln w="12700">
            <a:solidFill>
              <a:srgbClr val="34D399"/>
            </a:solidFill>
            <a:prstDash val="solid"/>
          </a:ln>
        </p:spPr>
        <p:txBody>
          <a:bodyPr/>
          <a:lstStyle/>
          <a:p>
            <a:endParaRPr lang="en-US"/>
          </a:p>
        </p:txBody>
      </p:sp>
      <p:sp>
        <p:nvSpPr>
          <p:cNvPr id="10" name="Text 8"/>
          <p:cNvSpPr/>
          <p:nvPr/>
        </p:nvSpPr>
        <p:spPr>
          <a:xfrm>
            <a:off x="2926080" y="2011680"/>
            <a:ext cx="1737360" cy="8229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Triage</a:t>
            </a:r>
            <a:endParaRPr lang="en-US" sz="2400" dirty="0"/>
          </a:p>
        </p:txBody>
      </p:sp>
      <p:sp>
        <p:nvSpPr>
          <p:cNvPr id="11" name="Text 9"/>
          <p:cNvSpPr/>
          <p:nvPr/>
        </p:nvSpPr>
        <p:spPr>
          <a:xfrm>
            <a:off x="4754880" y="2194560"/>
            <a:ext cx="365760" cy="457200"/>
          </a:xfrm>
          <a:prstGeom prst="rect">
            <a:avLst/>
          </a:prstGeom>
          <a:noFill/>
          <a:ln/>
        </p:spPr>
        <p:txBody>
          <a:bodyPr wrap="square" lIns="0" tIns="0" rIns="0" bIns="0" rtlCol="0" anchor="ctr"/>
          <a:lstStyle/>
          <a:p>
            <a:pPr marL="0" indent="0" algn="ctr">
              <a:buNone/>
            </a:pPr>
            <a:r>
              <a:rPr lang="en-US" sz="2400" dirty="0">
                <a:solidFill>
                  <a:srgbClr val="34D399"/>
                </a:solidFill>
              </a:rPr>
              <a:t>→</a:t>
            </a:r>
            <a:endParaRPr lang="en-US" sz="2400" dirty="0"/>
          </a:p>
        </p:txBody>
      </p:sp>
      <p:sp>
        <p:nvSpPr>
          <p:cNvPr id="12" name="Shape 10"/>
          <p:cNvSpPr/>
          <p:nvPr/>
        </p:nvSpPr>
        <p:spPr>
          <a:xfrm>
            <a:off x="5120640" y="1828800"/>
            <a:ext cx="1920240" cy="1188720"/>
          </a:xfrm>
          <a:prstGeom prst="roundRect">
            <a:avLst>
              <a:gd name="adj" fmla="val 6154"/>
            </a:avLst>
          </a:prstGeom>
          <a:solidFill>
            <a:srgbClr val="1E2530"/>
          </a:solidFill>
          <a:ln w="12700">
            <a:solidFill>
              <a:srgbClr val="34D399"/>
            </a:solidFill>
            <a:prstDash val="solid"/>
          </a:ln>
        </p:spPr>
        <p:txBody>
          <a:bodyPr/>
          <a:lstStyle/>
          <a:p>
            <a:endParaRPr lang="en-US"/>
          </a:p>
        </p:txBody>
      </p:sp>
      <p:sp>
        <p:nvSpPr>
          <p:cNvPr id="13" name="Text 11"/>
          <p:cNvSpPr/>
          <p:nvPr/>
        </p:nvSpPr>
        <p:spPr>
          <a:xfrm>
            <a:off x="5212080" y="2011680"/>
            <a:ext cx="1737360" cy="8229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Investigate</a:t>
            </a:r>
            <a:endParaRPr lang="en-US" sz="2400" dirty="0"/>
          </a:p>
        </p:txBody>
      </p:sp>
      <p:sp>
        <p:nvSpPr>
          <p:cNvPr id="14" name="Text 12"/>
          <p:cNvSpPr/>
          <p:nvPr/>
        </p:nvSpPr>
        <p:spPr>
          <a:xfrm>
            <a:off x="7040880" y="2194560"/>
            <a:ext cx="365760" cy="457200"/>
          </a:xfrm>
          <a:prstGeom prst="rect">
            <a:avLst/>
          </a:prstGeom>
          <a:noFill/>
          <a:ln/>
        </p:spPr>
        <p:txBody>
          <a:bodyPr wrap="square" lIns="0" tIns="0" rIns="0" bIns="0" rtlCol="0" anchor="ctr"/>
          <a:lstStyle/>
          <a:p>
            <a:pPr marL="0" indent="0" algn="ctr">
              <a:buNone/>
            </a:pPr>
            <a:r>
              <a:rPr lang="en-US" sz="2400" dirty="0">
                <a:solidFill>
                  <a:srgbClr val="34D399"/>
                </a:solidFill>
              </a:rPr>
              <a:t>→</a:t>
            </a:r>
            <a:endParaRPr lang="en-US" sz="2400" dirty="0"/>
          </a:p>
        </p:txBody>
      </p:sp>
      <p:sp>
        <p:nvSpPr>
          <p:cNvPr id="15" name="Shape 13"/>
          <p:cNvSpPr/>
          <p:nvPr/>
        </p:nvSpPr>
        <p:spPr>
          <a:xfrm>
            <a:off x="7406640" y="1828800"/>
            <a:ext cx="1920240" cy="1188720"/>
          </a:xfrm>
          <a:prstGeom prst="roundRect">
            <a:avLst>
              <a:gd name="adj" fmla="val 6154"/>
            </a:avLst>
          </a:prstGeom>
          <a:solidFill>
            <a:srgbClr val="1E2530"/>
          </a:solidFill>
          <a:ln w="12700">
            <a:solidFill>
              <a:srgbClr val="34D399"/>
            </a:solidFill>
            <a:prstDash val="solid"/>
          </a:ln>
        </p:spPr>
        <p:txBody>
          <a:bodyPr/>
          <a:lstStyle/>
          <a:p>
            <a:endParaRPr lang="en-US"/>
          </a:p>
        </p:txBody>
      </p:sp>
      <p:sp>
        <p:nvSpPr>
          <p:cNvPr id="16" name="Text 14"/>
          <p:cNvSpPr/>
          <p:nvPr/>
        </p:nvSpPr>
        <p:spPr>
          <a:xfrm>
            <a:off x="7498080" y="2011680"/>
            <a:ext cx="1737360" cy="8229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Root Cause</a:t>
            </a:r>
            <a:endParaRPr lang="en-US" sz="2400" dirty="0"/>
          </a:p>
        </p:txBody>
      </p:sp>
      <p:sp>
        <p:nvSpPr>
          <p:cNvPr id="17" name="Text 15"/>
          <p:cNvSpPr/>
          <p:nvPr/>
        </p:nvSpPr>
        <p:spPr>
          <a:xfrm>
            <a:off x="9326880" y="2194560"/>
            <a:ext cx="365760" cy="457200"/>
          </a:xfrm>
          <a:prstGeom prst="rect">
            <a:avLst/>
          </a:prstGeom>
          <a:noFill/>
          <a:ln/>
        </p:spPr>
        <p:txBody>
          <a:bodyPr wrap="square" lIns="0" tIns="0" rIns="0" bIns="0" rtlCol="0" anchor="ctr"/>
          <a:lstStyle/>
          <a:p>
            <a:pPr marL="0" indent="0" algn="ctr">
              <a:buNone/>
            </a:pPr>
            <a:r>
              <a:rPr lang="en-US" sz="2400" dirty="0">
                <a:solidFill>
                  <a:srgbClr val="34D399"/>
                </a:solidFill>
              </a:rPr>
              <a:t>→</a:t>
            </a:r>
            <a:endParaRPr lang="en-US" sz="2400" dirty="0"/>
          </a:p>
        </p:txBody>
      </p:sp>
      <p:sp>
        <p:nvSpPr>
          <p:cNvPr id="18" name="Shape 16"/>
          <p:cNvSpPr/>
          <p:nvPr/>
        </p:nvSpPr>
        <p:spPr>
          <a:xfrm>
            <a:off x="9692640" y="1828800"/>
            <a:ext cx="1920240" cy="1188720"/>
          </a:xfrm>
          <a:prstGeom prst="roundRect">
            <a:avLst>
              <a:gd name="adj" fmla="val 6154"/>
            </a:avLst>
          </a:prstGeom>
          <a:solidFill>
            <a:srgbClr val="1E2530"/>
          </a:solidFill>
          <a:ln w="12700">
            <a:solidFill>
              <a:srgbClr val="34D399"/>
            </a:solidFill>
            <a:prstDash val="solid"/>
          </a:ln>
        </p:spPr>
        <p:txBody>
          <a:bodyPr/>
          <a:lstStyle/>
          <a:p>
            <a:endParaRPr lang="en-US"/>
          </a:p>
        </p:txBody>
      </p:sp>
      <p:sp>
        <p:nvSpPr>
          <p:cNvPr id="19" name="Text 17"/>
          <p:cNvSpPr/>
          <p:nvPr/>
        </p:nvSpPr>
        <p:spPr>
          <a:xfrm>
            <a:off x="9784080" y="2011680"/>
            <a:ext cx="1737360" cy="822960"/>
          </a:xfrm>
          <a:prstGeom prst="rect">
            <a:avLst/>
          </a:prstGeom>
          <a:noFill/>
          <a:ln/>
        </p:spPr>
        <p:txBody>
          <a:bodyPr wrap="square" lIns="0" tIns="0" rIns="0" bIns="0" rtlCol="0" anchor="ctr"/>
          <a:lstStyle/>
          <a:p>
            <a:pPr marL="0" indent="0" algn="ctr">
              <a:buNone/>
            </a:pPr>
            <a:r>
              <a:rPr lang="en-US" sz="2400" b="1" dirty="0">
                <a:solidFill>
                  <a:srgbClr val="34D399"/>
                </a:solidFill>
                <a:latin typeface="Montserrat" pitchFamily="34" charset="0"/>
                <a:ea typeface="Montserrat" pitchFamily="34" charset="-122"/>
                <a:cs typeface="Montserrat" pitchFamily="34" charset="-120"/>
              </a:rPr>
              <a:t>Mitigate</a:t>
            </a:r>
            <a:endParaRPr lang="en-US" sz="2400" dirty="0"/>
          </a:p>
        </p:txBody>
      </p:sp>
      <p:sp>
        <p:nvSpPr>
          <p:cNvPr id="20" name="Text 18"/>
          <p:cNvSpPr/>
          <p:nvPr/>
        </p:nvSpPr>
        <p:spPr>
          <a:xfrm>
            <a:off x="731520" y="3474720"/>
            <a:ext cx="10515600" cy="27432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50 alarms → 3 investigations</a:t>
            </a: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(triage correlation in seconds)</a:t>
            </a:r>
            <a:endParaRPr lang="en-US" sz="2400" dirty="0"/>
          </a:p>
          <a:p>
            <a:pPr marL="0" indent="0">
              <a:buNone/>
            </a:pPr>
            <a:endParaRPr lang="en-US" sz="2400" dirty="0"/>
          </a:p>
          <a:p>
            <a:pPr marL="0" indent="0">
              <a:buNone/>
            </a:pPr>
            <a:r>
              <a:rPr lang="en-US" sz="2400" dirty="0">
                <a:solidFill>
                  <a:srgbClr val="FFFFFF"/>
                </a:solidFill>
                <a:latin typeface="Inter" pitchFamily="34" charset="0"/>
                <a:ea typeface="Inter" pitchFamily="34" charset="-122"/>
                <a:cs typeface="Inter" pitchFamily="34" charset="-120"/>
              </a:rPr>
              <a:t>Mitigation: rollback commands + agent-ready specs for </a:t>
            </a:r>
            <a:r>
              <a:rPr lang="en-US" sz="2400" b="1" dirty="0">
                <a:solidFill>
                  <a:srgbClr val="F472B6"/>
                </a:solidFill>
                <a:latin typeface="Inter" pitchFamily="34" charset="0"/>
                <a:ea typeface="Inter" pitchFamily="34" charset="-122"/>
                <a:cs typeface="Inter" pitchFamily="34" charset="-120"/>
              </a:rPr>
              <a:t>Kiro</a:t>
            </a:r>
            <a:endParaRPr lang="en-US" sz="2400" dirty="0"/>
          </a:p>
          <a:p>
            <a:pPr marL="0" indent="0">
              <a:buNone/>
            </a:pPr>
            <a:endParaRPr lang="en-US" sz="2400" dirty="0"/>
          </a:p>
          <a:p>
            <a:pPr marL="0" indent="0">
              <a:buNone/>
            </a:pPr>
            <a:r>
              <a:rPr lang="en-US" sz="2400" dirty="0">
                <a:solidFill>
                  <a:srgbClr val="FFFFFF"/>
                </a:solidFill>
                <a:latin typeface="Inter" pitchFamily="34" charset="0"/>
                <a:ea typeface="Inter" pitchFamily="34" charset="-122"/>
                <a:cs typeface="Inter" pitchFamily="34" charset="-120"/>
              </a:rPr>
              <a:t>Proactive: </a:t>
            </a:r>
            <a:r>
              <a:rPr lang="en-US" sz="2400" dirty="0">
                <a:solidFill>
                  <a:srgbClr val="A78BFA"/>
                </a:solidFill>
                <a:latin typeface="Inter" pitchFamily="34" charset="0"/>
                <a:ea typeface="Inter" pitchFamily="34" charset="-122"/>
                <a:cs typeface="Inter" pitchFamily="34" charset="-120"/>
              </a:rPr>
              <a:t>Observability | Infrastructure | Pipeline | Resilience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914400" y="457200"/>
            <a:ext cx="5486400" cy="731520"/>
          </a:xfrm>
          <a:prstGeom prst="rect">
            <a:avLst/>
          </a:prstGeom>
          <a:noFill/>
          <a:ln/>
        </p:spPr>
        <p:txBody>
          <a:bodyPr wrap="square" lIns="0" tIns="0" rIns="0" bIns="0" rtlCol="0" anchor="ctr"/>
          <a:lstStyle/>
          <a:p>
            <a:pPr marL="0" indent="0">
              <a:buNone/>
            </a:pPr>
            <a:r>
              <a:rPr lang="en-US" sz="2800" b="1" dirty="0">
                <a:solidFill>
                  <a:srgbClr val="34D399"/>
                </a:solidFill>
                <a:latin typeface="Montserrat" pitchFamily="34" charset="0"/>
                <a:ea typeface="Montserrat" pitchFamily="34" charset="-122"/>
                <a:cs typeface="Montserrat" pitchFamily="34" charset="-120"/>
              </a:rPr>
              <a:t>🎯 Quiz #2 — Medium</a:t>
            </a:r>
            <a:endParaRPr lang="en-US" sz="2800" dirty="0"/>
          </a:p>
        </p:txBody>
      </p:sp>
      <p:sp>
        <p:nvSpPr>
          <p:cNvPr id="6" name="Text 4"/>
          <p:cNvSpPr/>
          <p:nvPr/>
        </p:nvSpPr>
        <p:spPr>
          <a:xfrm>
            <a:off x="1508760" y="2913321"/>
            <a:ext cx="9144000" cy="1371600"/>
          </a:xfrm>
          <a:prstGeom prst="rect">
            <a:avLst/>
          </a:prstGeom>
          <a:noFill/>
          <a:ln/>
        </p:spPr>
        <p:txBody>
          <a:bodyPr wrap="square" lIns="0" tIns="0" rIns="0" bIns="0" rtlCol="0" anchor="ctr"/>
          <a:lstStyle/>
          <a:p>
            <a:pPr marL="0" indent="0" algn="ctr">
              <a:buNone/>
            </a:pPr>
            <a:r>
              <a:rPr lang="en-US" sz="4000" dirty="0">
                <a:solidFill>
                  <a:srgbClr val="FFFFFF"/>
                </a:solidFill>
                <a:latin typeface="Inter" pitchFamily="34" charset="0"/>
                <a:ea typeface="Inter" pitchFamily="34" charset="-122"/>
                <a:cs typeface="Inter" pitchFamily="34" charset="-120"/>
              </a:rPr>
              <a:t>DevOps Agent builds a </a:t>
            </a:r>
            <a:r>
              <a:rPr lang="en-US" sz="4000" b="1" dirty="0">
                <a:solidFill>
                  <a:srgbClr val="34D399"/>
                </a:solidFill>
                <a:latin typeface="Inter" pitchFamily="34" charset="0"/>
                <a:ea typeface="Inter" pitchFamily="34" charset="-122"/>
                <a:cs typeface="Inter" pitchFamily="34" charset="-120"/>
              </a:rPr>
              <a:t>hypothesis TREE</a:t>
            </a:r>
            <a:r>
              <a:rPr lang="en-US" sz="4000" dirty="0">
                <a:solidFill>
                  <a:srgbClr val="FFFFFF"/>
                </a:solidFill>
                <a:latin typeface="Inter" pitchFamily="34" charset="0"/>
                <a:ea typeface="Inter" pitchFamily="34" charset="-122"/>
                <a:cs typeface="Inter" pitchFamily="34" charset="-120"/>
              </a:rPr>
              <a:t> during</a:t>
            </a:r>
            <a:endParaRPr lang="en-US" sz="4000" dirty="0"/>
          </a:p>
          <a:p>
            <a:pPr marL="0" indent="0" algn="ctr">
              <a:buNone/>
            </a:pPr>
            <a:r>
              <a:rPr lang="en-US" sz="4000" dirty="0">
                <a:solidFill>
                  <a:srgbClr val="FFFFFF"/>
                </a:solidFill>
                <a:latin typeface="Inter" pitchFamily="34" charset="0"/>
                <a:ea typeface="Inter" pitchFamily="34" charset="-122"/>
                <a:cs typeface="Inter" pitchFamily="34" charset="-120"/>
              </a:rPr>
              <a:t>investigation. What prunes incorrect branches?</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FF3C7A9D-AD89-8EA4-92E2-DB81AFB904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7E4102B-CCE4-6CE2-864E-B5EC8711EFE4}"/>
              </a:ext>
            </a:extLst>
          </p:cNvPr>
          <p:cNvSpPr/>
          <p:nvPr/>
        </p:nvSpPr>
        <p:spPr>
          <a:xfrm>
            <a:off x="0" y="0"/>
            <a:ext cx="4050792" cy="54864"/>
          </a:xfrm>
          <a:prstGeom prst="rect">
            <a:avLst/>
          </a:prstGeom>
          <a:solidFill>
            <a:srgbClr val="34D399"/>
          </a:solidFill>
          <a:ln/>
        </p:spPr>
        <p:txBody>
          <a:bodyPr/>
          <a:lstStyle/>
          <a:p>
            <a:endParaRPr lang="en-US"/>
          </a:p>
        </p:txBody>
      </p:sp>
      <p:sp>
        <p:nvSpPr>
          <p:cNvPr id="3" name="Shape 1">
            <a:extLst>
              <a:ext uri="{FF2B5EF4-FFF2-40B4-BE49-F238E27FC236}">
                <a16:creationId xmlns:a16="http://schemas.microsoft.com/office/drawing/2014/main" id="{68203963-6F4C-B77F-657D-D97A5DC840E4}"/>
              </a:ext>
            </a:extLst>
          </p:cNvPr>
          <p:cNvSpPr/>
          <p:nvPr/>
        </p:nvSpPr>
        <p:spPr>
          <a:xfrm>
            <a:off x="4050792" y="0"/>
            <a:ext cx="4059936" cy="54864"/>
          </a:xfrm>
          <a:prstGeom prst="rect">
            <a:avLst/>
          </a:prstGeom>
          <a:solidFill>
            <a:srgbClr val="A78BFA"/>
          </a:solidFill>
          <a:ln/>
        </p:spPr>
        <p:txBody>
          <a:bodyPr/>
          <a:lstStyle/>
          <a:p>
            <a:endParaRPr lang="en-US"/>
          </a:p>
        </p:txBody>
      </p:sp>
      <p:sp>
        <p:nvSpPr>
          <p:cNvPr id="4" name="Shape 2">
            <a:extLst>
              <a:ext uri="{FF2B5EF4-FFF2-40B4-BE49-F238E27FC236}">
                <a16:creationId xmlns:a16="http://schemas.microsoft.com/office/drawing/2014/main" id="{52244301-4AAD-FA7B-F35A-CB6AAB571D69}"/>
              </a:ext>
            </a:extLst>
          </p:cNvPr>
          <p:cNvSpPr/>
          <p:nvPr/>
        </p:nvSpPr>
        <p:spPr>
          <a:xfrm>
            <a:off x="8110728" y="0"/>
            <a:ext cx="4050792" cy="54864"/>
          </a:xfrm>
          <a:prstGeom prst="rect">
            <a:avLst/>
          </a:prstGeom>
          <a:solidFill>
            <a:srgbClr val="F472B6"/>
          </a:solidFill>
          <a:ln/>
        </p:spPr>
        <p:txBody>
          <a:bodyPr/>
          <a:lstStyle/>
          <a:p>
            <a:endParaRPr lang="en-US"/>
          </a:p>
        </p:txBody>
      </p:sp>
      <p:sp>
        <p:nvSpPr>
          <p:cNvPr id="5" name="Text 3">
            <a:extLst>
              <a:ext uri="{FF2B5EF4-FFF2-40B4-BE49-F238E27FC236}">
                <a16:creationId xmlns:a16="http://schemas.microsoft.com/office/drawing/2014/main" id="{CE61BB57-AB7C-F0EF-2C29-E00E88D61E2A}"/>
              </a:ext>
            </a:extLst>
          </p:cNvPr>
          <p:cNvSpPr/>
          <p:nvPr/>
        </p:nvSpPr>
        <p:spPr>
          <a:xfrm>
            <a:off x="914400" y="457200"/>
            <a:ext cx="5486400" cy="731520"/>
          </a:xfrm>
          <a:prstGeom prst="rect">
            <a:avLst/>
          </a:prstGeom>
          <a:noFill/>
          <a:ln/>
        </p:spPr>
        <p:txBody>
          <a:bodyPr wrap="square" lIns="0" tIns="0" rIns="0" bIns="0" rtlCol="0" anchor="ctr"/>
          <a:lstStyle/>
          <a:p>
            <a:pPr marL="0" indent="0">
              <a:buNone/>
            </a:pPr>
            <a:r>
              <a:rPr lang="en-US" sz="2800" b="1" dirty="0">
                <a:solidFill>
                  <a:srgbClr val="34D399"/>
                </a:solidFill>
                <a:latin typeface="Montserrat" pitchFamily="34" charset="0"/>
                <a:ea typeface="Montserrat" pitchFamily="34" charset="-122"/>
                <a:cs typeface="Montserrat" pitchFamily="34" charset="-120"/>
              </a:rPr>
              <a:t>🎯 Quiz #2 — Medium</a:t>
            </a:r>
            <a:endParaRPr lang="en-US" sz="2800" dirty="0"/>
          </a:p>
        </p:txBody>
      </p:sp>
      <p:sp>
        <p:nvSpPr>
          <p:cNvPr id="7" name="Text 5">
            <a:extLst>
              <a:ext uri="{FF2B5EF4-FFF2-40B4-BE49-F238E27FC236}">
                <a16:creationId xmlns:a16="http://schemas.microsoft.com/office/drawing/2014/main" id="{84FA0F86-64B2-45B5-F0B5-26DC15A51157}"/>
              </a:ext>
            </a:extLst>
          </p:cNvPr>
          <p:cNvSpPr/>
          <p:nvPr/>
        </p:nvSpPr>
        <p:spPr>
          <a:xfrm>
            <a:off x="2332074" y="1591056"/>
            <a:ext cx="7527852" cy="4014216"/>
          </a:xfrm>
          <a:prstGeom prst="rect">
            <a:avLst/>
          </a:prstGeom>
          <a:noFill/>
          <a:ln/>
        </p:spPr>
        <p:txBody>
          <a:bodyPr wrap="square" lIns="0" tIns="0" rIns="0" bIns="0" rtlCol="0" anchor="ctr"/>
          <a:lstStyle/>
          <a:p>
            <a:pPr marL="0" indent="0">
              <a:buNone/>
            </a:pPr>
            <a:r>
              <a:rPr lang="en-US" sz="3200" dirty="0">
                <a:solidFill>
                  <a:srgbClr val="9CA3AF"/>
                </a:solidFill>
                <a:latin typeface="Inter" pitchFamily="34" charset="0"/>
                <a:ea typeface="Inter" pitchFamily="34" charset="-122"/>
                <a:cs typeface="Inter" pitchFamily="34" charset="-120"/>
              </a:rPr>
              <a:t>(A) Random sampling</a:t>
            </a:r>
            <a:endParaRPr lang="en-US" sz="3200" dirty="0"/>
          </a:p>
          <a:p>
            <a:pPr marL="0" indent="0">
              <a:buNone/>
            </a:pPr>
            <a:endParaRPr lang="en-US" sz="3200" dirty="0"/>
          </a:p>
          <a:p>
            <a:pPr marL="0" indent="0">
              <a:buNone/>
            </a:pPr>
            <a:r>
              <a:rPr lang="en-US" sz="3200" dirty="0">
                <a:solidFill>
                  <a:srgbClr val="9CA3AF"/>
                </a:solidFill>
                <a:latin typeface="Inter" pitchFamily="34" charset="0"/>
                <a:ea typeface="Inter" pitchFamily="34" charset="-122"/>
                <a:cs typeface="Inter" pitchFamily="34" charset="-120"/>
              </a:rPr>
              <a:t>(B) Evidence validation against telemetry</a:t>
            </a:r>
            <a:endParaRPr lang="en-US" sz="3200" dirty="0"/>
          </a:p>
          <a:p>
            <a:pPr marL="0" indent="0">
              <a:buNone/>
            </a:pPr>
            <a:endParaRPr lang="en-US" sz="3200" dirty="0"/>
          </a:p>
          <a:p>
            <a:pPr marL="0" indent="0">
              <a:buNone/>
            </a:pPr>
            <a:r>
              <a:rPr lang="en-US" sz="3200" dirty="0">
                <a:solidFill>
                  <a:srgbClr val="9CA3AF"/>
                </a:solidFill>
                <a:latin typeface="Inter" pitchFamily="34" charset="0"/>
                <a:ea typeface="Inter" pitchFamily="34" charset="-122"/>
                <a:cs typeface="Inter" pitchFamily="34" charset="-120"/>
              </a:rPr>
              <a:t>(C) Team voting</a:t>
            </a:r>
            <a:endParaRPr lang="en-US" sz="3200" dirty="0"/>
          </a:p>
          <a:p>
            <a:pPr marL="0" indent="0">
              <a:buNone/>
            </a:pPr>
            <a:endParaRPr lang="en-US" sz="3200" dirty="0"/>
          </a:p>
          <a:p>
            <a:pPr marL="0" indent="0">
              <a:buNone/>
            </a:pPr>
            <a:r>
              <a:rPr lang="en-US" sz="3200" dirty="0">
                <a:solidFill>
                  <a:srgbClr val="9CA3AF"/>
                </a:solidFill>
                <a:latin typeface="Inter" pitchFamily="34" charset="0"/>
                <a:ea typeface="Inter" pitchFamily="34" charset="-122"/>
                <a:cs typeface="Inter" pitchFamily="34" charset="-120"/>
              </a:rPr>
              <a:t>(D) Timeout-based elimination</a:t>
            </a:r>
            <a:endParaRPr lang="en-US" sz="3200" dirty="0"/>
          </a:p>
        </p:txBody>
      </p:sp>
    </p:spTree>
    <p:extLst>
      <p:ext uri="{BB962C8B-B14F-4D97-AF65-F5344CB8AC3E}">
        <p14:creationId xmlns:p14="http://schemas.microsoft.com/office/powerpoint/2010/main" val="1079928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Shape 3"/>
          <p:cNvSpPr/>
          <p:nvPr/>
        </p:nvSpPr>
        <p:spPr>
          <a:xfrm>
            <a:off x="4480560" y="1097280"/>
            <a:ext cx="3200400" cy="731520"/>
          </a:xfrm>
          <a:prstGeom prst="roundRect">
            <a:avLst>
              <a:gd name="adj" fmla="val 12500"/>
            </a:avLst>
          </a:prstGeom>
          <a:solidFill>
            <a:srgbClr val="34D399"/>
          </a:solidFill>
          <a:ln/>
        </p:spPr>
        <p:txBody>
          <a:bodyPr/>
          <a:lstStyle/>
          <a:p>
            <a:endParaRPr lang="en-US"/>
          </a:p>
        </p:txBody>
      </p:sp>
      <p:sp>
        <p:nvSpPr>
          <p:cNvPr id="6" name="Text 4"/>
          <p:cNvSpPr/>
          <p:nvPr/>
        </p:nvSpPr>
        <p:spPr>
          <a:xfrm>
            <a:off x="4480560" y="1097280"/>
            <a:ext cx="3200400" cy="731520"/>
          </a:xfrm>
          <a:prstGeom prst="rect">
            <a:avLst/>
          </a:prstGeom>
          <a:noFill/>
          <a:ln/>
        </p:spPr>
        <p:txBody>
          <a:bodyPr wrap="square" lIns="0" tIns="0" rIns="0" bIns="0" rtlCol="0" anchor="ctr"/>
          <a:lstStyle/>
          <a:p>
            <a:pPr marL="0" indent="0" algn="ctr">
              <a:buNone/>
            </a:pPr>
            <a:r>
              <a:rPr lang="en-US" sz="2400" b="1" dirty="0">
                <a:solidFill>
                  <a:srgbClr val="0D1117"/>
                </a:solidFill>
                <a:latin typeface="Montserrat" pitchFamily="34" charset="0"/>
                <a:ea typeface="Montserrat" pitchFamily="34" charset="-122"/>
                <a:cs typeface="Montserrat" pitchFamily="34" charset="-120"/>
              </a:rPr>
              <a:t>DEMO 1</a:t>
            </a:r>
            <a:endParaRPr lang="en-US" sz="2400" dirty="0"/>
          </a:p>
        </p:txBody>
      </p:sp>
      <p:sp>
        <p:nvSpPr>
          <p:cNvPr id="7" name="Text 5"/>
          <p:cNvSpPr/>
          <p:nvPr/>
        </p:nvSpPr>
        <p:spPr>
          <a:xfrm>
            <a:off x="914400" y="2560320"/>
            <a:ext cx="1033272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itchFamily="34" charset="0"/>
                <a:ea typeface="Montserrat" pitchFamily="34" charset="-122"/>
                <a:cs typeface="Montserrat" pitchFamily="34" charset="-120"/>
              </a:rPr>
              <a:t>Lambda Errors → CloudWatch Alarm → Investigation</a:t>
            </a:r>
            <a:endParaRPr lang="en-US" sz="2800" dirty="0"/>
          </a:p>
        </p:txBody>
      </p:sp>
      <p:sp>
        <p:nvSpPr>
          <p:cNvPr id="8" name="Text 6"/>
          <p:cNvSpPr/>
          <p:nvPr/>
        </p:nvSpPr>
        <p:spPr>
          <a:xfrm>
            <a:off x="1828800" y="3840480"/>
            <a:ext cx="8503920" cy="2286000"/>
          </a:xfrm>
          <a:prstGeom prst="rect">
            <a:avLst/>
          </a:prstGeom>
          <a:noFill/>
          <a:ln/>
        </p:spPr>
        <p:txBody>
          <a:bodyPr wrap="square" lIns="0" tIns="0" rIns="0" bIns="0" rtlCol="0" anchor="ctr"/>
          <a:lstStyle/>
          <a:p>
            <a:pPr marL="0" indent="0" algn="ctr">
              <a:buNone/>
            </a:pPr>
            <a:r>
              <a:rPr lang="en-US" sz="2400" dirty="0">
                <a:solidFill>
                  <a:srgbClr val="FFFFFF"/>
                </a:solidFill>
                <a:latin typeface="Inter" pitchFamily="34" charset="0"/>
                <a:ea typeface="Inter" pitchFamily="34" charset="-122"/>
                <a:cs typeface="Inter" pitchFamily="34" charset="-120"/>
              </a:rPr>
              <a:t>Pre-provisioned Lambda generating errors</a:t>
            </a:r>
            <a:endParaRPr lang="en-US" sz="2400" dirty="0"/>
          </a:p>
          <a:p>
            <a:pPr marL="0" indent="0" algn="ctr">
              <a:buNone/>
            </a:pPr>
            <a:endParaRPr lang="en-US" sz="2400" dirty="0"/>
          </a:p>
          <a:p>
            <a:pPr marL="0" indent="0" algn="ctr">
              <a:buNone/>
            </a:pPr>
            <a:r>
              <a:rPr lang="en-US" sz="2400" dirty="0">
                <a:solidFill>
                  <a:srgbClr val="9CA3AF"/>
                </a:solidFill>
                <a:latin typeface="Inter" pitchFamily="34" charset="0"/>
                <a:ea typeface="Inter" pitchFamily="34" charset="-122"/>
                <a:cs typeface="Inter" pitchFamily="34" charset="-120"/>
              </a:rPr>
              <a:t>CloudWatch Alarm triggers → DevOps Agent </a:t>
            </a:r>
            <a:r>
              <a:rPr lang="en-US" sz="2400" b="1" dirty="0">
                <a:solidFill>
                  <a:srgbClr val="34D399"/>
                </a:solidFill>
                <a:latin typeface="Inter" pitchFamily="34" charset="0"/>
                <a:ea typeface="Inter" pitchFamily="34" charset="-122"/>
                <a:cs typeface="Inter" pitchFamily="34" charset="-120"/>
              </a:rPr>
              <a:t>auto-investigates</a:t>
            </a:r>
            <a:endParaRPr lang="en-US" sz="2400" dirty="0"/>
          </a:p>
          <a:p>
            <a:pPr marL="0" indent="0" algn="ctr">
              <a:buNone/>
            </a:pPr>
            <a:endParaRPr lang="en-US" sz="2400" dirty="0"/>
          </a:p>
          <a:p>
            <a:pPr marL="0" indent="0" algn="ctr">
              <a:buNone/>
            </a:pPr>
            <a:r>
              <a:rPr lang="en-US" sz="2400" dirty="0">
                <a:solidFill>
                  <a:srgbClr val="9CA3AF"/>
                </a:solidFill>
                <a:latin typeface="Inter" pitchFamily="34" charset="0"/>
                <a:ea typeface="Inter" pitchFamily="34" charset="-122"/>
                <a:cs typeface="Inter" pitchFamily="34" charset="-120"/>
              </a:rPr>
              <a:t>Watch: triage → correlate → root cause → mitigation plan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Shape 3"/>
          <p:cNvSpPr/>
          <p:nvPr/>
        </p:nvSpPr>
        <p:spPr>
          <a:xfrm>
            <a:off x="4480560" y="1097280"/>
            <a:ext cx="3200400" cy="731520"/>
          </a:xfrm>
          <a:prstGeom prst="roundRect">
            <a:avLst>
              <a:gd name="adj" fmla="val 12500"/>
            </a:avLst>
          </a:prstGeom>
          <a:solidFill>
            <a:srgbClr val="A78BFA"/>
          </a:solidFill>
          <a:ln/>
        </p:spPr>
        <p:txBody>
          <a:bodyPr/>
          <a:lstStyle/>
          <a:p>
            <a:endParaRPr lang="en-US"/>
          </a:p>
        </p:txBody>
      </p:sp>
      <p:sp>
        <p:nvSpPr>
          <p:cNvPr id="6" name="Text 4"/>
          <p:cNvSpPr/>
          <p:nvPr/>
        </p:nvSpPr>
        <p:spPr>
          <a:xfrm>
            <a:off x="4480560" y="1097280"/>
            <a:ext cx="3200400" cy="731520"/>
          </a:xfrm>
          <a:prstGeom prst="rect">
            <a:avLst/>
          </a:prstGeom>
          <a:noFill/>
          <a:ln/>
        </p:spPr>
        <p:txBody>
          <a:bodyPr wrap="square" lIns="0" tIns="0" rIns="0" bIns="0" rtlCol="0" anchor="ctr"/>
          <a:lstStyle/>
          <a:p>
            <a:pPr marL="0" indent="0" algn="ctr">
              <a:buNone/>
            </a:pPr>
            <a:r>
              <a:rPr lang="en-US" sz="2400" b="1" dirty="0">
                <a:solidFill>
                  <a:srgbClr val="0D1117"/>
                </a:solidFill>
                <a:latin typeface="Montserrat" pitchFamily="34" charset="0"/>
                <a:ea typeface="Montserrat" pitchFamily="34" charset="-122"/>
                <a:cs typeface="Montserrat" pitchFamily="34" charset="-120"/>
              </a:rPr>
              <a:t>DEMO 2</a:t>
            </a:r>
            <a:endParaRPr lang="en-US" sz="2400" dirty="0"/>
          </a:p>
        </p:txBody>
      </p:sp>
      <p:sp>
        <p:nvSpPr>
          <p:cNvPr id="7" name="Text 5"/>
          <p:cNvSpPr/>
          <p:nvPr/>
        </p:nvSpPr>
        <p:spPr>
          <a:xfrm>
            <a:off x="914400" y="2560320"/>
            <a:ext cx="1033272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itchFamily="34" charset="0"/>
                <a:ea typeface="Montserrat" pitchFamily="34" charset="-122"/>
                <a:cs typeface="Montserrat" pitchFamily="34" charset="-120"/>
              </a:rPr>
              <a:t>EKS Pod Failures → Root Cause in Minutes</a:t>
            </a:r>
            <a:endParaRPr lang="en-US" sz="2800" dirty="0"/>
          </a:p>
        </p:txBody>
      </p:sp>
      <p:sp>
        <p:nvSpPr>
          <p:cNvPr id="8" name="Text 6"/>
          <p:cNvSpPr/>
          <p:nvPr/>
        </p:nvSpPr>
        <p:spPr>
          <a:xfrm>
            <a:off x="1828800" y="3840480"/>
            <a:ext cx="8503920" cy="2286000"/>
          </a:xfrm>
          <a:prstGeom prst="rect">
            <a:avLst/>
          </a:prstGeom>
          <a:noFill/>
          <a:ln/>
        </p:spPr>
        <p:txBody>
          <a:bodyPr wrap="square" lIns="0" tIns="0" rIns="0" bIns="0" rtlCol="0" anchor="ctr"/>
          <a:lstStyle/>
          <a:p>
            <a:pPr marL="0" indent="0" algn="ctr">
              <a:buNone/>
            </a:pPr>
            <a:r>
              <a:rPr lang="en-US" sz="2400" dirty="0">
                <a:solidFill>
                  <a:srgbClr val="FFFFFF"/>
                </a:solidFill>
                <a:latin typeface="Inter" pitchFamily="34" charset="0"/>
                <a:ea typeface="Inter" pitchFamily="34" charset="-122"/>
                <a:cs typeface="Inter" pitchFamily="34" charset="-120"/>
              </a:rPr>
              <a:t>Pre-provisioned EKS cluster with failing pods</a:t>
            </a:r>
            <a:endParaRPr lang="en-US" sz="2400" dirty="0"/>
          </a:p>
          <a:p>
            <a:pPr marL="0" indent="0" algn="ctr">
              <a:buNone/>
            </a:pPr>
            <a:endParaRPr lang="en-US" sz="2400" dirty="0"/>
          </a:p>
          <a:p>
            <a:pPr marL="0" indent="0" algn="ctr">
              <a:buNone/>
            </a:pPr>
            <a:r>
              <a:rPr lang="en-US" sz="2400" dirty="0">
                <a:solidFill>
                  <a:srgbClr val="9CA3AF"/>
                </a:solidFill>
                <a:latin typeface="Inter" pitchFamily="34" charset="0"/>
                <a:ea typeface="Inter" pitchFamily="34" charset="-122"/>
                <a:cs typeface="Inter" pitchFamily="34" charset="-120"/>
              </a:rPr>
              <a:t>DevOps Agent correlates: </a:t>
            </a:r>
            <a:r>
              <a:rPr lang="en-US" sz="2400" b="1" dirty="0">
                <a:solidFill>
                  <a:srgbClr val="A78BFA"/>
                </a:solidFill>
                <a:latin typeface="Inter" pitchFamily="34" charset="0"/>
                <a:ea typeface="Inter" pitchFamily="34" charset="-122"/>
                <a:cs typeface="Inter" pitchFamily="34" charset="-120"/>
              </a:rPr>
              <a:t>pod events + node metrics + deployment history</a:t>
            </a:r>
            <a:endParaRPr lang="en-US" sz="2400" dirty="0"/>
          </a:p>
          <a:p>
            <a:pPr marL="0" indent="0" algn="ctr">
              <a:buNone/>
            </a:pPr>
            <a:endParaRPr lang="en-US" sz="2400" dirty="0"/>
          </a:p>
          <a:p>
            <a:pPr marL="0" indent="0" algn="ctr">
              <a:buNone/>
            </a:pPr>
            <a:r>
              <a:rPr lang="en-US" sz="2400" dirty="0">
                <a:solidFill>
                  <a:srgbClr val="9CA3AF"/>
                </a:solidFill>
                <a:latin typeface="Inter" pitchFamily="34" charset="0"/>
                <a:ea typeface="Inter" pitchFamily="34" charset="-122"/>
                <a:cs typeface="Inter" pitchFamily="34" charset="-120"/>
              </a:rPr>
              <a:t>Root cause + remediation delivered </a:t>
            </a:r>
            <a:r>
              <a:rPr lang="en-US" sz="2400" b="1" dirty="0">
                <a:solidFill>
                  <a:srgbClr val="34D399"/>
                </a:solidFill>
                <a:latin typeface="Inter" pitchFamily="34" charset="0"/>
                <a:ea typeface="Inter" pitchFamily="34" charset="-122"/>
                <a:cs typeface="Inter" pitchFamily="34" charset="-120"/>
              </a:rPr>
              <a:t>autonomously</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914400" y="457200"/>
            <a:ext cx="5486400" cy="731520"/>
          </a:xfrm>
          <a:prstGeom prst="rect">
            <a:avLst/>
          </a:prstGeom>
          <a:noFill/>
          <a:ln/>
        </p:spPr>
        <p:txBody>
          <a:bodyPr wrap="square" lIns="0" tIns="0" rIns="0" bIns="0" rtlCol="0" anchor="ctr"/>
          <a:lstStyle/>
          <a:p>
            <a:pPr marL="0" indent="0">
              <a:buNone/>
            </a:pPr>
            <a:r>
              <a:rPr lang="en-US" sz="2800" b="1" dirty="0">
                <a:solidFill>
                  <a:srgbClr val="F59E0B"/>
                </a:solidFill>
                <a:latin typeface="Montserrat" pitchFamily="34" charset="0"/>
                <a:ea typeface="Montserrat" pitchFamily="34" charset="-122"/>
                <a:cs typeface="Montserrat" pitchFamily="34" charset="-120"/>
              </a:rPr>
              <a:t>🎯 Challenge #3 — Hard</a:t>
            </a:r>
            <a:endParaRPr lang="en-US" sz="2800" dirty="0"/>
          </a:p>
        </p:txBody>
      </p:sp>
      <p:sp>
        <p:nvSpPr>
          <p:cNvPr id="6" name="Text 4"/>
          <p:cNvSpPr/>
          <p:nvPr/>
        </p:nvSpPr>
        <p:spPr>
          <a:xfrm>
            <a:off x="1371600" y="1645920"/>
            <a:ext cx="9144000" cy="1645920"/>
          </a:xfrm>
          <a:prstGeom prst="rect">
            <a:avLst/>
          </a:prstGeom>
          <a:noFill/>
          <a:ln/>
        </p:spPr>
        <p:txBody>
          <a:bodyPr wrap="square" lIns="0" tIns="0" rIns="0" bIns="0" rtlCol="0" anchor="ctr"/>
          <a:lstStyle/>
          <a:p>
            <a:pPr marL="0" indent="0" algn="ctr">
              <a:buNone/>
            </a:pPr>
            <a:r>
              <a:rPr lang="en-US" sz="2600" dirty="0">
                <a:solidFill>
                  <a:srgbClr val="FFFFFF"/>
                </a:solidFill>
                <a:latin typeface="Inter" pitchFamily="34" charset="0"/>
                <a:ea typeface="Inter" pitchFamily="34" charset="-122"/>
                <a:cs typeface="Inter" pitchFamily="34" charset="-120"/>
              </a:rPr>
              <a:t>DevOps Agent has </a:t>
            </a:r>
            <a:r>
              <a:rPr lang="en-US" sz="2600" b="1" dirty="0">
                <a:solidFill>
                  <a:srgbClr val="F59E0B"/>
                </a:solidFill>
                <a:latin typeface="Inter" pitchFamily="34" charset="0"/>
                <a:ea typeface="Inter" pitchFamily="34" charset="-122"/>
                <a:cs typeface="Inter" pitchFamily="34" charset="-120"/>
              </a:rPr>
              <a:t>5 access methods.</a:t>
            </a:r>
            <a:endParaRPr lang="en-US" sz="2600" dirty="0"/>
          </a:p>
          <a:p>
            <a:pPr marL="0" indent="0" algn="ctr">
              <a:buNone/>
            </a:pPr>
            <a:r>
              <a:rPr lang="en-US" sz="2600" dirty="0">
                <a:solidFill>
                  <a:srgbClr val="FFFFFF"/>
                </a:solidFill>
                <a:latin typeface="Inter" pitchFamily="34" charset="0"/>
                <a:ea typeface="Inter" pitchFamily="34" charset="-122"/>
                <a:cs typeface="Inter" pitchFamily="34" charset="-120"/>
              </a:rPr>
              <a:t>One lets you investigate production incidents</a:t>
            </a:r>
            <a:endParaRPr lang="en-US" sz="2600" dirty="0"/>
          </a:p>
          <a:p>
            <a:pPr marL="0" indent="0" algn="ctr">
              <a:buNone/>
            </a:pPr>
            <a:r>
              <a:rPr lang="en-US" sz="2600" dirty="0">
                <a:solidFill>
                  <a:srgbClr val="FFFFFF"/>
                </a:solidFill>
                <a:latin typeface="Inter" pitchFamily="34" charset="0"/>
                <a:ea typeface="Inter" pitchFamily="34" charset="-122"/>
                <a:cs typeface="Inter" pitchFamily="34" charset="-120"/>
              </a:rPr>
              <a:t>without leaving your IDE.</a:t>
            </a:r>
            <a:endParaRPr lang="en-US" sz="2600" dirty="0"/>
          </a:p>
        </p:txBody>
      </p:sp>
      <p:sp>
        <p:nvSpPr>
          <p:cNvPr id="7" name="Text 5"/>
          <p:cNvSpPr/>
          <p:nvPr/>
        </p:nvSpPr>
        <p:spPr>
          <a:xfrm>
            <a:off x="1371600" y="3474720"/>
            <a:ext cx="9144000" cy="109728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Name it AND the two IDEs that</a:t>
            </a:r>
            <a:endParaRPr lang="en-US" sz="2400" dirty="0"/>
          </a:p>
          <a:p>
            <a:pPr marL="0" indent="0" algn="ctr">
              <a:buNone/>
            </a:pPr>
            <a:r>
              <a:rPr lang="en-US" sz="2400" dirty="0">
                <a:solidFill>
                  <a:srgbClr val="9CA3AF"/>
                </a:solidFill>
                <a:latin typeface="Inter" pitchFamily="34" charset="0"/>
                <a:ea typeface="Inter" pitchFamily="34" charset="-122"/>
                <a:cs typeface="Inter" pitchFamily="34" charset="-120"/>
              </a:rPr>
              <a:t>support it out of the box.</a:t>
            </a:r>
            <a:endParaRPr lang="en-US" sz="2400" dirty="0"/>
          </a:p>
        </p:txBody>
      </p:sp>
      <p:sp>
        <p:nvSpPr>
          <p:cNvPr id="8" name="Text 6"/>
          <p:cNvSpPr/>
          <p:nvPr/>
        </p:nvSpPr>
        <p:spPr>
          <a:xfrm>
            <a:off x="1828800" y="4846320"/>
            <a:ext cx="8503920" cy="548640"/>
          </a:xfrm>
          <a:prstGeom prst="rect">
            <a:avLst/>
          </a:prstGeom>
          <a:noFill/>
          <a:ln/>
        </p:spPr>
        <p:txBody>
          <a:bodyPr wrap="square" lIns="0" tIns="0" rIns="0" bIns="0" rtlCol="0" anchor="ctr"/>
          <a:lstStyle/>
          <a:p>
            <a:pPr marL="0" indent="0" algn="ctr">
              <a:buNone/>
            </a:pPr>
            <a:r>
              <a:rPr lang="en-US" sz="2400" i="1" dirty="0">
                <a:solidFill>
                  <a:srgbClr val="A78BFA"/>
                </a:solidFill>
                <a:latin typeface="Inter" pitchFamily="34" charset="0"/>
                <a:ea typeface="Inter" pitchFamily="34" charset="-122"/>
                <a:cs typeface="Inter" pitchFamily="34" charset="-120"/>
              </a:rPr>
              <a:t>Hint: What makes a senior SRE irreplaceable is context without switching tools.</a:t>
            </a:r>
            <a:endParaRPr lang="en-US" sz="2400" dirty="0"/>
          </a:p>
        </p:txBody>
      </p:sp>
      <p:sp>
        <p:nvSpPr>
          <p:cNvPr id="9" name="Text 7"/>
          <p:cNvSpPr/>
          <p:nvPr/>
        </p:nvSpPr>
        <p:spPr>
          <a:xfrm>
            <a:off x="1371600" y="5760720"/>
            <a:ext cx="9144000" cy="457200"/>
          </a:xfrm>
          <a:prstGeom prst="rect">
            <a:avLst/>
          </a:prstGeom>
          <a:noFill/>
          <a:ln/>
        </p:spPr>
        <p:txBody>
          <a:bodyPr wrap="square" lIns="0" tIns="0" rIns="0" bIns="0" rtlCol="0" anchor="ctr"/>
          <a:lstStyle/>
          <a:p>
            <a:pPr marL="0" indent="0" algn="ctr">
              <a:buNone/>
            </a:pPr>
            <a:r>
              <a:rPr lang="en-US" sz="2400" b="1" dirty="0">
                <a:solidFill>
                  <a:srgbClr val="F59E0B"/>
                </a:solidFill>
                <a:latin typeface="Inter" pitchFamily="34" charset="0"/>
                <a:ea typeface="Inter" pitchFamily="34" charset="-122"/>
                <a:cs typeface="Inter" pitchFamily="34" charset="-120"/>
              </a:rPr>
              <a:t>🌟 Hardest one = biggest swag!</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36576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Impact: The Constraint Has Shifted</a:t>
            </a:r>
            <a:endParaRPr lang="en-US" sz="3200" dirty="0"/>
          </a:p>
        </p:txBody>
      </p:sp>
      <p:sp>
        <p:nvSpPr>
          <p:cNvPr id="6" name="Shape 4"/>
          <p:cNvSpPr/>
          <p:nvPr/>
        </p:nvSpPr>
        <p:spPr>
          <a:xfrm>
            <a:off x="1371600" y="1645920"/>
            <a:ext cx="4389120" cy="1920240"/>
          </a:xfrm>
          <a:prstGeom prst="roundRect">
            <a:avLst>
              <a:gd name="adj" fmla="val 3810"/>
            </a:avLst>
          </a:prstGeom>
          <a:solidFill>
            <a:srgbClr val="1E2530"/>
          </a:solidFill>
          <a:ln w="12700">
            <a:solidFill>
              <a:srgbClr val="2D3748"/>
            </a:solidFill>
            <a:prstDash val="solid"/>
          </a:ln>
        </p:spPr>
        <p:txBody>
          <a:bodyPr/>
          <a:lstStyle/>
          <a:p>
            <a:endParaRPr lang="en-US"/>
          </a:p>
        </p:txBody>
      </p:sp>
      <p:sp>
        <p:nvSpPr>
          <p:cNvPr id="7" name="Text 5"/>
          <p:cNvSpPr/>
          <p:nvPr/>
        </p:nvSpPr>
        <p:spPr>
          <a:xfrm>
            <a:off x="1737360" y="1920240"/>
            <a:ext cx="3657600" cy="457200"/>
          </a:xfrm>
          <a:prstGeom prst="rect">
            <a:avLst/>
          </a:prstGeom>
          <a:noFill/>
          <a:ln/>
        </p:spPr>
        <p:txBody>
          <a:bodyPr wrap="square" lIns="0" tIns="0" rIns="0" bIns="0" rtlCol="0" anchor="ctr"/>
          <a:lstStyle/>
          <a:p>
            <a:pPr marL="0" indent="0">
              <a:buNone/>
            </a:pPr>
            <a:r>
              <a:rPr lang="en-US" sz="2400" b="1" dirty="0">
                <a:solidFill>
                  <a:srgbClr val="9CA3AF"/>
                </a:solidFill>
                <a:latin typeface="Montserrat" pitchFamily="34" charset="0"/>
                <a:ea typeface="Montserrat" pitchFamily="34" charset="-122"/>
                <a:cs typeface="Montserrat" pitchFamily="34" charset="-120"/>
              </a:rPr>
              <a:t>MTTR</a:t>
            </a:r>
            <a:endParaRPr lang="en-US" sz="2400" dirty="0"/>
          </a:p>
        </p:txBody>
      </p:sp>
      <p:sp>
        <p:nvSpPr>
          <p:cNvPr id="8" name="Text 6"/>
          <p:cNvSpPr/>
          <p:nvPr/>
        </p:nvSpPr>
        <p:spPr>
          <a:xfrm>
            <a:off x="1737360" y="2468880"/>
            <a:ext cx="3657600" cy="9144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Hours → Minutes</a:t>
            </a:r>
            <a:endParaRPr lang="en-US" sz="2400" dirty="0"/>
          </a:p>
        </p:txBody>
      </p:sp>
      <p:sp>
        <p:nvSpPr>
          <p:cNvPr id="9" name="Shape 7"/>
          <p:cNvSpPr/>
          <p:nvPr/>
        </p:nvSpPr>
        <p:spPr>
          <a:xfrm>
            <a:off x="6400800" y="1645920"/>
            <a:ext cx="4389120" cy="1920240"/>
          </a:xfrm>
          <a:prstGeom prst="roundRect">
            <a:avLst>
              <a:gd name="adj" fmla="val 3810"/>
            </a:avLst>
          </a:prstGeom>
          <a:solidFill>
            <a:srgbClr val="1E2530"/>
          </a:solidFill>
          <a:ln w="12700">
            <a:solidFill>
              <a:srgbClr val="2D3748"/>
            </a:solidFill>
            <a:prstDash val="solid"/>
          </a:ln>
        </p:spPr>
        <p:txBody>
          <a:bodyPr/>
          <a:lstStyle/>
          <a:p>
            <a:endParaRPr lang="en-US"/>
          </a:p>
        </p:txBody>
      </p:sp>
      <p:sp>
        <p:nvSpPr>
          <p:cNvPr id="10" name="Text 8"/>
          <p:cNvSpPr/>
          <p:nvPr/>
        </p:nvSpPr>
        <p:spPr>
          <a:xfrm>
            <a:off x="6766560" y="1920240"/>
            <a:ext cx="3657600" cy="457200"/>
          </a:xfrm>
          <a:prstGeom prst="rect">
            <a:avLst/>
          </a:prstGeom>
          <a:noFill/>
          <a:ln/>
        </p:spPr>
        <p:txBody>
          <a:bodyPr wrap="square" lIns="0" tIns="0" rIns="0" bIns="0" rtlCol="0" anchor="ctr"/>
          <a:lstStyle/>
          <a:p>
            <a:pPr marL="0" indent="0">
              <a:buNone/>
            </a:pPr>
            <a:r>
              <a:rPr lang="en-US" sz="2400" b="1" dirty="0">
                <a:solidFill>
                  <a:srgbClr val="9CA3AF"/>
                </a:solidFill>
                <a:latin typeface="Montserrat" pitchFamily="34" charset="0"/>
                <a:ea typeface="Montserrat" pitchFamily="34" charset="-122"/>
                <a:cs typeface="Montserrat" pitchFamily="34" charset="-120"/>
              </a:rPr>
              <a:t>Alarm Noise</a:t>
            </a:r>
            <a:endParaRPr lang="en-US" sz="2400" dirty="0"/>
          </a:p>
        </p:txBody>
      </p:sp>
      <p:sp>
        <p:nvSpPr>
          <p:cNvPr id="11" name="Text 9"/>
          <p:cNvSpPr/>
          <p:nvPr/>
        </p:nvSpPr>
        <p:spPr>
          <a:xfrm>
            <a:off x="6766560" y="2468880"/>
            <a:ext cx="3657600" cy="9144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50 → 3</a:t>
            </a:r>
            <a:endParaRPr lang="en-US" sz="2400" dirty="0"/>
          </a:p>
        </p:txBody>
      </p:sp>
      <p:sp>
        <p:nvSpPr>
          <p:cNvPr id="12" name="Shape 10"/>
          <p:cNvSpPr/>
          <p:nvPr/>
        </p:nvSpPr>
        <p:spPr>
          <a:xfrm>
            <a:off x="1371600" y="4023360"/>
            <a:ext cx="4389120" cy="1920240"/>
          </a:xfrm>
          <a:prstGeom prst="roundRect">
            <a:avLst>
              <a:gd name="adj" fmla="val 3810"/>
            </a:avLst>
          </a:prstGeom>
          <a:solidFill>
            <a:srgbClr val="1E2530"/>
          </a:solidFill>
          <a:ln w="12700">
            <a:solidFill>
              <a:srgbClr val="2D3748"/>
            </a:solidFill>
            <a:prstDash val="solid"/>
          </a:ln>
        </p:spPr>
        <p:txBody>
          <a:bodyPr/>
          <a:lstStyle/>
          <a:p>
            <a:endParaRPr lang="en-US"/>
          </a:p>
        </p:txBody>
      </p:sp>
      <p:sp>
        <p:nvSpPr>
          <p:cNvPr id="13" name="Text 11"/>
          <p:cNvSpPr/>
          <p:nvPr/>
        </p:nvSpPr>
        <p:spPr>
          <a:xfrm>
            <a:off x="1737360" y="4297680"/>
            <a:ext cx="3657600" cy="457200"/>
          </a:xfrm>
          <a:prstGeom prst="rect">
            <a:avLst/>
          </a:prstGeom>
          <a:noFill/>
          <a:ln/>
        </p:spPr>
        <p:txBody>
          <a:bodyPr wrap="square" lIns="0" tIns="0" rIns="0" bIns="0" rtlCol="0" anchor="ctr"/>
          <a:lstStyle/>
          <a:p>
            <a:pPr marL="0" indent="0">
              <a:buNone/>
            </a:pPr>
            <a:r>
              <a:rPr lang="en-US" sz="2400" b="1" dirty="0">
                <a:solidFill>
                  <a:srgbClr val="9CA3AF"/>
                </a:solidFill>
                <a:latin typeface="Montserrat" pitchFamily="34" charset="0"/>
                <a:ea typeface="Montserrat" pitchFamily="34" charset="-122"/>
                <a:cs typeface="Montserrat" pitchFamily="34" charset="-120"/>
              </a:rPr>
              <a:t>Engineers</a:t>
            </a:r>
            <a:endParaRPr lang="en-US" sz="2400" dirty="0"/>
          </a:p>
        </p:txBody>
      </p:sp>
      <p:sp>
        <p:nvSpPr>
          <p:cNvPr id="14" name="Text 12"/>
          <p:cNvSpPr/>
          <p:nvPr/>
        </p:nvSpPr>
        <p:spPr>
          <a:xfrm>
            <a:off x="1737360" y="4846320"/>
            <a:ext cx="3657600" cy="9144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Firefighting →</a:t>
            </a:r>
            <a:endParaRPr lang="en-US" sz="2400" dirty="0"/>
          </a:p>
          <a:p>
            <a:pPr marL="0" indent="0">
              <a:buNone/>
            </a:pPr>
            <a:r>
              <a:rPr lang="en-US" sz="2400" b="1" dirty="0">
                <a:solidFill>
                  <a:srgbClr val="34D399"/>
                </a:solidFill>
                <a:latin typeface="Inter" pitchFamily="34" charset="0"/>
                <a:ea typeface="Inter" pitchFamily="34" charset="-122"/>
                <a:cs typeface="Inter" pitchFamily="34" charset="-120"/>
              </a:rPr>
              <a:t>Fireproofing</a:t>
            </a:r>
            <a:endParaRPr lang="en-US" sz="2400" dirty="0"/>
          </a:p>
        </p:txBody>
      </p:sp>
      <p:sp>
        <p:nvSpPr>
          <p:cNvPr id="15" name="Shape 13"/>
          <p:cNvSpPr/>
          <p:nvPr/>
        </p:nvSpPr>
        <p:spPr>
          <a:xfrm>
            <a:off x="6400800" y="4023360"/>
            <a:ext cx="4389120" cy="1920240"/>
          </a:xfrm>
          <a:prstGeom prst="roundRect">
            <a:avLst>
              <a:gd name="adj" fmla="val 3810"/>
            </a:avLst>
          </a:prstGeom>
          <a:solidFill>
            <a:srgbClr val="1E2530"/>
          </a:solidFill>
          <a:ln w="12700">
            <a:solidFill>
              <a:srgbClr val="2D3748"/>
            </a:solidFill>
            <a:prstDash val="solid"/>
          </a:ln>
        </p:spPr>
        <p:txBody>
          <a:bodyPr/>
          <a:lstStyle/>
          <a:p>
            <a:endParaRPr lang="en-US"/>
          </a:p>
        </p:txBody>
      </p:sp>
      <p:sp>
        <p:nvSpPr>
          <p:cNvPr id="16" name="Text 14"/>
          <p:cNvSpPr/>
          <p:nvPr/>
        </p:nvSpPr>
        <p:spPr>
          <a:xfrm>
            <a:off x="6766560" y="4297680"/>
            <a:ext cx="3657600" cy="457200"/>
          </a:xfrm>
          <a:prstGeom prst="rect">
            <a:avLst/>
          </a:prstGeom>
          <a:noFill/>
          <a:ln/>
        </p:spPr>
        <p:txBody>
          <a:bodyPr wrap="square" lIns="0" tIns="0" rIns="0" bIns="0" rtlCol="0" anchor="ctr"/>
          <a:lstStyle/>
          <a:p>
            <a:pPr marL="0" indent="0">
              <a:buNone/>
            </a:pPr>
            <a:r>
              <a:rPr lang="en-US" sz="2400" b="1" dirty="0">
                <a:solidFill>
                  <a:srgbClr val="9CA3AF"/>
                </a:solidFill>
                <a:latin typeface="Montserrat" pitchFamily="34" charset="0"/>
                <a:ea typeface="Montserrat" pitchFamily="34" charset="-122"/>
                <a:cs typeface="Montserrat" pitchFamily="34" charset="-120"/>
              </a:rPr>
              <a:t>System</a:t>
            </a:r>
            <a:endParaRPr lang="en-US" sz="2400" dirty="0"/>
          </a:p>
        </p:txBody>
      </p:sp>
      <p:sp>
        <p:nvSpPr>
          <p:cNvPr id="17" name="Text 15"/>
          <p:cNvSpPr/>
          <p:nvPr/>
        </p:nvSpPr>
        <p:spPr>
          <a:xfrm>
            <a:off x="6766560" y="4846320"/>
            <a:ext cx="3657600" cy="914400"/>
          </a:xfrm>
          <a:prstGeom prst="rect">
            <a:avLst/>
          </a:prstGeom>
          <a:noFill/>
          <a:ln/>
        </p:spPr>
        <p:txBody>
          <a:bodyPr wrap="square" lIns="0" tIns="0" rIns="0" bIns="0" rtlCol="0" anchor="ctr"/>
          <a:lstStyle/>
          <a:p>
            <a:pPr marL="0" indent="0">
              <a:buNone/>
            </a:pPr>
            <a:r>
              <a:rPr lang="en-US" sz="2400" b="1" dirty="0">
                <a:solidFill>
                  <a:srgbClr val="34D399"/>
                </a:solidFill>
                <a:latin typeface="Inter" pitchFamily="34" charset="0"/>
                <a:ea typeface="Inter" pitchFamily="34" charset="-122"/>
                <a:cs typeface="Inter" pitchFamily="34" charset="-120"/>
              </a:rPr>
              <a:t>Stronger after</a:t>
            </a:r>
            <a:endParaRPr lang="en-US" sz="2400" dirty="0"/>
          </a:p>
          <a:p>
            <a:pPr marL="0" indent="0">
              <a:buNone/>
            </a:pPr>
            <a:r>
              <a:rPr lang="en-US" sz="2400" b="1" dirty="0">
                <a:solidFill>
                  <a:srgbClr val="34D399"/>
                </a:solidFill>
                <a:latin typeface="Inter" pitchFamily="34" charset="0"/>
                <a:ea typeface="Inter" pitchFamily="34" charset="-122"/>
                <a:cs typeface="Inter" pitchFamily="34" charset="-120"/>
              </a:rPr>
              <a:t>every incident</a:t>
            </a:r>
            <a:endParaRPr lang="en-US" sz="2400" dirty="0"/>
          </a:p>
        </p:txBody>
      </p:sp>
      <p:sp>
        <p:nvSpPr>
          <p:cNvPr id="18" name="Text 16"/>
          <p:cNvSpPr/>
          <p:nvPr/>
        </p:nvSpPr>
        <p:spPr>
          <a:xfrm>
            <a:off x="1371600" y="6126480"/>
            <a:ext cx="9418320" cy="457200"/>
          </a:xfrm>
          <a:prstGeom prst="rect">
            <a:avLst/>
          </a:prstGeom>
          <a:noFill/>
          <a:ln/>
        </p:spPr>
        <p:txBody>
          <a:bodyPr wrap="square" lIns="0" tIns="0" rIns="0" bIns="0" rtlCol="0" anchor="ctr"/>
          <a:lstStyle/>
          <a:p>
            <a:pPr marL="0" indent="0" algn="ctr">
              <a:buNone/>
            </a:pPr>
            <a:r>
              <a:rPr lang="en-US" sz="2400" i="1" dirty="0">
                <a:solidFill>
                  <a:srgbClr val="FFFFFF"/>
                </a:solidFill>
                <a:latin typeface="Inter" pitchFamily="34" charset="0"/>
                <a:ea typeface="Inter" pitchFamily="34" charset="-122"/>
                <a:cs typeface="Inter" pitchFamily="34" charset="-120"/>
              </a:rPr>
              <a:t>Your engineers wake up to solutions, not sirens.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365760"/>
            <a:ext cx="5486400" cy="82296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Get Started Today</a:t>
            </a:r>
            <a:endParaRPr lang="en-US" sz="3600" dirty="0"/>
          </a:p>
        </p:txBody>
      </p:sp>
      <p:sp>
        <p:nvSpPr>
          <p:cNvPr id="6" name="Text 4"/>
          <p:cNvSpPr/>
          <p:nvPr/>
        </p:nvSpPr>
        <p:spPr>
          <a:xfrm>
            <a:off x="731520" y="1645920"/>
            <a:ext cx="6400800" cy="4114800"/>
          </a:xfrm>
          <a:prstGeom prst="rect">
            <a:avLst/>
          </a:prstGeom>
          <a:noFill/>
          <a:ln/>
        </p:spPr>
        <p:txBody>
          <a:bodyPr wrap="square" lIns="0" tIns="0" rIns="0" bIns="0" rtlCol="0" anchor="ctr"/>
          <a:lstStyle/>
          <a:p>
            <a:pPr marL="0" indent="0">
              <a:buNone/>
            </a:pPr>
            <a:r>
              <a:rPr lang="en-US" sz="2400" dirty="0">
                <a:solidFill>
                  <a:srgbClr val="FFFFFF"/>
                </a:solidFill>
                <a:latin typeface="Inter" pitchFamily="34" charset="0"/>
                <a:ea typeface="Inter" pitchFamily="34" charset="-122"/>
                <a:cs typeface="Inter" pitchFamily="34" charset="-120"/>
              </a:rPr>
              <a:t>Available today — </a:t>
            </a:r>
            <a:r>
              <a:rPr lang="en-US" sz="2400" b="1" dirty="0">
                <a:solidFill>
                  <a:srgbClr val="34D399"/>
                </a:solidFill>
                <a:latin typeface="Inter" pitchFamily="34" charset="0"/>
                <a:ea typeface="Inter" pitchFamily="34" charset="-122"/>
                <a:cs typeface="Inter" pitchFamily="34" charset="-120"/>
              </a:rPr>
              <a:t>AWS Console</a:t>
            </a:r>
            <a:endParaRPr lang="en-US" sz="2400" dirty="0"/>
          </a:p>
          <a:p>
            <a:pPr marL="0" indent="0">
              <a:buNone/>
            </a:pP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Create an Agent Space</a:t>
            </a:r>
            <a:endParaRPr lang="en-US" sz="2400" dirty="0"/>
          </a:p>
          <a:p>
            <a:pPr marL="0" indent="0">
              <a:buNone/>
            </a:pP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Connect one application</a:t>
            </a:r>
            <a:endParaRPr lang="en-US" sz="2400" dirty="0"/>
          </a:p>
          <a:p>
            <a:pPr marL="0" indent="0">
              <a:buNone/>
            </a:pPr>
            <a:endParaRPr lang="en-US" sz="2400" dirty="0"/>
          </a:p>
          <a:p>
            <a:pPr marL="0" indent="0">
              <a:buNone/>
            </a:pPr>
            <a:r>
              <a:rPr lang="en-US" sz="2400" b="1" dirty="0">
                <a:solidFill>
                  <a:srgbClr val="34D399"/>
                </a:solidFill>
                <a:latin typeface="Inter" pitchFamily="34" charset="0"/>
                <a:ea typeface="Inter" pitchFamily="34" charset="-122"/>
                <a:cs typeface="Inter" pitchFamily="34" charset="-120"/>
              </a:rPr>
              <a:t>First investigation in minutes</a:t>
            </a:r>
            <a:endParaRPr lang="en-US" sz="2400" dirty="0"/>
          </a:p>
          <a:p>
            <a:pPr marL="0" indent="0">
              <a:buNone/>
            </a:pPr>
            <a:endParaRPr lang="en-US" sz="2400" dirty="0"/>
          </a:p>
          <a:p>
            <a:pPr marL="0" indent="0">
              <a:buNone/>
            </a:pPr>
            <a:r>
              <a:rPr lang="en-US" sz="2400" dirty="0">
                <a:solidFill>
                  <a:srgbClr val="9CA3AF"/>
                </a:solidFill>
                <a:latin typeface="Inter" pitchFamily="34" charset="0"/>
                <a:ea typeface="Inter" pitchFamily="34" charset="-122"/>
                <a:cs typeface="Inter" pitchFamily="34" charset="-120"/>
              </a:rPr>
              <a:t>Expand as confidence grows</a:t>
            </a:r>
            <a:endParaRPr lang="en-US" sz="2400" dirty="0"/>
          </a:p>
        </p:txBody>
      </p:sp>
      <p:sp>
        <p:nvSpPr>
          <p:cNvPr id="7" name="Shape 5"/>
          <p:cNvSpPr/>
          <p:nvPr/>
        </p:nvSpPr>
        <p:spPr>
          <a:xfrm>
            <a:off x="7772400" y="1645920"/>
            <a:ext cx="3474720" cy="3657600"/>
          </a:xfrm>
          <a:prstGeom prst="roundRect">
            <a:avLst>
              <a:gd name="adj" fmla="val 2632"/>
            </a:avLst>
          </a:prstGeom>
          <a:solidFill>
            <a:srgbClr val="161B22"/>
          </a:solidFill>
          <a:ln w="12700">
            <a:solidFill>
              <a:srgbClr val="2D3748"/>
            </a:solidFill>
            <a:prstDash val="solid"/>
          </a:ln>
        </p:spPr>
        <p:txBody>
          <a:bodyPr/>
          <a:lstStyle/>
          <a:p>
            <a:endParaRPr lang="en-US"/>
          </a:p>
        </p:txBody>
      </p:sp>
      <p:pic>
        <p:nvPicPr>
          <p:cNvPr id="8" name="Image 0" descr="downloads/qr_devops_agent_docs.png"/>
          <p:cNvPicPr>
            <a:picLocks noChangeAspect="1"/>
          </p:cNvPicPr>
          <p:nvPr/>
        </p:nvPicPr>
        <p:blipFill>
          <a:blip r:embed="rId3"/>
          <a:stretch>
            <a:fillRect/>
          </a:stretch>
        </p:blipFill>
        <p:spPr>
          <a:xfrm>
            <a:off x="8229600" y="2011680"/>
            <a:ext cx="2560320" cy="2560320"/>
          </a:xfrm>
          <a:prstGeom prst="rect">
            <a:avLst/>
          </a:prstGeom>
        </p:spPr>
      </p:pic>
      <p:sp>
        <p:nvSpPr>
          <p:cNvPr id="9" name="Text 6"/>
          <p:cNvSpPr/>
          <p:nvPr/>
        </p:nvSpPr>
        <p:spPr>
          <a:xfrm>
            <a:off x="7772400" y="4754880"/>
            <a:ext cx="3474720" cy="45720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Scan to get started</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050792" cy="54864"/>
          </a:xfrm>
          <a:prstGeom prst="rect">
            <a:avLst/>
          </a:prstGeom>
          <a:solidFill>
            <a:srgbClr val="34D399"/>
          </a:solidFill>
          <a:ln/>
        </p:spPr>
        <p:txBody>
          <a:bodyPr/>
          <a:lstStyle/>
          <a:p>
            <a:endParaRPr lang="en-US"/>
          </a:p>
        </p:txBody>
      </p:sp>
      <p:sp>
        <p:nvSpPr>
          <p:cNvPr id="3" name="Shape 1"/>
          <p:cNvSpPr/>
          <p:nvPr/>
        </p:nvSpPr>
        <p:spPr>
          <a:xfrm>
            <a:off x="4050792" y="0"/>
            <a:ext cx="4059936" cy="54864"/>
          </a:xfrm>
          <a:prstGeom prst="rect">
            <a:avLst/>
          </a:prstGeom>
          <a:solidFill>
            <a:srgbClr val="A78BFA"/>
          </a:solidFill>
          <a:ln/>
        </p:spPr>
        <p:txBody>
          <a:bodyPr/>
          <a:lstStyle/>
          <a:p>
            <a:endParaRPr lang="en-US"/>
          </a:p>
        </p:txBody>
      </p:sp>
      <p:sp>
        <p:nvSpPr>
          <p:cNvPr id="4" name="Shape 2"/>
          <p:cNvSpPr/>
          <p:nvPr/>
        </p:nvSpPr>
        <p:spPr>
          <a:xfrm>
            <a:off x="8110728" y="0"/>
            <a:ext cx="4050792" cy="54864"/>
          </a:xfrm>
          <a:prstGeom prst="rect">
            <a:avLst/>
          </a:prstGeom>
          <a:solidFill>
            <a:srgbClr val="F472B6"/>
          </a:solidFill>
          <a:ln/>
        </p:spPr>
        <p:txBody>
          <a:bodyPr/>
          <a:lstStyle/>
          <a:p>
            <a:endParaRPr lang="en-US"/>
          </a:p>
        </p:txBody>
      </p:sp>
      <p:sp>
        <p:nvSpPr>
          <p:cNvPr id="5" name="Text 3"/>
          <p:cNvSpPr/>
          <p:nvPr/>
        </p:nvSpPr>
        <p:spPr>
          <a:xfrm>
            <a:off x="731520" y="1828800"/>
            <a:ext cx="5943600" cy="1097280"/>
          </a:xfrm>
          <a:prstGeom prst="rect">
            <a:avLst/>
          </a:prstGeom>
          <a:noFill/>
          <a:ln/>
        </p:spPr>
        <p:txBody>
          <a:bodyPr wrap="square" lIns="0" tIns="0" rIns="0" bIns="0" rtlCol="0" anchor="ctr"/>
          <a:lstStyle/>
          <a:p>
            <a:pPr marL="0" indent="0">
              <a:buNone/>
            </a:pPr>
            <a:r>
              <a:rPr lang="en-US" sz="4800" b="1" dirty="0">
                <a:solidFill>
                  <a:srgbClr val="FFFFFF"/>
                </a:solidFill>
                <a:latin typeface="Montserrat" pitchFamily="34" charset="0"/>
                <a:ea typeface="Montserrat" pitchFamily="34" charset="-122"/>
                <a:cs typeface="Montserrat" pitchFamily="34" charset="-120"/>
              </a:rPr>
              <a:t>Thank You</a:t>
            </a:r>
            <a:endParaRPr lang="en-US" sz="4800" dirty="0"/>
          </a:p>
        </p:txBody>
      </p:sp>
      <p:sp>
        <p:nvSpPr>
          <p:cNvPr id="6" name="Text 4"/>
          <p:cNvSpPr/>
          <p:nvPr/>
        </p:nvSpPr>
        <p:spPr>
          <a:xfrm>
            <a:off x="731520" y="3200400"/>
            <a:ext cx="5943600" cy="640080"/>
          </a:xfrm>
          <a:prstGeom prst="rect">
            <a:avLst/>
          </a:prstGeom>
          <a:noFill/>
          <a:ln/>
        </p:spPr>
        <p:txBody>
          <a:bodyPr wrap="square" lIns="0" tIns="0" rIns="0" bIns="0" rtlCol="0" anchor="ctr"/>
          <a:lstStyle/>
          <a:p>
            <a:pPr marL="0" indent="0">
              <a:buNone/>
            </a:pPr>
            <a:r>
              <a:rPr lang="en-US" sz="2800" b="1" dirty="0">
                <a:solidFill>
                  <a:srgbClr val="34D399"/>
                </a:solidFill>
                <a:latin typeface="Montserrat" pitchFamily="34" charset="0"/>
                <a:ea typeface="Montserrat" pitchFamily="34" charset="-122"/>
                <a:cs typeface="Montserrat" pitchFamily="34" charset="-120"/>
              </a:rPr>
              <a:t>Jatin Mehrotra</a:t>
            </a:r>
            <a:endParaRPr lang="en-US" sz="2800" dirty="0"/>
          </a:p>
        </p:txBody>
      </p:sp>
      <p:sp>
        <p:nvSpPr>
          <p:cNvPr id="7" name="Text 5"/>
          <p:cNvSpPr/>
          <p:nvPr/>
        </p:nvSpPr>
        <p:spPr>
          <a:xfrm>
            <a:off x="731520" y="3931920"/>
            <a:ext cx="5943600" cy="548640"/>
          </a:xfrm>
          <a:prstGeom prst="rect">
            <a:avLst/>
          </a:prstGeom>
          <a:noFill/>
          <a:ln/>
        </p:spPr>
        <p:txBody>
          <a:bodyPr wrap="square" lIns="0" tIns="0" rIns="0" bIns="0" rtlCol="0" anchor="ctr"/>
          <a:lstStyle/>
          <a:p>
            <a:pPr marL="0" indent="0">
              <a:buNone/>
            </a:pPr>
            <a:r>
              <a:rPr lang="en-US" sz="2400" dirty="0">
                <a:solidFill>
                  <a:srgbClr val="9CA3AF"/>
                </a:solidFill>
                <a:latin typeface="Inter" pitchFamily="34" charset="0"/>
                <a:ea typeface="Inter" pitchFamily="34" charset="-122"/>
                <a:cs typeface="Inter" pitchFamily="34" charset="-120"/>
              </a:rPr>
              <a:t>Developer Advocate, AWS</a:t>
            </a:r>
            <a:endParaRPr lang="en-US" sz="2400" dirty="0"/>
          </a:p>
        </p:txBody>
      </p:sp>
      <p:sp>
        <p:nvSpPr>
          <p:cNvPr id="8" name="Shape 6"/>
          <p:cNvSpPr/>
          <p:nvPr/>
        </p:nvSpPr>
        <p:spPr>
          <a:xfrm>
            <a:off x="7772400" y="1828800"/>
            <a:ext cx="3474720" cy="3657600"/>
          </a:xfrm>
          <a:prstGeom prst="roundRect">
            <a:avLst>
              <a:gd name="adj" fmla="val 2632"/>
            </a:avLst>
          </a:prstGeom>
          <a:solidFill>
            <a:srgbClr val="161B22"/>
          </a:solidFill>
          <a:ln w="12700">
            <a:solidFill>
              <a:srgbClr val="2D3748"/>
            </a:solidFill>
            <a:prstDash val="solid"/>
          </a:ln>
        </p:spPr>
        <p:txBody>
          <a:bodyPr/>
          <a:lstStyle/>
          <a:p>
            <a:endParaRPr lang="en-US"/>
          </a:p>
        </p:txBody>
      </p:sp>
      <p:pic>
        <p:nvPicPr>
          <p:cNvPr id="9" name="Image 0" descr="downloads/qr_linkedin_jatin.png"/>
          <p:cNvPicPr>
            <a:picLocks noChangeAspect="1"/>
          </p:cNvPicPr>
          <p:nvPr/>
        </p:nvPicPr>
        <p:blipFill>
          <a:blip r:embed="rId3"/>
          <a:stretch>
            <a:fillRect/>
          </a:stretch>
        </p:blipFill>
        <p:spPr>
          <a:xfrm>
            <a:off x="8229600" y="2103120"/>
            <a:ext cx="2560320" cy="2560320"/>
          </a:xfrm>
          <a:prstGeom prst="rect">
            <a:avLst/>
          </a:prstGeom>
        </p:spPr>
      </p:pic>
      <p:sp>
        <p:nvSpPr>
          <p:cNvPr id="10" name="Text 7"/>
          <p:cNvSpPr/>
          <p:nvPr/>
        </p:nvSpPr>
        <p:spPr>
          <a:xfrm>
            <a:off x="7772400" y="4846320"/>
            <a:ext cx="3474720" cy="457200"/>
          </a:xfrm>
          <a:prstGeom prst="rect">
            <a:avLst/>
          </a:prstGeom>
          <a:noFill/>
          <a:ln/>
        </p:spPr>
        <p:txBody>
          <a:bodyPr wrap="square" lIns="0" tIns="0" rIns="0" bIns="0" rtlCol="0" anchor="ctr"/>
          <a:lstStyle/>
          <a:p>
            <a:pPr marL="0" indent="0" algn="ctr">
              <a:buNone/>
            </a:pPr>
            <a:r>
              <a:rPr lang="en-US" sz="2400" dirty="0">
                <a:solidFill>
                  <a:srgbClr val="9CA3AF"/>
                </a:solidFill>
                <a:latin typeface="Inter" pitchFamily="34" charset="0"/>
                <a:ea typeface="Inter" pitchFamily="34" charset="-122"/>
                <a:cs typeface="Inter" pitchFamily="34" charset="-120"/>
              </a:rPr>
              <a:t>Connect on LinkedIn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3632</Words>
  <Application>Microsoft Macintosh PowerPoint</Application>
  <PresentationFormat>Widescreen</PresentationFormat>
  <Paragraphs>201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Inter</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AM Alerts, Zero Panic</dc:title>
  <dc:subject>PptxGenJS Presentation</dc:subject>
  <dc:creator>Jatin Mehrotra</dc:creator>
  <cp:lastModifiedBy>Mehrotra, Jatin</cp:lastModifiedBy>
  <cp:revision>3</cp:revision>
  <dcterms:created xsi:type="dcterms:W3CDTF">2026-06-12T03:53:14Z</dcterms:created>
  <dcterms:modified xsi:type="dcterms:W3CDTF">2026-06-12T07:04:45Z</dcterms:modified>
</cp:coreProperties>
</file>