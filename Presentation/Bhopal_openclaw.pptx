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Community Day. I am Jatin, Developer Advocate at AWS. Today we cover how to take OpenClaw agents from prototype to production on AWS. Three live demos, practical takeaways, and a look at what is next with multi-agent.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plus years building on AWS. Started in DevOps and Platform Engineering for Japanese companies, so I know the pain of running infra at 3am. Now I focus on helping developers adopt GenAI. When I am not at a keyboard I am lifting weights, hiking mountains, or sitting in a sauna.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roadmap. We start with agent fundamentals, move to AWS services, then three demos that get progressively more production-ready. We end with multi-agent which is the next frontier. Feel free to interrupt with questions at any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your last ChatGPT session. You asked, it answered. Now imagine if it could actually open your email, compose a reply, and send it. That shift from generating text to executing real actions is what defines an agent. Four components make this work: the LLM reasons, tools let it act, memory keeps context, and orchestration manages multi-step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loop is what makes agents autonomous. They perceive input, reason about what to do, plan the steps, execute an action, then observe the result. If the task is not done, they loop again. No human clicking next at each step. This is fundamentally different from prompt-response.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show of hands: who uses Copilot or Claude daily? Most of you are at Level 3 or 4 already. The difference is Level 4 agents run autonomously without you supervising each step. Level 5 is multiple agents working together. Today we make Level 4 and 5 production-ready on 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landscape of AWS services for agents. Bedrock gives you models with IAM auth so no API keys to leak. AgentCore is the serverless runtime we will go deep on. Lightsail is the one-click option for getting started. EC2 and EKS give full control when you need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AgentCore is the production star of this talk. Five components: Runtime uses Firecracker microVMs which is the same technology that powers Lambda. Memory gives sub-200ms retrieval. Browser enables headless web automation. Tools handle code execution. Identity integrates SSO and Cedar policies. And you only pay when your agent is actually computing, not when it is waiting.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OpenClaw launched November 2025 and hit 230K GitHub stars by February 2026. Nothing in open source history has grown this fast. Over 10,000 community-built skills, 15 plus messaging channels. What makes it special: it actually does things. Files, terminal commands, browser control, calendar management. People are running entire businesses with one laptop and OpenClaw.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to put OpenClaw on AWS instead of your Mac Mini. First, no API keys anywhere because Bedrock uses IAM. Second, no open ports because SSM handles access. Third, it scales. Start with one instance for yourself, scale to thousands for your company. Same agent code, different infrastructure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your decision cheat sheet. Take a photo. Key insight: Lightsail is simplest to start at 17 dollars a month. EC2 gives more control at 30 dollars. AgentCore is actually the cheapest at scale AND gives you built-in security at 12 to 15 dollars per user. EKS is for teams already on 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Simplest possible architecture. Four components in a line: your browser connects to Lightsail, Lightsail has OpenClaw pre-installed, it uses an IAM role to call Bedrock for model inference. The blueprint handles all installation. Total cost around 17 dollars a month plus whatever tokens you use. One click to 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Switching to live demo. I will deploy OpenClaw on Lightsail from scratch. Open the console, select the blueprint, SSH in to pair my browser, run one script for Bedrock access, then send a message. Watch the timer. Under five minutes from nothing to a working AI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Lightsail created: a VM with OpenClaw pre-installed and running. Device pairing means only my browser can access it. The CloudShell script created an IAM role granting Bedrock access. All messaging plugins are ready to configure. Limitation: this is one instance for one person. If your team needs access, you need multiple instances at multiple times the cost. Cannot share securely.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EC2 deployment uses CloudFormation. One YAML template creates everything: a VPC with proper networking, a Graviton instance that is 20 to 40 percent cheaper than x86, SSM configuration so no SSH key is ever needed, and CloudTrail for automatic auditing. Eight minutes from command to running agent. More AWS integration than Lightsail.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Switching to demo. I will run one CloudFormation command. While it creates resources I will briefly show the YAML template. Then I will use SSM to access the dashboard without any passwords or SSH keys. Notice: no ports opened, no credentials typed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CloudFormation built: VPC, subnet, Graviton EC2, IAM role, SSM config. Your security team will love this because there is nothing exposed to the internet. But two limitations remain: it is still a single-user architecture and it runs 24/7 whether the agent is active or idle. You are paying for compute even when the agent is just waiting for an LLM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it breaks at scale. Isolation: on a shared instance, Customer A files are visible to Customer B. Security: agents inherit full permissions and there are thousands of unvetted plugins. Observability: no way to trace which agent called which tool. Cost: EC2 runs around the clock but agents spend 90 percent of their time waiting. These four problems define what production-ready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paths to choose from. Path A and B are what we just demoed, great for learning and PoC. Path C is self-managed on ECS or EKS which gives maximum control but requires 3 to 5 engineers working 2 to 4 months just on isolation and security. Path D is AgentCore which gives you all of that out of the box in hours. That is where we are going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technical slide. Containers share a Linux kernel. CVE-2024-21626 was a real container escape that made headlines. Firecracker microVMs give actual hardware-level isolation using KVM. Each user session gets dedicated CPU, memory, and filesystem. When the session ends everything is destroyed. Zero residual state. This is the same technology running billions of Lambda invocations.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layered. Cedar is a policy engine that looks like JSON. You write rules like: marketing group cannot call finance APIs. STS scopes credentials per user session so even if an agent runs shell commands, it can only see its own data. Bedrock Guardrails filter content on every single API call. Three independent layers. An attacker would need to bypass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number sit for a moment. 83 percent cost savings. The reason: agents spend most of their time waiting for LLM responses. EC2 charges you for that wait time. AgentCore only charges when the agent is computing. For a team of 100 users, that is 3000 dollars a month on EC2 versus 900 on AgentCore. For a 50-person startup that is 1500 saved monthly. Or one extra engineer hire.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architecture. CDK creates seven coordinated components in one deploy: API Gateway receives webhooks, Router Lambda resolves user identity, DynamoDB stores user mapping, AgentCore provides isolated microVMs, Bedrock handles inference, S3 persists workspaces, EventBridge enables scheduled tasks. This is what production-ready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demo. I will deploy via CDK and show three things: first, that two users on the same system cannot access each other files. Second, that if I kill a session and restart, the conversation history persists from S3. Third, that Bedrock Guardrails actually block unsafe requests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CDK deployed: over 15 AWS resources working together. Each user in their own hardware-isolated microVM. STS credentials scoped per session. Workspace syncing to S3 every five minutes. Guardrails active on every API call. Ask yourself: could your team build this in a week? The answer is no. That is why managed services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AgentCore gives you four things at once. Hardware isolation with Firecracker. Security with Cedar plus STS plus Guardrails. Observability with end-to-end tracing. And cost efficiency with pay-per-use. All managed. No custom infrastructure engineering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your agent makes a wrong decision today, how do you debug it? Most people restart and hope for the best. That is not production. AgentCore gives you end-to-end tracing. You see exactly which agent invoked which tool, what data was passed, what the result was. You can catch quality regressions over time with built-in evaluations.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Single agents hit a ceiling when context fills up. The orchestrator plus sub-agent pattern solves this. One orchestrator holds the big picture and delegates. Sub-agents are focused and disposable. Each gets its own workspace and permissions. OpenClaw supports this natively with sessions_spawn. Think of it like a manager who delegates to specialists.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future tech. Three ways to do it today. OpenClaw has sessions_spawn for native multi-agent. AWS has a full guidance repository showing Supervisor plus sub-agents on AgentCore. And Strands Agents SDK lets you build multi-agent systems with Python decorators in minimal code. The customer support example has four agents coordinating: personalization, orders, recommendations, and troubleshooting.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repositories you need. I will give you 15 seconds to scan the QR codes. The EC2 repo has the CloudFormation template. The AgentCore repo has the full CDK stack. These are your starting points after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everyone. Let me open the floor for questions. Common ones I get: pricing is about 5 cents per CPU-hour. Cold start is around 5 seconds with warm pools. Yes it is model-agnostic, you can use Claude, Nova, GPT-4, or open-source models. Migration from local OpenClaw to AgentCore is handled by the CDK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Shape 2"/>
          <p:cNvSpPr/>
          <p:nvPr/>
        </p:nvSpPr>
        <p:spPr>
          <a:xfrm>
            <a:off x="0" y="5943600"/>
            <a:ext cx="12161520" cy="914400"/>
          </a:xfrm>
          <a:prstGeom prst="rect">
            <a:avLst/>
          </a:prstGeom>
          <a:solidFill>
            <a:srgbClr val="FF9900"/>
          </a:solidFill>
          <a:ln/>
        </p:spPr>
      </p:sp>
      <p:sp>
        <p:nvSpPr>
          <p:cNvPr id="5" name="Text 3"/>
          <p:cNvSpPr/>
          <p:nvPr/>
        </p:nvSpPr>
        <p:spPr>
          <a:xfrm>
            <a:off x="731520" y="731520"/>
            <a:ext cx="8229600" cy="3657600"/>
          </a:xfrm>
          <a:prstGeom prst="rect">
            <a:avLst/>
          </a:prstGeom>
          <a:noFill/>
          <a:ln/>
        </p:spPr>
        <p:txBody>
          <a:bodyPr wrap="square" rtlCol="0" anchor="ctr"/>
          <a:lstStyle/>
          <a:p>
            <a:pPr indent="0" marL="0">
              <a:lnSpc>
                <a:spcPts val="5600"/>
              </a:lnSpc>
              <a:buNone/>
            </a:pPr>
            <a:r>
              <a:rPr lang="en-US" sz="4000" b="1" dirty="0">
                <a:solidFill>
                  <a:srgbClr val="FFFFFF"/>
                </a:solidFill>
                <a:latin typeface="Montserrat" pitchFamily="34" charset="0"/>
                <a:ea typeface="Montserrat" pitchFamily="34" charset="-122"/>
                <a:cs typeface="Montserrat" pitchFamily="34" charset="-120"/>
              </a:rPr>
              <a:t>Designing &amp; Building</a:t>
            </a:r>
            <a:endParaRPr lang="en-US" sz="4000" dirty="0"/>
          </a:p>
          <a:p>
            <a:pPr indent="0" marL="0">
              <a:lnSpc>
                <a:spcPts val="5600"/>
              </a:lnSpc>
              <a:buNone/>
            </a:pPr>
            <a:r>
              <a:rPr lang="en-US" sz="4000" b="1" dirty="0">
                <a:solidFill>
                  <a:srgbClr val="FFFFFF"/>
                </a:solidFill>
                <a:latin typeface="Montserrat" pitchFamily="34" charset="0"/>
                <a:ea typeface="Montserrat" pitchFamily="34" charset="-122"/>
                <a:cs typeface="Montserrat" pitchFamily="34" charset="-120"/>
              </a:rPr>
              <a:t>Production-Ready Agents</a:t>
            </a:r>
            <a:endParaRPr lang="en-US" sz="4000" dirty="0"/>
          </a:p>
          <a:p>
            <a:pPr indent="0" marL="0">
              <a:lnSpc>
                <a:spcPts val="5600"/>
              </a:lnSpc>
              <a:buNone/>
            </a:pPr>
            <a:r>
              <a:rPr lang="en-US" sz="4000" b="1" dirty="0">
                <a:solidFill>
                  <a:srgbClr val="FFFFFF"/>
                </a:solidFill>
                <a:latin typeface="Montserrat" pitchFamily="34" charset="0"/>
                <a:ea typeface="Montserrat" pitchFamily="34" charset="-122"/>
                <a:cs typeface="Montserrat" pitchFamily="34" charset="-120"/>
              </a:rPr>
              <a:t>with OpenClaw on AWS</a:t>
            </a:r>
            <a:endParaRPr lang="en-US" sz="4000" dirty="0"/>
          </a:p>
        </p:txBody>
      </p:sp>
      <p:sp>
        <p:nvSpPr>
          <p:cNvPr id="6" name="Text 4"/>
          <p:cNvSpPr/>
          <p:nvPr/>
        </p:nvSpPr>
        <p:spPr>
          <a:xfrm>
            <a:off x="731520" y="6035040"/>
            <a:ext cx="6400800" cy="640080"/>
          </a:xfrm>
          <a:prstGeom prst="rect">
            <a:avLst/>
          </a:prstGeom>
          <a:noFill/>
          <a:ln/>
        </p:spPr>
        <p:txBody>
          <a:bodyPr wrap="square" rtlCol="0" anchor="ctr"/>
          <a:lstStyle/>
          <a:p>
            <a:pPr indent="0" marL="0">
              <a:buNone/>
            </a:pPr>
            <a:r>
              <a:rPr lang="en-US" sz="2000" b="1" dirty="0">
                <a:solidFill>
                  <a:srgbClr val="0A0E27"/>
                </a:solidFill>
                <a:latin typeface="Inter" pitchFamily="34" charset="0"/>
                <a:ea typeface="Inter" pitchFamily="34" charset="-122"/>
                <a:cs typeface="Inter" pitchFamily="34" charset="-120"/>
              </a:rPr>
              <a:t>Jatin Mehrotra  ·  Developer Advocate, AWS</a:t>
            </a:r>
            <a:endParaRPr lang="en-US" sz="2000" dirty="0"/>
          </a:p>
        </p:txBody>
      </p:sp>
      <p:sp>
        <p:nvSpPr>
          <p:cNvPr id="7" name="Text 5"/>
          <p:cNvSpPr/>
          <p:nvPr/>
        </p:nvSpPr>
        <p:spPr>
          <a:xfrm>
            <a:off x="8229600" y="6035040"/>
            <a:ext cx="3474720" cy="640080"/>
          </a:xfrm>
          <a:prstGeom prst="rect">
            <a:avLst/>
          </a:prstGeom>
          <a:noFill/>
          <a:ln/>
        </p:spPr>
        <p:txBody>
          <a:bodyPr wrap="square" rtlCol="0" anchor="ctr"/>
          <a:lstStyle/>
          <a:p>
            <a:pPr algn="r" indent="0" marL="0">
              <a:buNone/>
            </a:pPr>
            <a:r>
              <a:rPr lang="en-US" sz="1800" dirty="0">
                <a:solidFill>
                  <a:srgbClr val="0A0E27"/>
                </a:solidFill>
                <a:latin typeface="Inter" pitchFamily="34" charset="0"/>
                <a:ea typeface="Inter" pitchFamily="34" charset="-122"/>
                <a:cs typeface="Inter" pitchFamily="34" charset="-120"/>
              </a:rPr>
              <a:t>Community Day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pic>
        <p:nvPicPr>
          <p:cNvPr id="4" name="Image 0" descr="/Users/jatimeh/.quickwork/profiles/federate-prod/sessions/c39c4166-83a9-487d-8762-1c00c7669296/workspace/artifacts/jatin_photo.jpeg">    </p:cNvPr>
          <p:cNvPicPr>
            <a:picLocks noChangeAspect="1"/>
          </p:cNvPicPr>
          <p:nvPr/>
        </p:nvPicPr>
        <p:blipFill>
          <a:blip r:embed="rId1"/>
          <a:stretch>
            <a:fillRect/>
          </a:stretch>
        </p:blipFill>
        <p:spPr>
          <a:xfrm>
            <a:off x="731520" y="1371600"/>
            <a:ext cx="4114800" cy="5029200"/>
          </a:xfrm>
          <a:prstGeom prst="ellipse">
            <a:avLst/>
          </a:prstGeom>
        </p:spPr>
      </p:pic>
      <p:sp>
        <p:nvSpPr>
          <p:cNvPr id="5" name="Text 2"/>
          <p:cNvSpPr/>
          <p:nvPr/>
        </p:nvSpPr>
        <p:spPr>
          <a:xfrm>
            <a:off x="5486400" y="1371600"/>
            <a:ext cx="5943600" cy="914400"/>
          </a:xfrm>
          <a:prstGeom prst="rect">
            <a:avLst/>
          </a:prstGeom>
          <a:noFill/>
          <a:ln/>
        </p:spPr>
        <p:txBody>
          <a:bodyPr wrap="square" rtlCol="0" anchor="ctr"/>
          <a:lstStyle/>
          <a:p>
            <a:pPr indent="0" marL="0">
              <a:buNone/>
            </a:pPr>
            <a:r>
              <a:rPr lang="en-US" sz="3600" b="1" dirty="0">
                <a:solidFill>
                  <a:srgbClr val="FFFFFF"/>
                </a:solidFill>
                <a:latin typeface="Montserrat" pitchFamily="34" charset="0"/>
                <a:ea typeface="Montserrat" pitchFamily="34" charset="-122"/>
                <a:cs typeface="Montserrat" pitchFamily="34" charset="-120"/>
              </a:rPr>
              <a:t>Jatin Mehrotra</a:t>
            </a:r>
            <a:endParaRPr lang="en-US" sz="3600" dirty="0"/>
          </a:p>
        </p:txBody>
      </p:sp>
      <p:sp>
        <p:nvSpPr>
          <p:cNvPr id="6" name="Text 3"/>
          <p:cNvSpPr/>
          <p:nvPr/>
        </p:nvSpPr>
        <p:spPr>
          <a:xfrm>
            <a:off x="5486400" y="2286000"/>
            <a:ext cx="5943600" cy="548640"/>
          </a:xfrm>
          <a:prstGeom prst="rect">
            <a:avLst/>
          </a:prstGeom>
          <a:noFill/>
          <a:ln/>
        </p:spPr>
        <p:txBody>
          <a:bodyPr wrap="square" rtlCol="0" anchor="ctr"/>
          <a:lstStyle/>
          <a:p>
            <a:pPr indent="0" marL="0">
              <a:buNone/>
            </a:pPr>
            <a:r>
              <a:rPr lang="en-US" sz="2200" dirty="0">
                <a:solidFill>
                  <a:srgbClr val="FF9900"/>
                </a:solidFill>
                <a:latin typeface="Inter" pitchFamily="34" charset="0"/>
                <a:ea typeface="Inter" pitchFamily="34" charset="-122"/>
                <a:cs typeface="Inter" pitchFamily="34" charset="-120"/>
              </a:rPr>
              <a:t>Developer Advocate, AWS</a:t>
            </a:r>
            <a:endParaRPr lang="en-US" sz="2200" dirty="0"/>
          </a:p>
        </p:txBody>
      </p:sp>
      <p:sp>
        <p:nvSpPr>
          <p:cNvPr id="7" name="Text 4"/>
          <p:cNvSpPr/>
          <p:nvPr/>
        </p:nvSpPr>
        <p:spPr>
          <a:xfrm>
            <a:off x="5486400" y="3200400"/>
            <a:ext cx="5943600" cy="548640"/>
          </a:xfrm>
          <a:prstGeom prst="rect">
            <a:avLst/>
          </a:prstGeom>
          <a:noFill/>
          <a:ln/>
        </p:spPr>
        <p:txBody>
          <a:bodyPr wrap="square" rtlCol="0" anchor="ctr"/>
          <a:lstStyle/>
          <a:p>
            <a:pPr indent="0" marL="0">
              <a:buNone/>
            </a:pPr>
            <a:r>
              <a:rPr lang="en-US" sz="2200" dirty="0">
                <a:solidFill>
                  <a:srgbClr val="FFFFFF"/>
                </a:solidFill>
                <a:latin typeface="Inter" pitchFamily="34" charset="0"/>
                <a:ea typeface="Inter" pitchFamily="34" charset="-122"/>
                <a:cs typeface="Inter" pitchFamily="34" charset="-120"/>
              </a:rPr>
              <a:t>5+ years building on AWS</a:t>
            </a:r>
            <a:endParaRPr lang="en-US" sz="2200" dirty="0"/>
          </a:p>
        </p:txBody>
      </p:sp>
      <p:sp>
        <p:nvSpPr>
          <p:cNvPr id="8" name="Text 5"/>
          <p:cNvSpPr/>
          <p:nvPr/>
        </p:nvSpPr>
        <p:spPr>
          <a:xfrm>
            <a:off x="5486400" y="3749040"/>
            <a:ext cx="5943600" cy="914400"/>
          </a:xfrm>
          <a:prstGeom prst="rect">
            <a:avLst/>
          </a:prstGeom>
          <a:noFill/>
          <a:ln/>
        </p:spPr>
        <p:txBody>
          <a:bodyPr wrap="square" rtlCol="0" anchor="ctr"/>
          <a:lstStyle/>
          <a:p>
            <a:pPr indent="0" marL="0">
              <a:lnSpc>
                <a:spcPts val="3200"/>
              </a:lnSpc>
              <a:buNone/>
            </a:pPr>
            <a:r>
              <a:rPr lang="en-US" sz="2200" dirty="0">
                <a:solidFill>
                  <a:srgbClr val="FFFFFF"/>
                </a:solidFill>
                <a:latin typeface="Inter" pitchFamily="34" charset="0"/>
                <a:ea typeface="Inter" pitchFamily="34" charset="-122"/>
                <a:cs typeface="Inter" pitchFamily="34" charset="-120"/>
              </a:rPr>
              <a:t>Previously: DevOps &amp; Platform</a:t>
            </a:r>
            <a:endParaRPr lang="en-US" sz="2200" dirty="0"/>
          </a:p>
          <a:p>
            <a:pPr indent="0" marL="0">
              <a:lnSpc>
                <a:spcPts val="3200"/>
              </a:lnSpc>
              <a:buNone/>
            </a:pPr>
            <a:r>
              <a:rPr lang="en-US" sz="2200" dirty="0">
                <a:solidFill>
                  <a:srgbClr val="FFFFFF"/>
                </a:solidFill>
                <a:latin typeface="Inter" pitchFamily="34" charset="0"/>
                <a:ea typeface="Inter" pitchFamily="34" charset="-122"/>
                <a:cs typeface="Inter" pitchFamily="34" charset="-120"/>
              </a:rPr>
              <a:t>Engineer for Japanese companies</a:t>
            </a:r>
            <a:endParaRPr lang="en-US" sz="2200" dirty="0"/>
          </a:p>
        </p:txBody>
      </p:sp>
      <p:sp>
        <p:nvSpPr>
          <p:cNvPr id="9" name="Text 6"/>
          <p:cNvSpPr/>
          <p:nvPr/>
        </p:nvSpPr>
        <p:spPr>
          <a:xfrm>
            <a:off x="5486400" y="4663440"/>
            <a:ext cx="5943600" cy="914400"/>
          </a:xfrm>
          <a:prstGeom prst="rect">
            <a:avLst/>
          </a:prstGeom>
          <a:noFill/>
          <a:ln/>
        </p:spPr>
        <p:txBody>
          <a:bodyPr wrap="square" rtlCol="0" anchor="ctr"/>
          <a:lstStyle/>
          <a:p>
            <a:pPr indent="0" marL="0">
              <a:lnSpc>
                <a:spcPts val="3200"/>
              </a:lnSpc>
              <a:buNone/>
            </a:pPr>
            <a:r>
              <a:rPr lang="en-US" sz="2200" dirty="0">
                <a:solidFill>
                  <a:srgbClr val="FFFFFF"/>
                </a:solidFill>
                <a:latin typeface="Inter" pitchFamily="34" charset="0"/>
                <a:ea typeface="Inter" pitchFamily="34" charset="-122"/>
                <a:cs typeface="Inter" pitchFamily="34" charset="-120"/>
              </a:rPr>
              <a:t>Building infra for developers,</a:t>
            </a:r>
            <a:endParaRPr lang="en-US" sz="2200" dirty="0"/>
          </a:p>
          <a:p>
            <a:pPr indent="0" marL="0">
              <a:lnSpc>
                <a:spcPts val="3200"/>
              </a:lnSpc>
              <a:buNone/>
            </a:pPr>
            <a:r>
              <a:rPr lang="en-US" sz="2200" dirty="0">
                <a:solidFill>
                  <a:srgbClr val="FFFFFF"/>
                </a:solidFill>
                <a:latin typeface="Inter" pitchFamily="34" charset="0"/>
                <a:ea typeface="Inter" pitchFamily="34" charset="-122"/>
                <a:cs typeface="Inter" pitchFamily="34" charset="-120"/>
              </a:rPr>
              <a:t>SaaS teams, now focused on GenAI</a:t>
            </a:r>
            <a:endParaRPr lang="en-US" sz="2200" dirty="0"/>
          </a:p>
        </p:txBody>
      </p:sp>
      <p:sp>
        <p:nvSpPr>
          <p:cNvPr id="10" name="Text 7"/>
          <p:cNvSpPr/>
          <p:nvPr/>
        </p:nvSpPr>
        <p:spPr>
          <a:xfrm>
            <a:off x="5486400" y="5669280"/>
            <a:ext cx="5943600" cy="548640"/>
          </a:xfrm>
          <a:prstGeom prst="rect">
            <a:avLst/>
          </a:prstGeom>
          <a:noFill/>
          <a:ln/>
        </p:spPr>
        <p:txBody>
          <a:bodyPr wrap="square" rtlCol="0" anchor="ctr"/>
          <a:lstStyle/>
          <a:p>
            <a:pPr indent="0" marL="0">
              <a:buNone/>
            </a:pPr>
            <a:r>
              <a:rPr lang="en-US" sz="2000" dirty="0">
                <a:solidFill>
                  <a:srgbClr val="90CAF9"/>
                </a:solidFill>
                <a:latin typeface="Inter" pitchFamily="34" charset="0"/>
                <a:ea typeface="Inter" pitchFamily="34" charset="-122"/>
                <a:cs typeface="Inter" pitchFamily="34" charset="-120"/>
              </a:rPr>
              <a:t>Outside work: I lift, hike &amp; enjoy saunas 🏋️‍♂️🏔️♨️</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Text 2"/>
          <p:cNvSpPr/>
          <p:nvPr/>
        </p:nvSpPr>
        <p:spPr>
          <a:xfrm>
            <a:off x="731520" y="274320"/>
            <a:ext cx="7315200" cy="914400"/>
          </a:xfrm>
          <a:prstGeom prst="rect">
            <a:avLst/>
          </a:prstGeom>
          <a:noFill/>
          <a:ln/>
        </p:spPr>
        <p:txBody>
          <a:bodyPr wrap="square" rtlCol="0" anchor="ctr"/>
          <a:lstStyle/>
          <a:p>
            <a:pPr indent="0" marL="0">
              <a:buNone/>
            </a:pPr>
            <a:r>
              <a:rPr lang="en-US" sz="4400" b="1" dirty="0">
                <a:solidFill>
                  <a:srgbClr val="FFFFFF"/>
                </a:solidFill>
                <a:latin typeface="Montserrat" pitchFamily="34" charset="0"/>
                <a:ea typeface="Montserrat" pitchFamily="34" charset="-122"/>
                <a:cs typeface="Montserrat" pitchFamily="34" charset="-120"/>
              </a:rPr>
              <a:t>Agenda</a:t>
            </a:r>
            <a:endParaRPr lang="en-US" sz="4400" dirty="0"/>
          </a:p>
        </p:txBody>
      </p:sp>
      <p:sp>
        <p:nvSpPr>
          <p:cNvPr id="5" name="Shape 3"/>
          <p:cNvSpPr/>
          <p:nvPr/>
        </p:nvSpPr>
        <p:spPr>
          <a:xfrm>
            <a:off x="731520" y="1371600"/>
            <a:ext cx="10515600" cy="621792"/>
          </a:xfrm>
          <a:prstGeom prst="roundRect">
            <a:avLst>
              <a:gd name="adj" fmla="val 14706"/>
            </a:avLst>
          </a:prstGeom>
          <a:solidFill>
            <a:srgbClr val="1A1F4E">
              <a:alpha val="70000"/>
            </a:srgbClr>
          </a:solidFill>
          <a:ln w="19050">
            <a:solidFill>
              <a:srgbClr val="4FC3F7"/>
            </a:solidFill>
            <a:prstDash val="solid"/>
          </a:ln>
        </p:spPr>
      </p:sp>
      <p:sp>
        <p:nvSpPr>
          <p:cNvPr id="6" name="Shape 4"/>
          <p:cNvSpPr/>
          <p:nvPr/>
        </p:nvSpPr>
        <p:spPr>
          <a:xfrm>
            <a:off x="914400" y="1444752"/>
            <a:ext cx="457200" cy="457200"/>
          </a:xfrm>
          <a:prstGeom prst="ellipse">
            <a:avLst/>
          </a:prstGeom>
          <a:solidFill>
            <a:srgbClr val="FF9900"/>
          </a:solidFill>
          <a:ln/>
        </p:spPr>
      </p:sp>
      <p:sp>
        <p:nvSpPr>
          <p:cNvPr id="7" name="Text 5"/>
          <p:cNvSpPr/>
          <p:nvPr/>
        </p:nvSpPr>
        <p:spPr>
          <a:xfrm>
            <a:off x="914400" y="1444752"/>
            <a:ext cx="457200" cy="457200"/>
          </a:xfrm>
          <a:prstGeom prst="rect">
            <a:avLst/>
          </a:prstGeom>
          <a:noFill/>
          <a:ln/>
        </p:spPr>
        <p:txBody>
          <a:bodyPr wrap="square" rtlCol="0" anchor="ctr"/>
          <a:lstStyle/>
          <a:p>
            <a:pPr algn="ctr" indent="0" marL="0">
              <a:buNone/>
            </a:pPr>
            <a:r>
              <a:rPr lang="en-US" sz="1800" b="1" dirty="0">
                <a:solidFill>
                  <a:srgbClr val="0A0E27"/>
                </a:solidFill>
                <a:latin typeface="Inter" pitchFamily="34" charset="0"/>
                <a:ea typeface="Inter" pitchFamily="34" charset="-122"/>
                <a:cs typeface="Inter" pitchFamily="34" charset="-120"/>
              </a:rPr>
              <a:t>1</a:t>
            </a:r>
            <a:endParaRPr lang="en-US" sz="1800" dirty="0"/>
          </a:p>
        </p:txBody>
      </p:sp>
      <p:sp>
        <p:nvSpPr>
          <p:cNvPr id="8" name="Text 6"/>
          <p:cNvSpPr/>
          <p:nvPr/>
        </p:nvSpPr>
        <p:spPr>
          <a:xfrm>
            <a:off x="1645920" y="1371600"/>
            <a:ext cx="9144000" cy="621792"/>
          </a:xfrm>
          <a:prstGeom prst="rect">
            <a:avLst/>
          </a:prstGeom>
          <a:noFill/>
          <a:ln/>
        </p:spPr>
        <p:txBody>
          <a:bodyPr wrap="square" rtlCol="0" anchor="ctr"/>
          <a:lstStyle/>
          <a:p>
            <a:pPr indent="0" marL="0">
              <a:buNone/>
            </a:pPr>
            <a:r>
              <a:rPr lang="en-US" sz="2200" dirty="0">
                <a:solidFill>
                  <a:srgbClr val="FFFFFF"/>
                </a:solidFill>
                <a:latin typeface="Inter" pitchFamily="34" charset="0"/>
                <a:ea typeface="Inter" pitchFamily="34" charset="-122"/>
                <a:cs typeface="Inter" pitchFamily="34" charset="-120"/>
              </a:rPr>
              <a:t>What is an Agent &amp; Agentic Systems</a:t>
            </a:r>
            <a:endParaRPr lang="en-US" sz="2200" dirty="0"/>
          </a:p>
        </p:txBody>
      </p:sp>
      <p:sp>
        <p:nvSpPr>
          <p:cNvPr id="9" name="Shape 7"/>
          <p:cNvSpPr/>
          <p:nvPr/>
        </p:nvSpPr>
        <p:spPr>
          <a:xfrm>
            <a:off x="731520" y="2121408"/>
            <a:ext cx="10515600" cy="621792"/>
          </a:xfrm>
          <a:prstGeom prst="roundRect">
            <a:avLst>
              <a:gd name="adj" fmla="val 14706"/>
            </a:avLst>
          </a:prstGeom>
          <a:solidFill>
            <a:srgbClr val="1A1F4E">
              <a:alpha val="70000"/>
            </a:srgbClr>
          </a:solidFill>
          <a:ln w="19050">
            <a:solidFill>
              <a:srgbClr val="4FC3F7"/>
            </a:solidFill>
            <a:prstDash val="solid"/>
          </a:ln>
        </p:spPr>
      </p:sp>
      <p:sp>
        <p:nvSpPr>
          <p:cNvPr id="10" name="Shape 8"/>
          <p:cNvSpPr/>
          <p:nvPr/>
        </p:nvSpPr>
        <p:spPr>
          <a:xfrm>
            <a:off x="914400" y="2194560"/>
            <a:ext cx="457200" cy="457200"/>
          </a:xfrm>
          <a:prstGeom prst="ellipse">
            <a:avLst/>
          </a:prstGeom>
          <a:solidFill>
            <a:srgbClr val="FF9900"/>
          </a:solidFill>
          <a:ln/>
        </p:spPr>
      </p:sp>
      <p:sp>
        <p:nvSpPr>
          <p:cNvPr id="11" name="Text 9"/>
          <p:cNvSpPr/>
          <p:nvPr/>
        </p:nvSpPr>
        <p:spPr>
          <a:xfrm>
            <a:off x="914400" y="2194560"/>
            <a:ext cx="457200" cy="457200"/>
          </a:xfrm>
          <a:prstGeom prst="rect">
            <a:avLst/>
          </a:prstGeom>
          <a:noFill/>
          <a:ln/>
        </p:spPr>
        <p:txBody>
          <a:bodyPr wrap="square" rtlCol="0" anchor="ctr"/>
          <a:lstStyle/>
          <a:p>
            <a:pPr algn="ctr" indent="0" marL="0">
              <a:buNone/>
            </a:pPr>
            <a:r>
              <a:rPr lang="en-US" sz="1800" b="1" dirty="0">
                <a:solidFill>
                  <a:srgbClr val="0A0E27"/>
                </a:solidFill>
                <a:latin typeface="Inter" pitchFamily="34" charset="0"/>
                <a:ea typeface="Inter" pitchFamily="34" charset="-122"/>
                <a:cs typeface="Inter" pitchFamily="34" charset="-120"/>
              </a:rPr>
              <a:t>2</a:t>
            </a:r>
            <a:endParaRPr lang="en-US" sz="1800" dirty="0"/>
          </a:p>
        </p:txBody>
      </p:sp>
      <p:sp>
        <p:nvSpPr>
          <p:cNvPr id="12" name="Text 10"/>
          <p:cNvSpPr/>
          <p:nvPr/>
        </p:nvSpPr>
        <p:spPr>
          <a:xfrm>
            <a:off x="1645920" y="2121408"/>
            <a:ext cx="9144000" cy="621792"/>
          </a:xfrm>
          <a:prstGeom prst="rect">
            <a:avLst/>
          </a:prstGeom>
          <a:noFill/>
          <a:ln/>
        </p:spPr>
        <p:txBody>
          <a:bodyPr wrap="square" rtlCol="0" anchor="ctr"/>
          <a:lstStyle/>
          <a:p>
            <a:pPr indent="0" marL="0">
              <a:buNone/>
            </a:pPr>
            <a:r>
              <a:rPr lang="en-US" sz="2200" dirty="0">
                <a:solidFill>
                  <a:srgbClr val="FFFFFF"/>
                </a:solidFill>
                <a:latin typeface="Inter" pitchFamily="34" charset="0"/>
                <a:ea typeface="Inter" pitchFamily="34" charset="-122"/>
                <a:cs typeface="Inter" pitchFamily="34" charset="-120"/>
              </a:rPr>
              <a:t>AWS Bedrock &amp; AgentCore</a:t>
            </a:r>
            <a:endParaRPr lang="en-US" sz="2200" dirty="0"/>
          </a:p>
        </p:txBody>
      </p:sp>
      <p:sp>
        <p:nvSpPr>
          <p:cNvPr id="13" name="Shape 11"/>
          <p:cNvSpPr/>
          <p:nvPr/>
        </p:nvSpPr>
        <p:spPr>
          <a:xfrm>
            <a:off x="731520" y="2871216"/>
            <a:ext cx="10515600" cy="621792"/>
          </a:xfrm>
          <a:prstGeom prst="roundRect">
            <a:avLst>
              <a:gd name="adj" fmla="val 14706"/>
            </a:avLst>
          </a:prstGeom>
          <a:solidFill>
            <a:srgbClr val="1A1F4E">
              <a:alpha val="70000"/>
            </a:srgbClr>
          </a:solidFill>
          <a:ln w="19050">
            <a:solidFill>
              <a:srgbClr val="4FC3F7"/>
            </a:solidFill>
            <a:prstDash val="solid"/>
          </a:ln>
        </p:spPr>
      </p:sp>
      <p:sp>
        <p:nvSpPr>
          <p:cNvPr id="14" name="Shape 12"/>
          <p:cNvSpPr/>
          <p:nvPr/>
        </p:nvSpPr>
        <p:spPr>
          <a:xfrm>
            <a:off x="914400" y="2944368"/>
            <a:ext cx="457200" cy="457200"/>
          </a:xfrm>
          <a:prstGeom prst="ellipse">
            <a:avLst/>
          </a:prstGeom>
          <a:solidFill>
            <a:srgbClr val="FF9900"/>
          </a:solidFill>
          <a:ln/>
        </p:spPr>
      </p:sp>
      <p:sp>
        <p:nvSpPr>
          <p:cNvPr id="15" name="Text 13"/>
          <p:cNvSpPr/>
          <p:nvPr/>
        </p:nvSpPr>
        <p:spPr>
          <a:xfrm>
            <a:off x="914400" y="2944368"/>
            <a:ext cx="457200" cy="457200"/>
          </a:xfrm>
          <a:prstGeom prst="rect">
            <a:avLst/>
          </a:prstGeom>
          <a:noFill/>
          <a:ln/>
        </p:spPr>
        <p:txBody>
          <a:bodyPr wrap="square" rtlCol="0" anchor="ctr"/>
          <a:lstStyle/>
          <a:p>
            <a:pPr algn="ctr" indent="0" marL="0">
              <a:buNone/>
            </a:pPr>
            <a:r>
              <a:rPr lang="en-US" sz="1800" b="1" dirty="0">
                <a:solidFill>
                  <a:srgbClr val="0A0E27"/>
                </a:solidFill>
                <a:latin typeface="Inter" pitchFamily="34" charset="0"/>
                <a:ea typeface="Inter" pitchFamily="34" charset="-122"/>
                <a:cs typeface="Inter" pitchFamily="34" charset="-120"/>
              </a:rPr>
              <a:t>3</a:t>
            </a:r>
            <a:endParaRPr lang="en-US" sz="1800" dirty="0"/>
          </a:p>
        </p:txBody>
      </p:sp>
      <p:sp>
        <p:nvSpPr>
          <p:cNvPr id="16" name="Text 14"/>
          <p:cNvSpPr/>
          <p:nvPr/>
        </p:nvSpPr>
        <p:spPr>
          <a:xfrm>
            <a:off x="1645920" y="2871216"/>
            <a:ext cx="9144000" cy="621792"/>
          </a:xfrm>
          <a:prstGeom prst="rect">
            <a:avLst/>
          </a:prstGeom>
          <a:noFill/>
          <a:ln/>
        </p:spPr>
        <p:txBody>
          <a:bodyPr wrap="square" rtlCol="0" anchor="ctr"/>
          <a:lstStyle/>
          <a:p>
            <a:pPr indent="0" marL="0">
              <a:buNone/>
            </a:pPr>
            <a:r>
              <a:rPr lang="en-US" sz="2200" dirty="0">
                <a:solidFill>
                  <a:srgbClr val="FFFFFF"/>
                </a:solidFill>
                <a:latin typeface="Inter" pitchFamily="34" charset="0"/>
                <a:ea typeface="Inter" pitchFamily="34" charset="-122"/>
                <a:cs typeface="Inter" pitchFamily="34" charset="-120"/>
              </a:rPr>
              <a:t>What is OpenClaw</a:t>
            </a:r>
            <a:endParaRPr lang="en-US" sz="2200" dirty="0"/>
          </a:p>
        </p:txBody>
      </p:sp>
      <p:sp>
        <p:nvSpPr>
          <p:cNvPr id="17" name="Shape 15"/>
          <p:cNvSpPr/>
          <p:nvPr/>
        </p:nvSpPr>
        <p:spPr>
          <a:xfrm>
            <a:off x="731520" y="3621024"/>
            <a:ext cx="10515600" cy="621792"/>
          </a:xfrm>
          <a:prstGeom prst="roundRect">
            <a:avLst>
              <a:gd name="adj" fmla="val 14706"/>
            </a:avLst>
          </a:prstGeom>
          <a:solidFill>
            <a:srgbClr val="1A1F4E">
              <a:alpha val="70000"/>
            </a:srgbClr>
          </a:solidFill>
          <a:ln w="19050">
            <a:solidFill>
              <a:srgbClr val="4FC3F7"/>
            </a:solidFill>
            <a:prstDash val="solid"/>
          </a:ln>
        </p:spPr>
      </p:sp>
      <p:sp>
        <p:nvSpPr>
          <p:cNvPr id="18" name="Shape 16"/>
          <p:cNvSpPr/>
          <p:nvPr/>
        </p:nvSpPr>
        <p:spPr>
          <a:xfrm>
            <a:off x="914400" y="3694176"/>
            <a:ext cx="457200" cy="457200"/>
          </a:xfrm>
          <a:prstGeom prst="ellipse">
            <a:avLst/>
          </a:prstGeom>
          <a:solidFill>
            <a:srgbClr val="FF9900"/>
          </a:solidFill>
          <a:ln/>
        </p:spPr>
      </p:sp>
      <p:sp>
        <p:nvSpPr>
          <p:cNvPr id="19" name="Text 17"/>
          <p:cNvSpPr/>
          <p:nvPr/>
        </p:nvSpPr>
        <p:spPr>
          <a:xfrm>
            <a:off x="914400" y="3694176"/>
            <a:ext cx="457200" cy="457200"/>
          </a:xfrm>
          <a:prstGeom prst="rect">
            <a:avLst/>
          </a:prstGeom>
          <a:noFill/>
          <a:ln/>
        </p:spPr>
        <p:txBody>
          <a:bodyPr wrap="square" rtlCol="0" anchor="ctr"/>
          <a:lstStyle/>
          <a:p>
            <a:pPr algn="ctr" indent="0" marL="0">
              <a:buNone/>
            </a:pPr>
            <a:r>
              <a:rPr lang="en-US" sz="1800" b="1" dirty="0">
                <a:solidFill>
                  <a:srgbClr val="0A0E27"/>
                </a:solidFill>
                <a:latin typeface="Inter" pitchFamily="34" charset="0"/>
                <a:ea typeface="Inter" pitchFamily="34" charset="-122"/>
                <a:cs typeface="Inter" pitchFamily="34" charset="-120"/>
              </a:rPr>
              <a:t>4</a:t>
            </a:r>
            <a:endParaRPr lang="en-US" sz="1800" dirty="0"/>
          </a:p>
        </p:txBody>
      </p:sp>
      <p:sp>
        <p:nvSpPr>
          <p:cNvPr id="20" name="Text 18"/>
          <p:cNvSpPr/>
          <p:nvPr/>
        </p:nvSpPr>
        <p:spPr>
          <a:xfrm>
            <a:off x="1645920" y="3621024"/>
            <a:ext cx="9144000" cy="621792"/>
          </a:xfrm>
          <a:prstGeom prst="rect">
            <a:avLst/>
          </a:prstGeom>
          <a:noFill/>
          <a:ln/>
        </p:spPr>
        <p:txBody>
          <a:bodyPr wrap="square" rtlCol="0" anchor="ctr"/>
          <a:lstStyle/>
          <a:p>
            <a:pPr indent="0" marL="0">
              <a:buNone/>
            </a:pPr>
            <a:r>
              <a:rPr lang="en-US" sz="2200" dirty="0">
                <a:solidFill>
                  <a:srgbClr val="FFFFFF"/>
                </a:solidFill>
                <a:latin typeface="Inter" pitchFamily="34" charset="0"/>
                <a:ea typeface="Inter" pitchFamily="34" charset="-122"/>
                <a:cs typeface="Inter" pitchFamily="34" charset="-120"/>
              </a:rPr>
              <a:t>Building: Lightsail → EC2 → AgentCore</a:t>
            </a:r>
            <a:endParaRPr lang="en-US" sz="2200" dirty="0"/>
          </a:p>
        </p:txBody>
      </p:sp>
      <p:sp>
        <p:nvSpPr>
          <p:cNvPr id="21" name="Shape 19"/>
          <p:cNvSpPr/>
          <p:nvPr/>
        </p:nvSpPr>
        <p:spPr>
          <a:xfrm>
            <a:off x="731520" y="4370832"/>
            <a:ext cx="10515600" cy="621792"/>
          </a:xfrm>
          <a:prstGeom prst="roundRect">
            <a:avLst>
              <a:gd name="adj" fmla="val 14706"/>
            </a:avLst>
          </a:prstGeom>
          <a:solidFill>
            <a:srgbClr val="1A1F4E">
              <a:alpha val="70000"/>
            </a:srgbClr>
          </a:solidFill>
          <a:ln w="19050">
            <a:solidFill>
              <a:srgbClr val="4FC3F7"/>
            </a:solidFill>
            <a:prstDash val="solid"/>
          </a:ln>
        </p:spPr>
      </p:sp>
      <p:sp>
        <p:nvSpPr>
          <p:cNvPr id="22" name="Shape 20"/>
          <p:cNvSpPr/>
          <p:nvPr/>
        </p:nvSpPr>
        <p:spPr>
          <a:xfrm>
            <a:off x="914400" y="4443984"/>
            <a:ext cx="457200" cy="457200"/>
          </a:xfrm>
          <a:prstGeom prst="ellipse">
            <a:avLst/>
          </a:prstGeom>
          <a:solidFill>
            <a:srgbClr val="FF9900"/>
          </a:solidFill>
          <a:ln/>
        </p:spPr>
      </p:sp>
      <p:sp>
        <p:nvSpPr>
          <p:cNvPr id="23" name="Text 21"/>
          <p:cNvSpPr/>
          <p:nvPr/>
        </p:nvSpPr>
        <p:spPr>
          <a:xfrm>
            <a:off x="914400" y="4443984"/>
            <a:ext cx="457200" cy="457200"/>
          </a:xfrm>
          <a:prstGeom prst="rect">
            <a:avLst/>
          </a:prstGeom>
          <a:noFill/>
          <a:ln/>
        </p:spPr>
        <p:txBody>
          <a:bodyPr wrap="square" rtlCol="0" anchor="ctr"/>
          <a:lstStyle/>
          <a:p>
            <a:pPr algn="ctr" indent="0" marL="0">
              <a:buNone/>
            </a:pPr>
            <a:r>
              <a:rPr lang="en-US" sz="1800" b="1" dirty="0">
                <a:solidFill>
                  <a:srgbClr val="0A0E27"/>
                </a:solidFill>
                <a:latin typeface="Inter" pitchFamily="34" charset="0"/>
                <a:ea typeface="Inter" pitchFamily="34" charset="-122"/>
                <a:cs typeface="Inter" pitchFamily="34" charset="-120"/>
              </a:rPr>
              <a:t>5</a:t>
            </a:r>
            <a:endParaRPr lang="en-US" sz="1800" dirty="0"/>
          </a:p>
        </p:txBody>
      </p:sp>
      <p:sp>
        <p:nvSpPr>
          <p:cNvPr id="24" name="Text 22"/>
          <p:cNvSpPr/>
          <p:nvPr/>
        </p:nvSpPr>
        <p:spPr>
          <a:xfrm>
            <a:off x="1645920" y="4370832"/>
            <a:ext cx="9144000" cy="621792"/>
          </a:xfrm>
          <a:prstGeom prst="rect">
            <a:avLst/>
          </a:prstGeom>
          <a:noFill/>
          <a:ln/>
        </p:spPr>
        <p:txBody>
          <a:bodyPr wrap="square" rtlCol="0" anchor="ctr"/>
          <a:lstStyle/>
          <a:p>
            <a:pPr indent="0" marL="0">
              <a:buNone/>
            </a:pPr>
            <a:r>
              <a:rPr lang="en-US" sz="2200" dirty="0">
                <a:solidFill>
                  <a:srgbClr val="FFFFFF"/>
                </a:solidFill>
                <a:latin typeface="Inter" pitchFamily="34" charset="0"/>
                <a:ea typeface="Inter" pitchFamily="34" charset="-122"/>
                <a:cs typeface="Inter" pitchFamily="34" charset="-120"/>
              </a:rPr>
              <a:t>What breaks at scale</a:t>
            </a:r>
            <a:endParaRPr lang="en-US" sz="2200" dirty="0"/>
          </a:p>
        </p:txBody>
      </p:sp>
      <p:sp>
        <p:nvSpPr>
          <p:cNvPr id="25" name="Shape 23"/>
          <p:cNvSpPr/>
          <p:nvPr/>
        </p:nvSpPr>
        <p:spPr>
          <a:xfrm>
            <a:off x="731520" y="5120640"/>
            <a:ext cx="10515600" cy="621792"/>
          </a:xfrm>
          <a:prstGeom prst="roundRect">
            <a:avLst>
              <a:gd name="adj" fmla="val 14706"/>
            </a:avLst>
          </a:prstGeom>
          <a:solidFill>
            <a:srgbClr val="1A1F4E">
              <a:alpha val="70000"/>
            </a:srgbClr>
          </a:solidFill>
          <a:ln w="19050">
            <a:solidFill>
              <a:srgbClr val="4FC3F7"/>
            </a:solidFill>
            <a:prstDash val="solid"/>
          </a:ln>
        </p:spPr>
      </p:sp>
      <p:sp>
        <p:nvSpPr>
          <p:cNvPr id="26" name="Shape 24"/>
          <p:cNvSpPr/>
          <p:nvPr/>
        </p:nvSpPr>
        <p:spPr>
          <a:xfrm>
            <a:off x="914400" y="5193792"/>
            <a:ext cx="457200" cy="457200"/>
          </a:xfrm>
          <a:prstGeom prst="ellipse">
            <a:avLst/>
          </a:prstGeom>
          <a:solidFill>
            <a:srgbClr val="FF9900"/>
          </a:solidFill>
          <a:ln/>
        </p:spPr>
      </p:sp>
      <p:sp>
        <p:nvSpPr>
          <p:cNvPr id="27" name="Text 25"/>
          <p:cNvSpPr/>
          <p:nvPr/>
        </p:nvSpPr>
        <p:spPr>
          <a:xfrm>
            <a:off x="914400" y="5193792"/>
            <a:ext cx="457200" cy="457200"/>
          </a:xfrm>
          <a:prstGeom prst="rect">
            <a:avLst/>
          </a:prstGeom>
          <a:noFill/>
          <a:ln/>
        </p:spPr>
        <p:txBody>
          <a:bodyPr wrap="square" rtlCol="0" anchor="ctr"/>
          <a:lstStyle/>
          <a:p>
            <a:pPr algn="ctr" indent="0" marL="0">
              <a:buNone/>
            </a:pPr>
            <a:r>
              <a:rPr lang="en-US" sz="1800" b="1" dirty="0">
                <a:solidFill>
                  <a:srgbClr val="0A0E27"/>
                </a:solidFill>
                <a:latin typeface="Inter" pitchFamily="34" charset="0"/>
                <a:ea typeface="Inter" pitchFamily="34" charset="-122"/>
                <a:cs typeface="Inter" pitchFamily="34" charset="-120"/>
              </a:rPr>
              <a:t>6</a:t>
            </a:r>
            <a:endParaRPr lang="en-US" sz="1800" dirty="0"/>
          </a:p>
        </p:txBody>
      </p:sp>
      <p:sp>
        <p:nvSpPr>
          <p:cNvPr id="28" name="Text 26"/>
          <p:cNvSpPr/>
          <p:nvPr/>
        </p:nvSpPr>
        <p:spPr>
          <a:xfrm>
            <a:off x="1645920" y="5120640"/>
            <a:ext cx="9144000" cy="621792"/>
          </a:xfrm>
          <a:prstGeom prst="rect">
            <a:avLst/>
          </a:prstGeom>
          <a:noFill/>
          <a:ln/>
        </p:spPr>
        <p:txBody>
          <a:bodyPr wrap="square" rtlCol="0" anchor="ctr"/>
          <a:lstStyle/>
          <a:p>
            <a:pPr indent="0" marL="0">
              <a:buNone/>
            </a:pPr>
            <a:r>
              <a:rPr lang="en-US" sz="2200" dirty="0">
                <a:solidFill>
                  <a:srgbClr val="FFFFFF"/>
                </a:solidFill>
                <a:latin typeface="Inter" pitchFamily="34" charset="0"/>
                <a:ea typeface="Inter" pitchFamily="34" charset="-122"/>
                <a:cs typeface="Inter" pitchFamily="34" charset="-120"/>
              </a:rPr>
              <a:t>Securing with AgentCore</a:t>
            </a:r>
            <a:endParaRPr lang="en-US" sz="2200" dirty="0"/>
          </a:p>
        </p:txBody>
      </p:sp>
      <p:sp>
        <p:nvSpPr>
          <p:cNvPr id="29" name="Shape 27"/>
          <p:cNvSpPr/>
          <p:nvPr/>
        </p:nvSpPr>
        <p:spPr>
          <a:xfrm>
            <a:off x="731520" y="5870448"/>
            <a:ext cx="10515600" cy="621792"/>
          </a:xfrm>
          <a:prstGeom prst="roundRect">
            <a:avLst>
              <a:gd name="adj" fmla="val 14706"/>
            </a:avLst>
          </a:prstGeom>
          <a:solidFill>
            <a:srgbClr val="1A1F4E">
              <a:alpha val="70000"/>
            </a:srgbClr>
          </a:solidFill>
          <a:ln w="19050">
            <a:solidFill>
              <a:srgbClr val="4FC3F7"/>
            </a:solidFill>
            <a:prstDash val="solid"/>
          </a:ln>
        </p:spPr>
      </p:sp>
      <p:sp>
        <p:nvSpPr>
          <p:cNvPr id="30" name="Shape 28"/>
          <p:cNvSpPr/>
          <p:nvPr/>
        </p:nvSpPr>
        <p:spPr>
          <a:xfrm>
            <a:off x="914400" y="5943600"/>
            <a:ext cx="457200" cy="457200"/>
          </a:xfrm>
          <a:prstGeom prst="ellipse">
            <a:avLst/>
          </a:prstGeom>
          <a:solidFill>
            <a:srgbClr val="FF9900"/>
          </a:solidFill>
          <a:ln/>
        </p:spPr>
      </p:sp>
      <p:sp>
        <p:nvSpPr>
          <p:cNvPr id="31" name="Text 29"/>
          <p:cNvSpPr/>
          <p:nvPr/>
        </p:nvSpPr>
        <p:spPr>
          <a:xfrm>
            <a:off x="914400" y="5943600"/>
            <a:ext cx="457200" cy="457200"/>
          </a:xfrm>
          <a:prstGeom prst="rect">
            <a:avLst/>
          </a:prstGeom>
          <a:noFill/>
          <a:ln/>
        </p:spPr>
        <p:txBody>
          <a:bodyPr wrap="square" rtlCol="0" anchor="ctr"/>
          <a:lstStyle/>
          <a:p>
            <a:pPr algn="ctr" indent="0" marL="0">
              <a:buNone/>
            </a:pPr>
            <a:r>
              <a:rPr lang="en-US" sz="1800" b="1" dirty="0">
                <a:solidFill>
                  <a:srgbClr val="0A0E27"/>
                </a:solidFill>
                <a:latin typeface="Inter" pitchFamily="34" charset="0"/>
                <a:ea typeface="Inter" pitchFamily="34" charset="-122"/>
                <a:cs typeface="Inter" pitchFamily="34" charset="-120"/>
              </a:rPr>
              <a:t>7</a:t>
            </a:r>
            <a:endParaRPr lang="en-US" sz="1800" dirty="0"/>
          </a:p>
        </p:txBody>
      </p:sp>
      <p:sp>
        <p:nvSpPr>
          <p:cNvPr id="32" name="Text 30"/>
          <p:cNvSpPr/>
          <p:nvPr/>
        </p:nvSpPr>
        <p:spPr>
          <a:xfrm>
            <a:off x="1645920" y="5870448"/>
            <a:ext cx="9144000" cy="621792"/>
          </a:xfrm>
          <a:prstGeom prst="rect">
            <a:avLst/>
          </a:prstGeom>
          <a:noFill/>
          <a:ln/>
        </p:spPr>
        <p:txBody>
          <a:bodyPr wrap="square" rtlCol="0" anchor="ctr"/>
          <a:lstStyle/>
          <a:p>
            <a:pPr indent="0" marL="0">
              <a:buNone/>
            </a:pPr>
            <a:r>
              <a:rPr lang="en-US" sz="2200" dirty="0">
                <a:solidFill>
                  <a:srgbClr val="FFFFFF"/>
                </a:solidFill>
                <a:latin typeface="Inter" pitchFamily="34" charset="0"/>
                <a:ea typeface="Inter" pitchFamily="34" charset="-122"/>
                <a:cs typeface="Inter" pitchFamily="34" charset="-120"/>
              </a:rPr>
              <a:t>What is Next: Multi-Agent</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Text 2"/>
          <p:cNvSpPr/>
          <p:nvPr/>
        </p:nvSpPr>
        <p:spPr>
          <a:xfrm>
            <a:off x="731520" y="274320"/>
            <a:ext cx="10972800" cy="914400"/>
          </a:xfrm>
          <a:prstGeom prst="rect">
            <a:avLst/>
          </a:prstGeom>
          <a:noFill/>
          <a:ln/>
        </p:spPr>
        <p:txBody>
          <a:bodyPr wrap="square" rtlCol="0" anchor="ctr"/>
          <a:lstStyle/>
          <a:p>
            <a:pPr indent="0" marL="0">
              <a:buNone/>
            </a:pPr>
            <a:r>
              <a:rPr lang="en-US" sz="4400" b="1" dirty="0">
                <a:solidFill>
                  <a:srgbClr val="FFFFFF"/>
                </a:solidFill>
                <a:latin typeface="Montserrat" pitchFamily="34" charset="0"/>
                <a:ea typeface="Montserrat" pitchFamily="34" charset="-122"/>
                <a:cs typeface="Montserrat" pitchFamily="34" charset="-120"/>
              </a:rPr>
              <a:t>What is an Agent?</a:t>
            </a:r>
            <a:endParaRPr lang="en-US" sz="4400" dirty="0"/>
          </a:p>
        </p:txBody>
      </p:sp>
      <p:sp>
        <p:nvSpPr>
          <p:cNvPr id="5" name="Text 3"/>
          <p:cNvSpPr/>
          <p:nvPr/>
        </p:nvSpPr>
        <p:spPr>
          <a:xfrm>
            <a:off x="731520" y="1371600"/>
            <a:ext cx="10972800" cy="731520"/>
          </a:xfrm>
          <a:prstGeom prst="rect">
            <a:avLst/>
          </a:prstGeom>
          <a:noFill/>
          <a:ln/>
        </p:spPr>
        <p:txBody>
          <a:bodyPr wrap="square" rtlCol="0" anchor="ctr"/>
          <a:lstStyle/>
          <a:p>
            <a:pPr indent="0" marL="0">
              <a:buNone/>
            </a:pPr>
            <a:r>
              <a:rPr lang="en-US" sz="2800" dirty="0">
                <a:solidFill>
                  <a:srgbClr val="FF9900"/>
                </a:solidFill>
                <a:latin typeface="Inter" pitchFamily="34" charset="0"/>
                <a:ea typeface="Inter" pitchFamily="34" charset="-122"/>
                <a:cs typeface="Inter" pitchFamily="34" charset="-120"/>
              </a:rPr>
              <a:t>LLM  +  Reasoning  +  Memory  +  Tools  =  Agent</a:t>
            </a:r>
            <a:endParaRPr lang="en-US" sz="2800" dirty="0"/>
          </a:p>
        </p:txBody>
      </p:sp>
      <p:sp>
        <p:nvSpPr>
          <p:cNvPr id="6" name="Shape 4"/>
          <p:cNvSpPr/>
          <p:nvPr/>
        </p:nvSpPr>
        <p:spPr>
          <a:xfrm>
            <a:off x="1097280" y="3200400"/>
            <a:ext cx="2011680" cy="2011680"/>
          </a:xfrm>
          <a:prstGeom prst="ellipse">
            <a:avLst/>
          </a:prstGeom>
          <a:solidFill>
            <a:srgbClr val="4FC3F7">
              <a:alpha val="30000"/>
            </a:srgbClr>
          </a:solidFill>
          <a:ln w="31750">
            <a:solidFill>
              <a:srgbClr val="4FC3F7"/>
            </a:solidFill>
            <a:prstDash val="solid"/>
          </a:ln>
        </p:spPr>
      </p:sp>
      <p:sp>
        <p:nvSpPr>
          <p:cNvPr id="7" name="Text 5"/>
          <p:cNvSpPr/>
          <p:nvPr/>
        </p:nvSpPr>
        <p:spPr>
          <a:xfrm>
            <a:off x="1097280" y="3200400"/>
            <a:ext cx="2011680" cy="2011680"/>
          </a:xfrm>
          <a:prstGeom prst="rect">
            <a:avLst/>
          </a:prstGeom>
          <a:noFill/>
          <a:ln/>
        </p:spPr>
        <p:txBody>
          <a:bodyPr wrap="square"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LLM</a:t>
            </a:r>
            <a:endParaRPr lang="en-US" sz="1800" dirty="0"/>
          </a:p>
          <a:p>
            <a:pPr algn="ctr" indent="0" marL="0">
              <a:buNone/>
            </a:pPr>
            <a:r>
              <a:rPr lang="en-US" sz="1800" b="1" dirty="0">
                <a:solidFill>
                  <a:srgbClr val="FFFFFF"/>
                </a:solidFill>
                <a:latin typeface="Inter" pitchFamily="34" charset="0"/>
                <a:ea typeface="Inter" pitchFamily="34" charset="-122"/>
                <a:cs typeface="Inter" pitchFamily="34" charset="-120"/>
              </a:rPr>
              <a:t>(Brain)</a:t>
            </a:r>
            <a:endParaRPr lang="en-US" sz="1800" dirty="0"/>
          </a:p>
        </p:txBody>
      </p:sp>
      <p:sp>
        <p:nvSpPr>
          <p:cNvPr id="8" name="Shape 6"/>
          <p:cNvSpPr/>
          <p:nvPr/>
        </p:nvSpPr>
        <p:spPr>
          <a:xfrm>
            <a:off x="3840480" y="3200400"/>
            <a:ext cx="2011680" cy="2011680"/>
          </a:xfrm>
          <a:prstGeom prst="ellipse">
            <a:avLst/>
          </a:prstGeom>
          <a:solidFill>
            <a:srgbClr val="FF9900">
              <a:alpha val="30000"/>
            </a:srgbClr>
          </a:solidFill>
          <a:ln w="31750">
            <a:solidFill>
              <a:srgbClr val="FF9900"/>
            </a:solidFill>
            <a:prstDash val="solid"/>
          </a:ln>
        </p:spPr>
      </p:sp>
      <p:sp>
        <p:nvSpPr>
          <p:cNvPr id="9" name="Text 7"/>
          <p:cNvSpPr/>
          <p:nvPr/>
        </p:nvSpPr>
        <p:spPr>
          <a:xfrm>
            <a:off x="3840480" y="3200400"/>
            <a:ext cx="2011680" cy="2011680"/>
          </a:xfrm>
          <a:prstGeom prst="rect">
            <a:avLst/>
          </a:prstGeom>
          <a:noFill/>
          <a:ln/>
        </p:spPr>
        <p:txBody>
          <a:bodyPr wrap="square"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Tools</a:t>
            </a:r>
            <a:endParaRPr lang="en-US" sz="1800" dirty="0"/>
          </a:p>
          <a:p>
            <a:pPr algn="ctr" indent="0" marL="0">
              <a:buNone/>
            </a:pPr>
            <a:r>
              <a:rPr lang="en-US" sz="1800" b="1" dirty="0">
                <a:solidFill>
                  <a:srgbClr val="FFFFFF"/>
                </a:solidFill>
                <a:latin typeface="Inter" pitchFamily="34" charset="0"/>
                <a:ea typeface="Inter" pitchFamily="34" charset="-122"/>
                <a:cs typeface="Inter" pitchFamily="34" charset="-120"/>
              </a:rPr>
              <a:t>(Hands)</a:t>
            </a:r>
            <a:endParaRPr lang="en-US" sz="1800" dirty="0"/>
          </a:p>
        </p:txBody>
      </p:sp>
      <p:sp>
        <p:nvSpPr>
          <p:cNvPr id="10" name="Shape 8"/>
          <p:cNvSpPr/>
          <p:nvPr/>
        </p:nvSpPr>
        <p:spPr>
          <a:xfrm>
            <a:off x="6583680" y="3200400"/>
            <a:ext cx="2011680" cy="2011680"/>
          </a:xfrm>
          <a:prstGeom prst="ellipse">
            <a:avLst/>
          </a:prstGeom>
          <a:solidFill>
            <a:srgbClr val="69F0AE">
              <a:alpha val="30000"/>
            </a:srgbClr>
          </a:solidFill>
          <a:ln w="31750">
            <a:solidFill>
              <a:srgbClr val="69F0AE"/>
            </a:solidFill>
            <a:prstDash val="solid"/>
          </a:ln>
        </p:spPr>
      </p:sp>
      <p:sp>
        <p:nvSpPr>
          <p:cNvPr id="11" name="Text 9"/>
          <p:cNvSpPr/>
          <p:nvPr/>
        </p:nvSpPr>
        <p:spPr>
          <a:xfrm>
            <a:off x="6583680" y="3200400"/>
            <a:ext cx="2011680" cy="2011680"/>
          </a:xfrm>
          <a:prstGeom prst="rect">
            <a:avLst/>
          </a:prstGeom>
          <a:noFill/>
          <a:ln/>
        </p:spPr>
        <p:txBody>
          <a:bodyPr wrap="square"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Memory</a:t>
            </a:r>
            <a:endParaRPr lang="en-US" sz="1800" dirty="0"/>
          </a:p>
          <a:p>
            <a:pPr algn="ctr" indent="0" marL="0">
              <a:buNone/>
            </a:pPr>
            <a:r>
              <a:rPr lang="en-US" sz="1800" b="1" dirty="0">
                <a:solidFill>
                  <a:srgbClr val="FFFFFF"/>
                </a:solidFill>
                <a:latin typeface="Inter" pitchFamily="34" charset="0"/>
                <a:ea typeface="Inter" pitchFamily="34" charset="-122"/>
                <a:cs typeface="Inter" pitchFamily="34" charset="-120"/>
              </a:rPr>
              <a:t>(Context)</a:t>
            </a:r>
            <a:endParaRPr lang="en-US" sz="1800" dirty="0"/>
          </a:p>
        </p:txBody>
      </p:sp>
      <p:sp>
        <p:nvSpPr>
          <p:cNvPr id="12" name="Shape 10"/>
          <p:cNvSpPr/>
          <p:nvPr/>
        </p:nvSpPr>
        <p:spPr>
          <a:xfrm>
            <a:off x="9326880" y="3200400"/>
            <a:ext cx="2011680" cy="2011680"/>
          </a:xfrm>
          <a:prstGeom prst="ellipse">
            <a:avLst/>
          </a:prstGeom>
          <a:solidFill>
            <a:srgbClr val="CE93D8">
              <a:alpha val="30000"/>
            </a:srgbClr>
          </a:solidFill>
          <a:ln w="31750">
            <a:solidFill>
              <a:srgbClr val="CE93D8"/>
            </a:solidFill>
            <a:prstDash val="solid"/>
          </a:ln>
        </p:spPr>
      </p:sp>
      <p:sp>
        <p:nvSpPr>
          <p:cNvPr id="13" name="Text 11"/>
          <p:cNvSpPr/>
          <p:nvPr/>
        </p:nvSpPr>
        <p:spPr>
          <a:xfrm>
            <a:off x="9326880" y="3200400"/>
            <a:ext cx="2011680" cy="2011680"/>
          </a:xfrm>
          <a:prstGeom prst="rect">
            <a:avLst/>
          </a:prstGeom>
          <a:noFill/>
          <a:ln/>
        </p:spPr>
        <p:txBody>
          <a:bodyPr wrap="square"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Orchestration</a:t>
            </a:r>
            <a:endParaRPr lang="en-US" sz="1800" dirty="0"/>
          </a:p>
          <a:p>
            <a:pPr algn="ctr" indent="0" marL="0">
              <a:buNone/>
            </a:pPr>
            <a:r>
              <a:rPr lang="en-US" sz="1800" b="1" dirty="0">
                <a:solidFill>
                  <a:srgbClr val="FFFFFF"/>
                </a:solidFill>
                <a:latin typeface="Inter" pitchFamily="34" charset="0"/>
                <a:ea typeface="Inter" pitchFamily="34" charset="-122"/>
                <a:cs typeface="Inter" pitchFamily="34" charset="-120"/>
              </a:rPr>
              <a:t>(Workflow)</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Text 2"/>
          <p:cNvSpPr/>
          <p:nvPr/>
        </p:nvSpPr>
        <p:spPr>
          <a:xfrm>
            <a:off x="731520" y="274320"/>
            <a:ext cx="10972800" cy="914400"/>
          </a:xfrm>
          <a:prstGeom prst="rect">
            <a:avLst/>
          </a:prstGeom>
          <a:noFill/>
          <a:ln/>
        </p:spPr>
        <p:txBody>
          <a:bodyPr wrap="square" rtlCol="0" anchor="ctr"/>
          <a:lstStyle/>
          <a:p>
            <a:pPr indent="0" marL="0">
              <a:buNone/>
            </a:pPr>
            <a:r>
              <a:rPr lang="en-US" sz="4400" b="1" dirty="0">
                <a:solidFill>
                  <a:srgbClr val="FFFFFF"/>
                </a:solidFill>
                <a:latin typeface="Montserrat" pitchFamily="34" charset="0"/>
                <a:ea typeface="Montserrat" pitchFamily="34" charset="-122"/>
                <a:cs typeface="Montserrat" pitchFamily="34" charset="-120"/>
              </a:rPr>
              <a:t>The Agent Loop</a:t>
            </a:r>
            <a:endParaRPr lang="en-US" sz="4400" dirty="0"/>
          </a:p>
        </p:txBody>
      </p:sp>
      <p:sp>
        <p:nvSpPr>
          <p:cNvPr id="5" name="Text 3"/>
          <p:cNvSpPr/>
          <p:nvPr/>
        </p:nvSpPr>
        <p:spPr>
          <a:xfrm>
            <a:off x="731520" y="1280160"/>
            <a:ext cx="10972800" cy="731520"/>
          </a:xfrm>
          <a:prstGeom prst="rect">
            <a:avLst/>
          </a:prstGeom>
          <a:noFill/>
          <a:ln/>
        </p:spPr>
        <p:txBody>
          <a:bodyPr wrap="square" rtlCol="0" anchor="ctr"/>
          <a:lstStyle/>
          <a:p>
            <a:pPr indent="0" marL="0">
              <a:buNone/>
            </a:pPr>
            <a:r>
              <a:rPr lang="en-US" sz="2800" dirty="0">
                <a:solidFill>
                  <a:srgbClr val="FF9900"/>
                </a:solidFill>
                <a:latin typeface="Inter" pitchFamily="34" charset="0"/>
                <a:ea typeface="Inter" pitchFamily="34" charset="-122"/>
                <a:cs typeface="Inter" pitchFamily="34" charset="-120"/>
              </a:rPr>
              <a:t>Perceive → Reason → Plan → Act → Observe</a:t>
            </a:r>
            <a:endParaRPr lang="en-US" sz="2800" dirty="0"/>
          </a:p>
        </p:txBody>
      </p:sp>
      <p:sp>
        <p:nvSpPr>
          <p:cNvPr id="6" name="Shape 4"/>
          <p:cNvSpPr/>
          <p:nvPr/>
        </p:nvSpPr>
        <p:spPr>
          <a:xfrm>
            <a:off x="5257800" y="2103120"/>
            <a:ext cx="1645920" cy="1280160"/>
          </a:xfrm>
          <a:prstGeom prst="ellipse">
            <a:avLst/>
          </a:prstGeom>
          <a:solidFill>
            <a:srgbClr val="4FC3F7">
              <a:alpha val="40000"/>
            </a:srgbClr>
          </a:solidFill>
          <a:ln w="31750">
            <a:solidFill>
              <a:srgbClr val="4FC3F7"/>
            </a:solidFill>
            <a:prstDash val="solid"/>
          </a:ln>
        </p:spPr>
      </p:sp>
      <p:sp>
        <p:nvSpPr>
          <p:cNvPr id="7" name="Text 5"/>
          <p:cNvSpPr/>
          <p:nvPr/>
        </p:nvSpPr>
        <p:spPr>
          <a:xfrm>
            <a:off x="5257800" y="2103120"/>
            <a:ext cx="1645920" cy="1280160"/>
          </a:xfrm>
          <a:prstGeom prst="rect">
            <a:avLst/>
          </a:prstGeom>
          <a:noFill/>
          <a:ln/>
        </p:spPr>
        <p:txBody>
          <a:bodyPr wrap="square"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Perceive</a:t>
            </a:r>
            <a:endParaRPr lang="en-US" sz="1800" dirty="0"/>
          </a:p>
        </p:txBody>
      </p:sp>
      <p:sp>
        <p:nvSpPr>
          <p:cNvPr id="8" name="Shape 6"/>
          <p:cNvSpPr/>
          <p:nvPr/>
        </p:nvSpPr>
        <p:spPr>
          <a:xfrm>
            <a:off x="6823163" y="3240423"/>
            <a:ext cx="1645920" cy="1280160"/>
          </a:xfrm>
          <a:prstGeom prst="ellipse">
            <a:avLst/>
          </a:prstGeom>
          <a:solidFill>
            <a:srgbClr val="FF9900">
              <a:alpha val="40000"/>
            </a:srgbClr>
          </a:solidFill>
          <a:ln w="31750">
            <a:solidFill>
              <a:srgbClr val="FF9900"/>
            </a:solidFill>
            <a:prstDash val="solid"/>
          </a:ln>
        </p:spPr>
      </p:sp>
      <p:sp>
        <p:nvSpPr>
          <p:cNvPr id="9" name="Text 7"/>
          <p:cNvSpPr/>
          <p:nvPr/>
        </p:nvSpPr>
        <p:spPr>
          <a:xfrm>
            <a:off x="6823163" y="3240423"/>
            <a:ext cx="1645920" cy="1280160"/>
          </a:xfrm>
          <a:prstGeom prst="rect">
            <a:avLst/>
          </a:prstGeom>
          <a:noFill/>
          <a:ln/>
        </p:spPr>
        <p:txBody>
          <a:bodyPr wrap="square"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Reason</a:t>
            </a:r>
            <a:endParaRPr lang="en-US" sz="1800" dirty="0"/>
          </a:p>
        </p:txBody>
      </p:sp>
      <p:sp>
        <p:nvSpPr>
          <p:cNvPr id="10" name="Shape 8"/>
          <p:cNvSpPr/>
          <p:nvPr/>
        </p:nvSpPr>
        <p:spPr>
          <a:xfrm>
            <a:off x="6225248" y="5080617"/>
            <a:ext cx="1645920" cy="1280160"/>
          </a:xfrm>
          <a:prstGeom prst="ellipse">
            <a:avLst/>
          </a:prstGeom>
          <a:solidFill>
            <a:srgbClr val="69F0AE">
              <a:alpha val="40000"/>
            </a:srgbClr>
          </a:solidFill>
          <a:ln w="31750">
            <a:solidFill>
              <a:srgbClr val="69F0AE"/>
            </a:solidFill>
            <a:prstDash val="solid"/>
          </a:ln>
        </p:spPr>
      </p:sp>
      <p:sp>
        <p:nvSpPr>
          <p:cNvPr id="11" name="Text 9"/>
          <p:cNvSpPr/>
          <p:nvPr/>
        </p:nvSpPr>
        <p:spPr>
          <a:xfrm>
            <a:off x="6225248" y="5080617"/>
            <a:ext cx="1645920" cy="1280160"/>
          </a:xfrm>
          <a:prstGeom prst="rect">
            <a:avLst/>
          </a:prstGeom>
          <a:noFill/>
          <a:ln/>
        </p:spPr>
        <p:txBody>
          <a:bodyPr wrap="square"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Plan</a:t>
            </a:r>
            <a:endParaRPr lang="en-US" sz="1800" dirty="0"/>
          </a:p>
        </p:txBody>
      </p:sp>
      <p:sp>
        <p:nvSpPr>
          <p:cNvPr id="12" name="Shape 10"/>
          <p:cNvSpPr/>
          <p:nvPr/>
        </p:nvSpPr>
        <p:spPr>
          <a:xfrm>
            <a:off x="4290352" y="5080617"/>
            <a:ext cx="1645920" cy="1280160"/>
          </a:xfrm>
          <a:prstGeom prst="ellipse">
            <a:avLst/>
          </a:prstGeom>
          <a:solidFill>
            <a:srgbClr val="CE93D8">
              <a:alpha val="40000"/>
            </a:srgbClr>
          </a:solidFill>
          <a:ln w="31750">
            <a:solidFill>
              <a:srgbClr val="CE93D8"/>
            </a:solidFill>
            <a:prstDash val="solid"/>
          </a:ln>
        </p:spPr>
      </p:sp>
      <p:sp>
        <p:nvSpPr>
          <p:cNvPr id="13" name="Text 11"/>
          <p:cNvSpPr/>
          <p:nvPr/>
        </p:nvSpPr>
        <p:spPr>
          <a:xfrm>
            <a:off x="4290352" y="5080617"/>
            <a:ext cx="1645920" cy="1280160"/>
          </a:xfrm>
          <a:prstGeom prst="rect">
            <a:avLst/>
          </a:prstGeom>
          <a:noFill/>
          <a:ln/>
        </p:spPr>
        <p:txBody>
          <a:bodyPr wrap="square"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Act</a:t>
            </a:r>
            <a:endParaRPr lang="en-US" sz="1800" dirty="0"/>
          </a:p>
        </p:txBody>
      </p:sp>
      <p:sp>
        <p:nvSpPr>
          <p:cNvPr id="14" name="Shape 12"/>
          <p:cNvSpPr/>
          <p:nvPr/>
        </p:nvSpPr>
        <p:spPr>
          <a:xfrm>
            <a:off x="3692437" y="3240423"/>
            <a:ext cx="1645920" cy="1280160"/>
          </a:xfrm>
          <a:prstGeom prst="ellipse">
            <a:avLst/>
          </a:prstGeom>
          <a:solidFill>
            <a:srgbClr val="4FC3F7">
              <a:alpha val="40000"/>
            </a:srgbClr>
          </a:solidFill>
          <a:ln w="31750">
            <a:solidFill>
              <a:srgbClr val="4FC3F7"/>
            </a:solidFill>
            <a:prstDash val="solid"/>
          </a:ln>
        </p:spPr>
      </p:sp>
      <p:sp>
        <p:nvSpPr>
          <p:cNvPr id="15" name="Text 13"/>
          <p:cNvSpPr/>
          <p:nvPr/>
        </p:nvSpPr>
        <p:spPr>
          <a:xfrm>
            <a:off x="3692437" y="3240423"/>
            <a:ext cx="1645920" cy="1280160"/>
          </a:xfrm>
          <a:prstGeom prst="rect">
            <a:avLst/>
          </a:prstGeom>
          <a:noFill/>
          <a:ln/>
        </p:spPr>
        <p:txBody>
          <a:bodyPr wrap="square"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Observe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Text 2"/>
          <p:cNvSpPr/>
          <p:nvPr/>
        </p:nvSpPr>
        <p:spPr>
          <a:xfrm>
            <a:off x="731520" y="274320"/>
            <a:ext cx="10972800" cy="914400"/>
          </a:xfrm>
          <a:prstGeom prst="rect">
            <a:avLst/>
          </a:prstGeom>
          <a:noFill/>
          <a:ln/>
        </p:spPr>
        <p:txBody>
          <a:bodyPr wrap="square" rtlCol="0" anchor="ctr"/>
          <a:lstStyle/>
          <a:p>
            <a:pPr indent="0" marL="0">
              <a:buNone/>
            </a:pPr>
            <a:r>
              <a:rPr lang="en-US" sz="4000" b="1" dirty="0">
                <a:solidFill>
                  <a:srgbClr val="FFFFFF"/>
                </a:solidFill>
                <a:latin typeface="Montserrat" pitchFamily="34" charset="0"/>
                <a:ea typeface="Montserrat" pitchFamily="34" charset="-122"/>
                <a:cs typeface="Montserrat" pitchFamily="34" charset="-120"/>
              </a:rPr>
              <a:t>From LLMs to Agentic Systems</a:t>
            </a:r>
            <a:endParaRPr lang="en-US" sz="4000" dirty="0"/>
          </a:p>
        </p:txBody>
      </p:sp>
      <p:sp>
        <p:nvSpPr>
          <p:cNvPr id="5" name="Shape 3"/>
          <p:cNvSpPr/>
          <p:nvPr/>
        </p:nvSpPr>
        <p:spPr>
          <a:xfrm>
            <a:off x="731520" y="1645920"/>
            <a:ext cx="4114800" cy="822960"/>
          </a:xfrm>
          <a:prstGeom prst="roundRect">
            <a:avLst>
              <a:gd name="adj" fmla="val 6667"/>
            </a:avLst>
          </a:prstGeom>
          <a:solidFill>
            <a:srgbClr val="1A1F4E">
              <a:alpha val="70000"/>
            </a:srgbClr>
          </a:solidFill>
          <a:ln w="12700">
            <a:solidFill>
              <a:srgbClr val="5C6BC0"/>
            </a:solidFill>
            <a:prstDash val="solid"/>
          </a:ln>
        </p:spPr>
      </p:sp>
      <p:sp>
        <p:nvSpPr>
          <p:cNvPr id="6" name="Text 4"/>
          <p:cNvSpPr/>
          <p:nvPr/>
        </p:nvSpPr>
        <p:spPr>
          <a:xfrm>
            <a:off x="1005840" y="1645920"/>
            <a:ext cx="1851660" cy="822960"/>
          </a:xfrm>
          <a:prstGeom prst="rect">
            <a:avLst/>
          </a:prstGeom>
          <a:noFill/>
          <a:ln/>
        </p:spPr>
        <p:txBody>
          <a:bodyPr wrap="square" rtlCol="0" anchor="ctr"/>
          <a:lstStyle/>
          <a:p>
            <a:pPr indent="0" marL="0">
              <a:buNone/>
            </a:pPr>
            <a:r>
              <a:rPr lang="en-US" sz="2400" b="1" dirty="0">
                <a:solidFill>
                  <a:srgbClr val="FFFFFF"/>
                </a:solidFill>
                <a:latin typeface="Inter" pitchFamily="34" charset="0"/>
                <a:ea typeface="Inter" pitchFamily="34" charset="-122"/>
                <a:cs typeface="Inter" pitchFamily="34" charset="-120"/>
              </a:rPr>
              <a:t>L1  Chat</a:t>
            </a:r>
            <a:endParaRPr lang="en-US" sz="2400" dirty="0"/>
          </a:p>
        </p:txBody>
      </p:sp>
      <p:sp>
        <p:nvSpPr>
          <p:cNvPr id="7" name="Text 5"/>
          <p:cNvSpPr/>
          <p:nvPr/>
        </p:nvSpPr>
        <p:spPr>
          <a:xfrm>
            <a:off x="2857500" y="1645920"/>
            <a:ext cx="2057400" cy="822960"/>
          </a:xfrm>
          <a:prstGeom prst="rect">
            <a:avLst/>
          </a:prstGeom>
          <a:noFill/>
          <a:ln/>
        </p:spPr>
        <p:txBody>
          <a:bodyPr wrap="square" rtlCol="0" anchor="ctr"/>
          <a:lstStyle/>
          <a:p>
            <a:pPr indent="0" marL="0">
              <a:buNone/>
            </a:pPr>
            <a:r>
              <a:rPr lang="en-US" sz="2000" dirty="0">
                <a:solidFill>
                  <a:srgbClr val="90CAF9"/>
                </a:solidFill>
                <a:latin typeface="Inter" pitchFamily="34" charset="0"/>
                <a:ea typeface="Inter" pitchFamily="34" charset="-122"/>
                <a:cs typeface="Inter" pitchFamily="34" charset="-120"/>
              </a:rPr>
              <a:t>prompt → response</a:t>
            </a:r>
            <a:endParaRPr lang="en-US" sz="2000" dirty="0"/>
          </a:p>
        </p:txBody>
      </p:sp>
      <p:sp>
        <p:nvSpPr>
          <p:cNvPr id="8" name="Shape 6"/>
          <p:cNvSpPr/>
          <p:nvPr/>
        </p:nvSpPr>
        <p:spPr>
          <a:xfrm>
            <a:off x="731520" y="2651760"/>
            <a:ext cx="5577840" cy="822960"/>
          </a:xfrm>
          <a:prstGeom prst="roundRect">
            <a:avLst>
              <a:gd name="adj" fmla="val 6667"/>
            </a:avLst>
          </a:prstGeom>
          <a:solidFill>
            <a:srgbClr val="1A1F4E">
              <a:alpha val="70000"/>
            </a:srgbClr>
          </a:solidFill>
          <a:ln w="12700">
            <a:solidFill>
              <a:srgbClr val="5C6BC0"/>
            </a:solidFill>
            <a:prstDash val="solid"/>
          </a:ln>
        </p:spPr>
      </p:sp>
      <p:sp>
        <p:nvSpPr>
          <p:cNvPr id="9" name="Text 7"/>
          <p:cNvSpPr/>
          <p:nvPr/>
        </p:nvSpPr>
        <p:spPr>
          <a:xfrm>
            <a:off x="1005840" y="2651760"/>
            <a:ext cx="2510028" cy="822960"/>
          </a:xfrm>
          <a:prstGeom prst="rect">
            <a:avLst/>
          </a:prstGeom>
          <a:noFill/>
          <a:ln/>
        </p:spPr>
        <p:txBody>
          <a:bodyPr wrap="square" rtlCol="0" anchor="ctr"/>
          <a:lstStyle/>
          <a:p>
            <a:pPr indent="0" marL="0">
              <a:buNone/>
            </a:pPr>
            <a:r>
              <a:rPr lang="en-US" sz="2400" b="1" dirty="0">
                <a:solidFill>
                  <a:srgbClr val="FFFFFF"/>
                </a:solidFill>
                <a:latin typeface="Inter" pitchFamily="34" charset="0"/>
                <a:ea typeface="Inter" pitchFamily="34" charset="-122"/>
                <a:cs typeface="Inter" pitchFamily="34" charset="-120"/>
              </a:rPr>
              <a:t>L2  RAG</a:t>
            </a:r>
            <a:endParaRPr lang="en-US" sz="2400" dirty="0"/>
          </a:p>
        </p:txBody>
      </p:sp>
      <p:sp>
        <p:nvSpPr>
          <p:cNvPr id="10" name="Text 8"/>
          <p:cNvSpPr/>
          <p:nvPr/>
        </p:nvSpPr>
        <p:spPr>
          <a:xfrm>
            <a:off x="3515868" y="2651760"/>
            <a:ext cx="2788920" cy="822960"/>
          </a:xfrm>
          <a:prstGeom prst="rect">
            <a:avLst/>
          </a:prstGeom>
          <a:noFill/>
          <a:ln/>
        </p:spPr>
        <p:txBody>
          <a:bodyPr wrap="square" rtlCol="0" anchor="ctr"/>
          <a:lstStyle/>
          <a:p>
            <a:pPr indent="0" marL="0">
              <a:buNone/>
            </a:pPr>
            <a:r>
              <a:rPr lang="en-US" sz="2000" dirty="0">
                <a:solidFill>
                  <a:srgbClr val="90CAF9"/>
                </a:solidFill>
                <a:latin typeface="Inter" pitchFamily="34" charset="0"/>
                <a:ea typeface="Inter" pitchFamily="34" charset="-122"/>
                <a:cs typeface="Inter" pitchFamily="34" charset="-120"/>
              </a:rPr>
              <a:t>grounded answers</a:t>
            </a:r>
            <a:endParaRPr lang="en-US" sz="2000" dirty="0"/>
          </a:p>
        </p:txBody>
      </p:sp>
      <p:sp>
        <p:nvSpPr>
          <p:cNvPr id="11" name="Shape 9"/>
          <p:cNvSpPr/>
          <p:nvPr/>
        </p:nvSpPr>
        <p:spPr>
          <a:xfrm>
            <a:off x="731520" y="3657600"/>
            <a:ext cx="7040880" cy="822960"/>
          </a:xfrm>
          <a:prstGeom prst="roundRect">
            <a:avLst>
              <a:gd name="adj" fmla="val 6667"/>
            </a:avLst>
          </a:prstGeom>
          <a:solidFill>
            <a:srgbClr val="1A1F4E">
              <a:alpha val="70000"/>
            </a:srgbClr>
          </a:solidFill>
          <a:ln w="12700">
            <a:solidFill>
              <a:srgbClr val="5C6BC0"/>
            </a:solidFill>
            <a:prstDash val="solid"/>
          </a:ln>
        </p:spPr>
      </p:sp>
      <p:sp>
        <p:nvSpPr>
          <p:cNvPr id="12" name="Text 10"/>
          <p:cNvSpPr/>
          <p:nvPr/>
        </p:nvSpPr>
        <p:spPr>
          <a:xfrm>
            <a:off x="1005840" y="3657600"/>
            <a:ext cx="3168396" cy="822960"/>
          </a:xfrm>
          <a:prstGeom prst="rect">
            <a:avLst/>
          </a:prstGeom>
          <a:noFill/>
          <a:ln/>
        </p:spPr>
        <p:txBody>
          <a:bodyPr wrap="square" rtlCol="0" anchor="ctr"/>
          <a:lstStyle/>
          <a:p>
            <a:pPr indent="0" marL="0">
              <a:buNone/>
            </a:pPr>
            <a:r>
              <a:rPr lang="en-US" sz="2400" b="1" dirty="0">
                <a:solidFill>
                  <a:srgbClr val="FFFFFF"/>
                </a:solidFill>
                <a:latin typeface="Inter" pitchFamily="34" charset="0"/>
                <a:ea typeface="Inter" pitchFamily="34" charset="-122"/>
                <a:cs typeface="Inter" pitchFamily="34" charset="-120"/>
              </a:rPr>
              <a:t>L3  Tool Use</a:t>
            </a:r>
            <a:endParaRPr lang="en-US" sz="2400" dirty="0"/>
          </a:p>
        </p:txBody>
      </p:sp>
      <p:sp>
        <p:nvSpPr>
          <p:cNvPr id="13" name="Text 11"/>
          <p:cNvSpPr/>
          <p:nvPr/>
        </p:nvSpPr>
        <p:spPr>
          <a:xfrm>
            <a:off x="4174236" y="3657600"/>
            <a:ext cx="3520440" cy="822960"/>
          </a:xfrm>
          <a:prstGeom prst="rect">
            <a:avLst/>
          </a:prstGeom>
          <a:noFill/>
          <a:ln/>
        </p:spPr>
        <p:txBody>
          <a:bodyPr wrap="square" rtlCol="0" anchor="ctr"/>
          <a:lstStyle/>
          <a:p>
            <a:pPr indent="0" marL="0">
              <a:buNone/>
            </a:pPr>
            <a:r>
              <a:rPr lang="en-US" sz="2000" dirty="0">
                <a:solidFill>
                  <a:srgbClr val="90CAF9"/>
                </a:solidFill>
                <a:latin typeface="Inter" pitchFamily="34" charset="0"/>
                <a:ea typeface="Inter" pitchFamily="34" charset="-122"/>
                <a:cs typeface="Inter" pitchFamily="34" charset="-120"/>
              </a:rPr>
              <a:t>calls APIs</a:t>
            </a:r>
            <a:endParaRPr lang="en-US" sz="2000" dirty="0"/>
          </a:p>
        </p:txBody>
      </p:sp>
      <p:sp>
        <p:nvSpPr>
          <p:cNvPr id="14" name="Shape 12"/>
          <p:cNvSpPr/>
          <p:nvPr/>
        </p:nvSpPr>
        <p:spPr>
          <a:xfrm>
            <a:off x="731520" y="4663440"/>
            <a:ext cx="8503920" cy="822960"/>
          </a:xfrm>
          <a:prstGeom prst="roundRect">
            <a:avLst>
              <a:gd name="adj" fmla="val 6667"/>
            </a:avLst>
          </a:prstGeom>
          <a:solidFill>
            <a:srgbClr val="4FC3F7">
              <a:alpha val="50000"/>
            </a:srgbClr>
          </a:solidFill>
          <a:ln w="25400">
            <a:solidFill>
              <a:srgbClr val="4FC3F7"/>
            </a:solidFill>
            <a:prstDash val="solid"/>
          </a:ln>
        </p:spPr>
      </p:sp>
      <p:sp>
        <p:nvSpPr>
          <p:cNvPr id="15" name="Text 13"/>
          <p:cNvSpPr/>
          <p:nvPr/>
        </p:nvSpPr>
        <p:spPr>
          <a:xfrm>
            <a:off x="1005840" y="4663440"/>
            <a:ext cx="3826764" cy="822960"/>
          </a:xfrm>
          <a:prstGeom prst="rect">
            <a:avLst/>
          </a:prstGeom>
          <a:noFill/>
          <a:ln/>
        </p:spPr>
        <p:txBody>
          <a:bodyPr wrap="square" rtlCol="0" anchor="ctr"/>
          <a:lstStyle/>
          <a:p>
            <a:pPr indent="0" marL="0">
              <a:buNone/>
            </a:pPr>
            <a:r>
              <a:rPr lang="en-US" sz="2400" b="1" dirty="0">
                <a:solidFill>
                  <a:srgbClr val="FF9900"/>
                </a:solidFill>
                <a:latin typeface="Inter" pitchFamily="34" charset="0"/>
                <a:ea typeface="Inter" pitchFamily="34" charset="-122"/>
                <a:cs typeface="Inter" pitchFamily="34" charset="-120"/>
              </a:rPr>
              <a:t>L4  Agent</a:t>
            </a:r>
            <a:endParaRPr lang="en-US" sz="2400" dirty="0"/>
          </a:p>
        </p:txBody>
      </p:sp>
      <p:sp>
        <p:nvSpPr>
          <p:cNvPr id="16" name="Text 14"/>
          <p:cNvSpPr/>
          <p:nvPr/>
        </p:nvSpPr>
        <p:spPr>
          <a:xfrm>
            <a:off x="4832604" y="4663440"/>
            <a:ext cx="4251960" cy="822960"/>
          </a:xfrm>
          <a:prstGeom prst="rect">
            <a:avLst/>
          </a:prstGeom>
          <a:noFill/>
          <a:ln/>
        </p:spPr>
        <p:txBody>
          <a:bodyPr wrap="square" rtlCol="0" anchor="ctr"/>
          <a:lstStyle/>
          <a:p>
            <a:pPr indent="0" marL="0">
              <a:buNone/>
            </a:pPr>
            <a:r>
              <a:rPr lang="en-US" sz="2000" dirty="0">
                <a:solidFill>
                  <a:srgbClr val="90CAF9"/>
                </a:solidFill>
                <a:latin typeface="Inter" pitchFamily="34" charset="0"/>
                <a:ea typeface="Inter" pitchFamily="34" charset="-122"/>
                <a:cs typeface="Inter" pitchFamily="34" charset="-120"/>
              </a:rPr>
              <a:t>autonomous execution</a:t>
            </a:r>
            <a:endParaRPr lang="en-US" sz="2000" dirty="0"/>
          </a:p>
        </p:txBody>
      </p:sp>
      <p:sp>
        <p:nvSpPr>
          <p:cNvPr id="17" name="Shape 15"/>
          <p:cNvSpPr/>
          <p:nvPr/>
        </p:nvSpPr>
        <p:spPr>
          <a:xfrm>
            <a:off x="731520" y="5669280"/>
            <a:ext cx="9966960" cy="822960"/>
          </a:xfrm>
          <a:prstGeom prst="roundRect">
            <a:avLst>
              <a:gd name="adj" fmla="val 6667"/>
            </a:avLst>
          </a:prstGeom>
          <a:solidFill>
            <a:srgbClr val="FF9900">
              <a:alpha val="50000"/>
            </a:srgbClr>
          </a:solidFill>
          <a:ln w="25400">
            <a:solidFill>
              <a:srgbClr val="FF9900"/>
            </a:solidFill>
            <a:prstDash val="solid"/>
          </a:ln>
        </p:spPr>
      </p:sp>
      <p:sp>
        <p:nvSpPr>
          <p:cNvPr id="18" name="Text 16"/>
          <p:cNvSpPr/>
          <p:nvPr/>
        </p:nvSpPr>
        <p:spPr>
          <a:xfrm>
            <a:off x="1005840" y="5669280"/>
            <a:ext cx="4485132" cy="822960"/>
          </a:xfrm>
          <a:prstGeom prst="rect">
            <a:avLst/>
          </a:prstGeom>
          <a:noFill/>
          <a:ln/>
        </p:spPr>
        <p:txBody>
          <a:bodyPr wrap="square" rtlCol="0" anchor="ctr"/>
          <a:lstStyle/>
          <a:p>
            <a:pPr indent="0" marL="0">
              <a:buNone/>
            </a:pPr>
            <a:r>
              <a:rPr lang="en-US" sz="2400" b="1" dirty="0">
                <a:solidFill>
                  <a:srgbClr val="FF9900"/>
                </a:solidFill>
                <a:latin typeface="Inter" pitchFamily="34" charset="0"/>
                <a:ea typeface="Inter" pitchFamily="34" charset="-122"/>
                <a:cs typeface="Inter" pitchFamily="34" charset="-120"/>
              </a:rPr>
              <a:t>L5  Multi-Agent</a:t>
            </a:r>
            <a:endParaRPr lang="en-US" sz="2400" dirty="0"/>
          </a:p>
        </p:txBody>
      </p:sp>
      <p:sp>
        <p:nvSpPr>
          <p:cNvPr id="19" name="Text 17"/>
          <p:cNvSpPr/>
          <p:nvPr/>
        </p:nvSpPr>
        <p:spPr>
          <a:xfrm>
            <a:off x="5490972" y="5669280"/>
            <a:ext cx="4983480" cy="822960"/>
          </a:xfrm>
          <a:prstGeom prst="rect">
            <a:avLst/>
          </a:prstGeom>
          <a:noFill/>
          <a:ln/>
        </p:spPr>
        <p:txBody>
          <a:bodyPr wrap="square" rtlCol="0" anchor="ctr"/>
          <a:lstStyle/>
          <a:p>
            <a:pPr indent="0" marL="0">
              <a:buNone/>
            </a:pPr>
            <a:r>
              <a:rPr lang="en-US" sz="2000" dirty="0">
                <a:solidFill>
                  <a:srgbClr val="90CAF9"/>
                </a:solidFill>
                <a:latin typeface="Inter" pitchFamily="34" charset="0"/>
                <a:ea typeface="Inter" pitchFamily="34" charset="-122"/>
                <a:cs typeface="Inter" pitchFamily="34" charset="-120"/>
              </a:rPr>
              <a:t>collaboration</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Text 2"/>
          <p:cNvSpPr/>
          <p:nvPr/>
        </p:nvSpPr>
        <p:spPr>
          <a:xfrm>
            <a:off x="548640" y="274320"/>
            <a:ext cx="10972800" cy="914400"/>
          </a:xfrm>
          <a:prstGeom prst="rect">
            <a:avLst/>
          </a:prstGeom>
          <a:noFill/>
          <a:ln/>
        </p:spPr>
        <p:txBody>
          <a:bodyPr wrap="square" rtlCol="0" anchor="ctr"/>
          <a:lstStyle/>
          <a:p>
            <a:pPr indent="0" marL="0">
              <a:buNone/>
            </a:pPr>
            <a:r>
              <a:rPr lang="en-US" sz="4000" b="1" dirty="0">
                <a:solidFill>
                  <a:srgbClr val="FFFFFF"/>
                </a:solidFill>
                <a:latin typeface="Montserrat" pitchFamily="34" charset="0"/>
                <a:ea typeface="Montserrat" pitchFamily="34" charset="-122"/>
                <a:cs typeface="Montserrat" pitchFamily="34" charset="-120"/>
              </a:rPr>
              <a:t>AWS Services for Agentic AI</a:t>
            </a:r>
            <a:endParaRPr lang="en-US" sz="4000" dirty="0"/>
          </a:p>
        </p:txBody>
      </p:sp>
      <p:sp>
        <p:nvSpPr>
          <p:cNvPr id="5" name="Shape 3"/>
          <p:cNvSpPr/>
          <p:nvPr/>
        </p:nvSpPr>
        <p:spPr>
          <a:xfrm>
            <a:off x="457200" y="1645920"/>
            <a:ext cx="2651760" cy="4389120"/>
          </a:xfrm>
          <a:prstGeom prst="roundRect">
            <a:avLst>
              <a:gd name="adj" fmla="val 3448"/>
            </a:avLst>
          </a:prstGeom>
          <a:solidFill>
            <a:srgbClr val="1A1F4E">
              <a:alpha val="70000"/>
            </a:srgbClr>
          </a:solidFill>
          <a:ln w="19050">
            <a:solidFill>
              <a:srgbClr val="4FC3F7"/>
            </a:solidFill>
            <a:prstDash val="solid"/>
          </a:ln>
        </p:spPr>
      </p:sp>
      <p:sp>
        <p:nvSpPr>
          <p:cNvPr id="6" name="Text 4"/>
          <p:cNvSpPr/>
          <p:nvPr/>
        </p:nvSpPr>
        <p:spPr>
          <a:xfrm>
            <a:off x="457200" y="2011680"/>
            <a:ext cx="2651760" cy="914400"/>
          </a:xfrm>
          <a:prstGeom prst="rect">
            <a:avLst/>
          </a:prstGeom>
          <a:noFill/>
          <a:ln/>
        </p:spPr>
        <p:txBody>
          <a:bodyPr wrap="square" rtlCol="0" anchor="ctr"/>
          <a:lstStyle/>
          <a:p>
            <a:pPr algn="ctr" indent="0" marL="0">
              <a:buNone/>
            </a:pPr>
            <a:r>
              <a:rPr lang="en-US" sz="2000" b="1" dirty="0">
                <a:solidFill>
                  <a:srgbClr val="4FC3F7"/>
                </a:solidFill>
                <a:latin typeface="Inter" pitchFamily="34" charset="0"/>
                <a:ea typeface="Inter" pitchFamily="34" charset="-122"/>
                <a:cs typeface="Inter" pitchFamily="34" charset="-120"/>
              </a:rPr>
              <a:t>Bedrock</a:t>
            </a:r>
            <a:endParaRPr lang="en-US" sz="2000" dirty="0"/>
          </a:p>
        </p:txBody>
      </p:sp>
      <p:sp>
        <p:nvSpPr>
          <p:cNvPr id="7" name="Text 5"/>
          <p:cNvSpPr/>
          <p:nvPr/>
        </p:nvSpPr>
        <p:spPr>
          <a:xfrm>
            <a:off x="457200" y="3200400"/>
            <a:ext cx="2651760" cy="2560320"/>
          </a:xfrm>
          <a:prstGeom prst="rect">
            <a:avLst/>
          </a:prstGeom>
          <a:noFill/>
          <a:ln/>
        </p:spPr>
        <p:txBody>
          <a:bodyPr wrap="square" rtlCol="0" anchor="t"/>
          <a:lstStyle/>
          <a:p>
            <a:pPr algn="ctr" indent="0" marL="0">
              <a:buNone/>
            </a:pPr>
            <a:r>
              <a:rPr lang="en-US" sz="1800" dirty="0">
                <a:solidFill>
                  <a:srgbClr val="FFFFFF"/>
                </a:solidFill>
                <a:latin typeface="Inter" pitchFamily="34" charset="0"/>
                <a:ea typeface="Inter" pitchFamily="34" charset="-122"/>
                <a:cs typeface="Inter" pitchFamily="34" charset="-120"/>
              </a:rPr>
              <a:t>Foundation</a:t>
            </a:r>
            <a:endParaRPr lang="en-US" sz="1800" dirty="0"/>
          </a:p>
          <a:p>
            <a:pPr algn="ctr" indent="0" marL="0">
              <a:buNone/>
            </a:pPr>
            <a:r>
              <a:rPr lang="en-US" sz="1800" dirty="0">
                <a:solidFill>
                  <a:srgbClr val="FFFFFF"/>
                </a:solidFill>
                <a:latin typeface="Inter" pitchFamily="34" charset="0"/>
                <a:ea typeface="Inter" pitchFamily="34" charset="-122"/>
                <a:cs typeface="Inter" pitchFamily="34" charset="-120"/>
              </a:rPr>
              <a:t>models</a:t>
            </a:r>
            <a:endParaRPr lang="en-US" sz="1800" dirty="0"/>
          </a:p>
          <a:p>
            <a:pPr algn="ctr" indent="0" marL="0">
              <a:buNone/>
            </a:pPr>
            <a:r>
              <a:rPr lang="en-US" sz="1800" dirty="0">
                <a:solidFill>
                  <a:srgbClr val="FFFFFF"/>
                </a:solidFill>
                <a:latin typeface="Inter" pitchFamily="34" charset="0"/>
                <a:ea typeface="Inter" pitchFamily="34" charset="-122"/>
                <a:cs typeface="Inter" pitchFamily="34" charset="-120"/>
              </a:rPr>
              <a:t>as a service</a:t>
            </a:r>
            <a:endParaRPr lang="en-US" sz="1800" dirty="0"/>
          </a:p>
        </p:txBody>
      </p:sp>
      <p:sp>
        <p:nvSpPr>
          <p:cNvPr id="8" name="Shape 6"/>
          <p:cNvSpPr/>
          <p:nvPr/>
        </p:nvSpPr>
        <p:spPr>
          <a:xfrm>
            <a:off x="3383280" y="1645920"/>
            <a:ext cx="2651760" cy="4389120"/>
          </a:xfrm>
          <a:prstGeom prst="roundRect">
            <a:avLst>
              <a:gd name="adj" fmla="val 3448"/>
            </a:avLst>
          </a:prstGeom>
          <a:solidFill>
            <a:srgbClr val="1A1F4E">
              <a:alpha val="70000"/>
            </a:srgbClr>
          </a:solidFill>
          <a:ln w="19050">
            <a:solidFill>
              <a:srgbClr val="FF9900"/>
            </a:solidFill>
            <a:prstDash val="solid"/>
          </a:ln>
        </p:spPr>
      </p:sp>
      <p:sp>
        <p:nvSpPr>
          <p:cNvPr id="9" name="Text 7"/>
          <p:cNvSpPr/>
          <p:nvPr/>
        </p:nvSpPr>
        <p:spPr>
          <a:xfrm>
            <a:off x="3383280" y="2011680"/>
            <a:ext cx="2651760" cy="914400"/>
          </a:xfrm>
          <a:prstGeom prst="rect">
            <a:avLst/>
          </a:prstGeom>
          <a:noFill/>
          <a:ln/>
        </p:spPr>
        <p:txBody>
          <a:bodyPr wrap="square" rtlCol="0" anchor="ctr"/>
          <a:lstStyle/>
          <a:p>
            <a:pPr algn="ctr" indent="0" marL="0">
              <a:buNone/>
            </a:pPr>
            <a:r>
              <a:rPr lang="en-US" sz="2000" b="1" dirty="0">
                <a:solidFill>
                  <a:srgbClr val="FF9900"/>
                </a:solidFill>
                <a:latin typeface="Inter" pitchFamily="34" charset="0"/>
                <a:ea typeface="Inter" pitchFamily="34" charset="-122"/>
                <a:cs typeface="Inter" pitchFamily="34" charset="-120"/>
              </a:rPr>
              <a:t>AgentCore</a:t>
            </a:r>
            <a:endParaRPr lang="en-US" sz="2000" dirty="0"/>
          </a:p>
        </p:txBody>
      </p:sp>
      <p:sp>
        <p:nvSpPr>
          <p:cNvPr id="10" name="Text 8"/>
          <p:cNvSpPr/>
          <p:nvPr/>
        </p:nvSpPr>
        <p:spPr>
          <a:xfrm>
            <a:off x="3383280" y="3200400"/>
            <a:ext cx="2651760" cy="2560320"/>
          </a:xfrm>
          <a:prstGeom prst="rect">
            <a:avLst/>
          </a:prstGeom>
          <a:noFill/>
          <a:ln/>
        </p:spPr>
        <p:txBody>
          <a:bodyPr wrap="square" rtlCol="0" anchor="t"/>
          <a:lstStyle/>
          <a:p>
            <a:pPr algn="ctr" indent="0" marL="0">
              <a:buNone/>
            </a:pPr>
            <a:r>
              <a:rPr lang="en-US" sz="1800" dirty="0">
                <a:solidFill>
                  <a:srgbClr val="FFFFFF"/>
                </a:solidFill>
                <a:latin typeface="Inter" pitchFamily="34" charset="0"/>
                <a:ea typeface="Inter" pitchFamily="34" charset="-122"/>
                <a:cs typeface="Inter" pitchFamily="34" charset="-120"/>
              </a:rPr>
              <a:t>Serverless</a:t>
            </a:r>
            <a:endParaRPr lang="en-US" sz="1800" dirty="0"/>
          </a:p>
          <a:p>
            <a:pPr algn="ctr" indent="0" marL="0">
              <a:buNone/>
            </a:pPr>
            <a:r>
              <a:rPr lang="en-US" sz="1800" dirty="0">
                <a:solidFill>
                  <a:srgbClr val="FFFFFF"/>
                </a:solidFill>
                <a:latin typeface="Inter" pitchFamily="34" charset="0"/>
                <a:ea typeface="Inter" pitchFamily="34" charset="-122"/>
                <a:cs typeface="Inter" pitchFamily="34" charset="-120"/>
              </a:rPr>
              <a:t>agent</a:t>
            </a:r>
            <a:endParaRPr lang="en-US" sz="1800" dirty="0"/>
          </a:p>
          <a:p>
            <a:pPr algn="ctr" indent="0" marL="0">
              <a:buNone/>
            </a:pPr>
            <a:r>
              <a:rPr lang="en-US" sz="1800" dirty="0">
                <a:solidFill>
                  <a:srgbClr val="FFFFFF"/>
                </a:solidFill>
                <a:latin typeface="Inter" pitchFamily="34" charset="0"/>
                <a:ea typeface="Inter" pitchFamily="34" charset="-122"/>
                <a:cs typeface="Inter" pitchFamily="34" charset="-120"/>
              </a:rPr>
              <a:t>runtime</a:t>
            </a:r>
            <a:endParaRPr lang="en-US" sz="1800" dirty="0"/>
          </a:p>
        </p:txBody>
      </p:sp>
      <p:sp>
        <p:nvSpPr>
          <p:cNvPr id="11" name="Shape 9"/>
          <p:cNvSpPr/>
          <p:nvPr/>
        </p:nvSpPr>
        <p:spPr>
          <a:xfrm>
            <a:off x="6309360" y="1645920"/>
            <a:ext cx="2651760" cy="4389120"/>
          </a:xfrm>
          <a:prstGeom prst="roundRect">
            <a:avLst>
              <a:gd name="adj" fmla="val 3448"/>
            </a:avLst>
          </a:prstGeom>
          <a:solidFill>
            <a:srgbClr val="1A1F4E">
              <a:alpha val="70000"/>
            </a:srgbClr>
          </a:solidFill>
          <a:ln w="19050">
            <a:solidFill>
              <a:srgbClr val="69F0AE"/>
            </a:solidFill>
            <a:prstDash val="solid"/>
          </a:ln>
        </p:spPr>
      </p:sp>
      <p:sp>
        <p:nvSpPr>
          <p:cNvPr id="12" name="Text 10"/>
          <p:cNvSpPr/>
          <p:nvPr/>
        </p:nvSpPr>
        <p:spPr>
          <a:xfrm>
            <a:off x="6309360" y="2011680"/>
            <a:ext cx="2651760" cy="914400"/>
          </a:xfrm>
          <a:prstGeom prst="rect">
            <a:avLst/>
          </a:prstGeom>
          <a:noFill/>
          <a:ln/>
        </p:spPr>
        <p:txBody>
          <a:bodyPr wrap="square" rtlCol="0" anchor="ctr"/>
          <a:lstStyle/>
          <a:p>
            <a:pPr algn="ctr" indent="0" marL="0">
              <a:buNone/>
            </a:pPr>
            <a:r>
              <a:rPr lang="en-US" sz="2000" b="1" dirty="0">
                <a:solidFill>
                  <a:srgbClr val="69F0AE"/>
                </a:solidFill>
                <a:latin typeface="Inter" pitchFamily="34" charset="0"/>
                <a:ea typeface="Inter" pitchFamily="34" charset="-122"/>
                <a:cs typeface="Inter" pitchFamily="34" charset="-120"/>
              </a:rPr>
              <a:t>Lightsail</a:t>
            </a:r>
            <a:endParaRPr lang="en-US" sz="2000" dirty="0"/>
          </a:p>
        </p:txBody>
      </p:sp>
      <p:sp>
        <p:nvSpPr>
          <p:cNvPr id="13" name="Text 11"/>
          <p:cNvSpPr/>
          <p:nvPr/>
        </p:nvSpPr>
        <p:spPr>
          <a:xfrm>
            <a:off x="6309360" y="3200400"/>
            <a:ext cx="2651760" cy="2560320"/>
          </a:xfrm>
          <a:prstGeom prst="rect">
            <a:avLst/>
          </a:prstGeom>
          <a:noFill/>
          <a:ln/>
        </p:spPr>
        <p:txBody>
          <a:bodyPr wrap="square" rtlCol="0" anchor="t"/>
          <a:lstStyle/>
          <a:p>
            <a:pPr algn="ctr" indent="0" marL="0">
              <a:buNone/>
            </a:pPr>
            <a:r>
              <a:rPr lang="en-US" sz="1800" dirty="0">
                <a:solidFill>
                  <a:srgbClr val="FFFFFF"/>
                </a:solidFill>
                <a:latin typeface="Inter" pitchFamily="34" charset="0"/>
                <a:ea typeface="Inter" pitchFamily="34" charset="-122"/>
                <a:cs typeface="Inter" pitchFamily="34" charset="-120"/>
              </a:rPr>
              <a:t>One-click</a:t>
            </a:r>
            <a:endParaRPr lang="en-US" sz="1800" dirty="0"/>
          </a:p>
          <a:p>
            <a:pPr algn="ctr" indent="0" marL="0">
              <a:buNone/>
            </a:pPr>
            <a:r>
              <a:rPr lang="en-US" sz="1800" dirty="0">
                <a:solidFill>
                  <a:srgbClr val="FFFFFF"/>
                </a:solidFill>
                <a:latin typeface="Inter" pitchFamily="34" charset="0"/>
                <a:ea typeface="Inter" pitchFamily="34" charset="-122"/>
                <a:cs typeface="Inter" pitchFamily="34" charset="-120"/>
              </a:rPr>
              <a:t>OpenClaw</a:t>
            </a:r>
            <a:endParaRPr lang="en-US" sz="1800" dirty="0"/>
          </a:p>
          <a:p>
            <a:pPr algn="ctr" indent="0" marL="0">
              <a:buNone/>
            </a:pPr>
            <a:r>
              <a:rPr lang="en-US" sz="1800" dirty="0">
                <a:solidFill>
                  <a:srgbClr val="FFFFFF"/>
                </a:solidFill>
                <a:latin typeface="Inter" pitchFamily="34" charset="0"/>
                <a:ea typeface="Inter" pitchFamily="34" charset="-122"/>
                <a:cs typeface="Inter" pitchFamily="34" charset="-120"/>
              </a:rPr>
              <a:t>blueprint</a:t>
            </a:r>
            <a:endParaRPr lang="en-US" sz="1800" dirty="0"/>
          </a:p>
        </p:txBody>
      </p:sp>
      <p:sp>
        <p:nvSpPr>
          <p:cNvPr id="14" name="Shape 12"/>
          <p:cNvSpPr/>
          <p:nvPr/>
        </p:nvSpPr>
        <p:spPr>
          <a:xfrm>
            <a:off x="9235440" y="1645920"/>
            <a:ext cx="2651760" cy="4389120"/>
          </a:xfrm>
          <a:prstGeom prst="roundRect">
            <a:avLst>
              <a:gd name="adj" fmla="val 3448"/>
            </a:avLst>
          </a:prstGeom>
          <a:solidFill>
            <a:srgbClr val="1A1F4E">
              <a:alpha val="70000"/>
            </a:srgbClr>
          </a:solidFill>
          <a:ln w="19050">
            <a:solidFill>
              <a:srgbClr val="CE93D8"/>
            </a:solidFill>
            <a:prstDash val="solid"/>
          </a:ln>
        </p:spPr>
      </p:sp>
      <p:sp>
        <p:nvSpPr>
          <p:cNvPr id="15" name="Text 13"/>
          <p:cNvSpPr/>
          <p:nvPr/>
        </p:nvSpPr>
        <p:spPr>
          <a:xfrm>
            <a:off x="9235440" y="2011680"/>
            <a:ext cx="2651760" cy="914400"/>
          </a:xfrm>
          <a:prstGeom prst="rect">
            <a:avLst/>
          </a:prstGeom>
          <a:noFill/>
          <a:ln/>
        </p:spPr>
        <p:txBody>
          <a:bodyPr wrap="square" rtlCol="0" anchor="ctr"/>
          <a:lstStyle/>
          <a:p>
            <a:pPr algn="ctr" indent="0" marL="0">
              <a:buNone/>
            </a:pPr>
            <a:r>
              <a:rPr lang="en-US" sz="2000" b="1" dirty="0">
                <a:solidFill>
                  <a:srgbClr val="CE93D8"/>
                </a:solidFill>
                <a:latin typeface="Inter" pitchFamily="34" charset="0"/>
                <a:ea typeface="Inter" pitchFamily="34" charset="-122"/>
                <a:cs typeface="Inter" pitchFamily="34" charset="-120"/>
              </a:rPr>
              <a:t>EC2 / EKS</a:t>
            </a:r>
            <a:endParaRPr lang="en-US" sz="2000" dirty="0"/>
          </a:p>
        </p:txBody>
      </p:sp>
      <p:sp>
        <p:nvSpPr>
          <p:cNvPr id="16" name="Text 14"/>
          <p:cNvSpPr/>
          <p:nvPr/>
        </p:nvSpPr>
        <p:spPr>
          <a:xfrm>
            <a:off x="9235440" y="3200400"/>
            <a:ext cx="2651760" cy="2560320"/>
          </a:xfrm>
          <a:prstGeom prst="rect">
            <a:avLst/>
          </a:prstGeom>
          <a:noFill/>
          <a:ln/>
        </p:spPr>
        <p:txBody>
          <a:bodyPr wrap="square" rtlCol="0" anchor="t"/>
          <a:lstStyle/>
          <a:p>
            <a:pPr algn="ctr" indent="0" marL="0">
              <a:buNone/>
            </a:pPr>
            <a:r>
              <a:rPr lang="en-US" sz="1800" dirty="0">
                <a:solidFill>
                  <a:srgbClr val="FFFFFF"/>
                </a:solidFill>
                <a:latin typeface="Inter" pitchFamily="34" charset="0"/>
                <a:ea typeface="Inter" pitchFamily="34" charset="-122"/>
                <a:cs typeface="Inter" pitchFamily="34" charset="-120"/>
              </a:rPr>
              <a:t>Full control</a:t>
            </a:r>
            <a:endParaRPr lang="en-US" sz="1800" dirty="0"/>
          </a:p>
          <a:p>
            <a:pPr algn="ctr" indent="0" marL="0">
              <a:buNone/>
            </a:pPr>
            <a:r>
              <a:rPr lang="en-US" sz="1800" dirty="0">
                <a:solidFill>
                  <a:srgbClr val="FFFFFF"/>
                </a:solidFill>
                <a:latin typeface="Inter" pitchFamily="34" charset="0"/>
                <a:ea typeface="Inter" pitchFamily="34" charset="-122"/>
                <a:cs typeface="Inter" pitchFamily="34" charset="-120"/>
              </a:rPr>
              <a:t>enterprise</a:t>
            </a:r>
            <a:endParaRPr lang="en-US" sz="1800" dirty="0"/>
          </a:p>
          <a:p>
            <a:pPr algn="ctr" indent="0" marL="0">
              <a:buNone/>
            </a:pPr>
            <a:r>
              <a:rPr lang="en-US" sz="1800" dirty="0">
                <a:solidFill>
                  <a:srgbClr val="FFFFFF"/>
                </a:solidFill>
                <a:latin typeface="Inter" pitchFamily="34" charset="0"/>
                <a:ea typeface="Inter" pitchFamily="34" charset="-122"/>
                <a:cs typeface="Inter" pitchFamily="34" charset="-120"/>
              </a:rPr>
              <a:t>scale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Text 2"/>
          <p:cNvSpPr/>
          <p:nvPr/>
        </p:nvSpPr>
        <p:spPr>
          <a:xfrm>
            <a:off x="365760" y="274320"/>
            <a:ext cx="10972800" cy="914400"/>
          </a:xfrm>
          <a:prstGeom prst="rect">
            <a:avLst/>
          </a:prstGeom>
          <a:noFill/>
          <a:ln/>
        </p:spPr>
        <p:txBody>
          <a:bodyPr wrap="square" rtlCol="0" anchor="ctr"/>
          <a:lstStyle/>
          <a:p>
            <a:pPr indent="0" marL="0">
              <a:buNone/>
            </a:pPr>
            <a:r>
              <a:rPr lang="en-US" sz="4000" b="1" dirty="0">
                <a:solidFill>
                  <a:srgbClr val="FFFFFF"/>
                </a:solidFill>
                <a:latin typeface="Montserrat" pitchFamily="34" charset="0"/>
                <a:ea typeface="Montserrat" pitchFamily="34" charset="-122"/>
                <a:cs typeface="Montserrat" pitchFamily="34" charset="-120"/>
              </a:rPr>
              <a:t>The AgentCore Ecosystem</a:t>
            </a:r>
            <a:endParaRPr lang="en-US" sz="4000" dirty="0"/>
          </a:p>
        </p:txBody>
      </p:sp>
      <p:sp>
        <p:nvSpPr>
          <p:cNvPr id="5" name="Text 3"/>
          <p:cNvSpPr/>
          <p:nvPr/>
        </p:nvSpPr>
        <p:spPr>
          <a:xfrm>
            <a:off x="365760" y="1188720"/>
            <a:ext cx="10972800" cy="548640"/>
          </a:xfrm>
          <a:prstGeom prst="rect">
            <a:avLst/>
          </a:prstGeom>
          <a:noFill/>
          <a:ln/>
        </p:spPr>
        <p:txBody>
          <a:bodyPr wrap="square" rtlCol="0" anchor="ctr"/>
          <a:lstStyle/>
          <a:p>
            <a:pPr indent="0" marL="0">
              <a:buNone/>
            </a:pPr>
            <a:r>
              <a:rPr lang="en-US" sz="2400" dirty="0">
                <a:solidFill>
                  <a:srgbClr val="90CAF9"/>
                </a:solidFill>
                <a:latin typeface="Inter" pitchFamily="34" charset="0"/>
                <a:ea typeface="Inter" pitchFamily="34" charset="-122"/>
                <a:cs typeface="Inter" pitchFamily="34" charset="-120"/>
              </a:rPr>
              <a:t>Serverless  ·  Framework-agnostic  ·  Pay-per-use</a:t>
            </a:r>
            <a:endParaRPr lang="en-US" sz="2400" dirty="0"/>
          </a:p>
        </p:txBody>
      </p:sp>
      <p:sp>
        <p:nvSpPr>
          <p:cNvPr id="6" name="Shape 4"/>
          <p:cNvSpPr/>
          <p:nvPr/>
        </p:nvSpPr>
        <p:spPr>
          <a:xfrm>
            <a:off x="274320" y="2286000"/>
            <a:ext cx="2194560" cy="3657600"/>
          </a:xfrm>
          <a:prstGeom prst="roundRect">
            <a:avLst>
              <a:gd name="adj" fmla="val 4167"/>
            </a:avLst>
          </a:prstGeom>
          <a:solidFill>
            <a:srgbClr val="1A1F4E">
              <a:alpha val="70000"/>
            </a:srgbClr>
          </a:solidFill>
          <a:ln w="19050">
            <a:solidFill>
              <a:srgbClr val="4FC3F7"/>
            </a:solidFill>
            <a:prstDash val="solid"/>
          </a:ln>
        </p:spPr>
      </p:sp>
      <p:sp>
        <p:nvSpPr>
          <p:cNvPr id="7" name="Shape 5"/>
          <p:cNvSpPr/>
          <p:nvPr/>
        </p:nvSpPr>
        <p:spPr>
          <a:xfrm>
            <a:off x="1005840" y="2560320"/>
            <a:ext cx="731520" cy="731520"/>
          </a:xfrm>
          <a:prstGeom prst="ellipse">
            <a:avLst/>
          </a:prstGeom>
          <a:solidFill>
            <a:srgbClr val="4FC3F7">
              <a:alpha val="50000"/>
            </a:srgbClr>
          </a:solidFill>
          <a:ln w="25400">
            <a:solidFill>
              <a:srgbClr val="4FC3F7"/>
            </a:solidFill>
            <a:prstDash val="solid"/>
          </a:ln>
        </p:spPr>
      </p:sp>
      <p:sp>
        <p:nvSpPr>
          <p:cNvPr id="8" name="Text 6"/>
          <p:cNvSpPr/>
          <p:nvPr/>
        </p:nvSpPr>
        <p:spPr>
          <a:xfrm>
            <a:off x="274320" y="3474720"/>
            <a:ext cx="2194560" cy="731520"/>
          </a:xfrm>
          <a:prstGeom prst="rect">
            <a:avLst/>
          </a:prstGeom>
          <a:noFill/>
          <a:ln/>
        </p:spPr>
        <p:txBody>
          <a:bodyPr wrap="square" rtlCol="0" anchor="ctr"/>
          <a:lstStyle/>
          <a:p>
            <a:pPr algn="ctr" indent="0" marL="0">
              <a:buNone/>
            </a:pPr>
            <a:r>
              <a:rPr lang="en-US" sz="2200" b="1" dirty="0">
                <a:solidFill>
                  <a:srgbClr val="4FC3F7"/>
                </a:solidFill>
                <a:latin typeface="Inter" pitchFamily="34" charset="0"/>
                <a:ea typeface="Inter" pitchFamily="34" charset="-122"/>
                <a:cs typeface="Inter" pitchFamily="34" charset="-120"/>
              </a:rPr>
              <a:t>Runtime</a:t>
            </a:r>
            <a:endParaRPr lang="en-US" sz="2200" dirty="0"/>
          </a:p>
        </p:txBody>
      </p:sp>
      <p:sp>
        <p:nvSpPr>
          <p:cNvPr id="9" name="Text 7"/>
          <p:cNvSpPr/>
          <p:nvPr/>
        </p:nvSpPr>
        <p:spPr>
          <a:xfrm>
            <a:off x="274320" y="4206240"/>
            <a:ext cx="2194560" cy="137160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Firecracker</a:t>
            </a:r>
            <a:endParaRPr lang="en-US" sz="1800" dirty="0"/>
          </a:p>
          <a:p>
            <a:pPr algn="ctr" indent="0" marL="0">
              <a:buNone/>
            </a:pPr>
            <a:r>
              <a:rPr lang="en-US" sz="1800" dirty="0">
                <a:solidFill>
                  <a:srgbClr val="FFFFFF"/>
                </a:solidFill>
                <a:latin typeface="Inter" pitchFamily="34" charset="0"/>
                <a:ea typeface="Inter" pitchFamily="34" charset="-122"/>
                <a:cs typeface="Inter" pitchFamily="34" charset="-120"/>
              </a:rPr>
              <a:t>microVMs</a:t>
            </a:r>
            <a:endParaRPr lang="en-US" sz="1800" dirty="0"/>
          </a:p>
        </p:txBody>
      </p:sp>
      <p:sp>
        <p:nvSpPr>
          <p:cNvPr id="10" name="Shape 8"/>
          <p:cNvSpPr/>
          <p:nvPr/>
        </p:nvSpPr>
        <p:spPr>
          <a:xfrm>
            <a:off x="2651760" y="2286000"/>
            <a:ext cx="2194560" cy="3657600"/>
          </a:xfrm>
          <a:prstGeom prst="roundRect">
            <a:avLst>
              <a:gd name="adj" fmla="val 4167"/>
            </a:avLst>
          </a:prstGeom>
          <a:solidFill>
            <a:srgbClr val="1A1F4E">
              <a:alpha val="70000"/>
            </a:srgbClr>
          </a:solidFill>
          <a:ln w="19050">
            <a:solidFill>
              <a:srgbClr val="FF9900"/>
            </a:solidFill>
            <a:prstDash val="solid"/>
          </a:ln>
        </p:spPr>
      </p:sp>
      <p:sp>
        <p:nvSpPr>
          <p:cNvPr id="11" name="Shape 9"/>
          <p:cNvSpPr/>
          <p:nvPr/>
        </p:nvSpPr>
        <p:spPr>
          <a:xfrm>
            <a:off x="3383280" y="2560320"/>
            <a:ext cx="731520" cy="731520"/>
          </a:xfrm>
          <a:prstGeom prst="ellipse">
            <a:avLst/>
          </a:prstGeom>
          <a:solidFill>
            <a:srgbClr val="FF9900">
              <a:alpha val="50000"/>
            </a:srgbClr>
          </a:solidFill>
          <a:ln w="25400">
            <a:solidFill>
              <a:srgbClr val="FF9900"/>
            </a:solidFill>
            <a:prstDash val="solid"/>
          </a:ln>
        </p:spPr>
      </p:sp>
      <p:sp>
        <p:nvSpPr>
          <p:cNvPr id="12" name="Text 10"/>
          <p:cNvSpPr/>
          <p:nvPr/>
        </p:nvSpPr>
        <p:spPr>
          <a:xfrm>
            <a:off x="2651760" y="3474720"/>
            <a:ext cx="2194560" cy="731520"/>
          </a:xfrm>
          <a:prstGeom prst="rect">
            <a:avLst/>
          </a:prstGeom>
          <a:noFill/>
          <a:ln/>
        </p:spPr>
        <p:txBody>
          <a:bodyPr wrap="square" rtlCol="0" anchor="ctr"/>
          <a:lstStyle/>
          <a:p>
            <a:pPr algn="ctr" indent="0" marL="0">
              <a:buNone/>
            </a:pPr>
            <a:r>
              <a:rPr lang="en-US" sz="2200" b="1" dirty="0">
                <a:solidFill>
                  <a:srgbClr val="FF9900"/>
                </a:solidFill>
                <a:latin typeface="Inter" pitchFamily="34" charset="0"/>
                <a:ea typeface="Inter" pitchFamily="34" charset="-122"/>
                <a:cs typeface="Inter" pitchFamily="34" charset="-120"/>
              </a:rPr>
              <a:t>Memory</a:t>
            </a:r>
            <a:endParaRPr lang="en-US" sz="2200" dirty="0"/>
          </a:p>
        </p:txBody>
      </p:sp>
      <p:sp>
        <p:nvSpPr>
          <p:cNvPr id="13" name="Text 11"/>
          <p:cNvSpPr/>
          <p:nvPr/>
        </p:nvSpPr>
        <p:spPr>
          <a:xfrm>
            <a:off x="2651760" y="4206240"/>
            <a:ext cx="2194560" cy="137160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~200ms</a:t>
            </a:r>
            <a:endParaRPr lang="en-US" sz="1800" dirty="0"/>
          </a:p>
          <a:p>
            <a:pPr algn="ctr" indent="0" marL="0">
              <a:buNone/>
            </a:pPr>
            <a:r>
              <a:rPr lang="en-US" sz="1800" dirty="0">
                <a:solidFill>
                  <a:srgbClr val="FFFFFF"/>
                </a:solidFill>
                <a:latin typeface="Inter" pitchFamily="34" charset="0"/>
                <a:ea typeface="Inter" pitchFamily="34" charset="-122"/>
                <a:cs typeface="Inter" pitchFamily="34" charset="-120"/>
              </a:rPr>
              <a:t>S3-backed</a:t>
            </a:r>
            <a:endParaRPr lang="en-US" sz="1800" dirty="0"/>
          </a:p>
        </p:txBody>
      </p:sp>
      <p:sp>
        <p:nvSpPr>
          <p:cNvPr id="14" name="Shape 12"/>
          <p:cNvSpPr/>
          <p:nvPr/>
        </p:nvSpPr>
        <p:spPr>
          <a:xfrm>
            <a:off x="5029200" y="2286000"/>
            <a:ext cx="2194560" cy="3657600"/>
          </a:xfrm>
          <a:prstGeom prst="roundRect">
            <a:avLst>
              <a:gd name="adj" fmla="val 4167"/>
            </a:avLst>
          </a:prstGeom>
          <a:solidFill>
            <a:srgbClr val="1A1F4E">
              <a:alpha val="70000"/>
            </a:srgbClr>
          </a:solidFill>
          <a:ln w="19050">
            <a:solidFill>
              <a:srgbClr val="69F0AE"/>
            </a:solidFill>
            <a:prstDash val="solid"/>
          </a:ln>
        </p:spPr>
      </p:sp>
      <p:sp>
        <p:nvSpPr>
          <p:cNvPr id="15" name="Shape 13"/>
          <p:cNvSpPr/>
          <p:nvPr/>
        </p:nvSpPr>
        <p:spPr>
          <a:xfrm>
            <a:off x="5760720" y="2560320"/>
            <a:ext cx="731520" cy="731520"/>
          </a:xfrm>
          <a:prstGeom prst="ellipse">
            <a:avLst/>
          </a:prstGeom>
          <a:solidFill>
            <a:srgbClr val="69F0AE">
              <a:alpha val="50000"/>
            </a:srgbClr>
          </a:solidFill>
          <a:ln w="25400">
            <a:solidFill>
              <a:srgbClr val="69F0AE"/>
            </a:solidFill>
            <a:prstDash val="solid"/>
          </a:ln>
        </p:spPr>
      </p:sp>
      <p:sp>
        <p:nvSpPr>
          <p:cNvPr id="16" name="Text 14"/>
          <p:cNvSpPr/>
          <p:nvPr/>
        </p:nvSpPr>
        <p:spPr>
          <a:xfrm>
            <a:off x="5029200" y="3474720"/>
            <a:ext cx="2194560" cy="731520"/>
          </a:xfrm>
          <a:prstGeom prst="rect">
            <a:avLst/>
          </a:prstGeom>
          <a:noFill/>
          <a:ln/>
        </p:spPr>
        <p:txBody>
          <a:bodyPr wrap="square" rtlCol="0" anchor="ctr"/>
          <a:lstStyle/>
          <a:p>
            <a:pPr algn="ctr" indent="0" marL="0">
              <a:buNone/>
            </a:pPr>
            <a:r>
              <a:rPr lang="en-US" sz="2200" b="1" dirty="0">
                <a:solidFill>
                  <a:srgbClr val="69F0AE"/>
                </a:solidFill>
                <a:latin typeface="Inter" pitchFamily="34" charset="0"/>
                <a:ea typeface="Inter" pitchFamily="34" charset="-122"/>
                <a:cs typeface="Inter" pitchFamily="34" charset="-120"/>
              </a:rPr>
              <a:t>Browser</a:t>
            </a:r>
            <a:endParaRPr lang="en-US" sz="2200" dirty="0"/>
          </a:p>
        </p:txBody>
      </p:sp>
      <p:sp>
        <p:nvSpPr>
          <p:cNvPr id="17" name="Text 15"/>
          <p:cNvSpPr/>
          <p:nvPr/>
        </p:nvSpPr>
        <p:spPr>
          <a:xfrm>
            <a:off x="5029200" y="4206240"/>
            <a:ext cx="2194560" cy="137160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Headless</a:t>
            </a:r>
            <a:endParaRPr lang="en-US" sz="1800" dirty="0"/>
          </a:p>
          <a:p>
            <a:pPr algn="ctr" indent="0" marL="0">
              <a:buNone/>
            </a:pPr>
            <a:r>
              <a:rPr lang="en-US" sz="1800" dirty="0">
                <a:solidFill>
                  <a:srgbClr val="FFFFFF"/>
                </a:solidFill>
                <a:latin typeface="Inter" pitchFamily="34" charset="0"/>
                <a:ea typeface="Inter" pitchFamily="34" charset="-122"/>
                <a:cs typeface="Inter" pitchFamily="34" charset="-120"/>
              </a:rPr>
              <a:t>automation</a:t>
            </a:r>
            <a:endParaRPr lang="en-US" sz="1800" dirty="0"/>
          </a:p>
        </p:txBody>
      </p:sp>
      <p:sp>
        <p:nvSpPr>
          <p:cNvPr id="18" name="Shape 16"/>
          <p:cNvSpPr/>
          <p:nvPr/>
        </p:nvSpPr>
        <p:spPr>
          <a:xfrm>
            <a:off x="7406640" y="2286000"/>
            <a:ext cx="2194560" cy="3657600"/>
          </a:xfrm>
          <a:prstGeom prst="roundRect">
            <a:avLst>
              <a:gd name="adj" fmla="val 4167"/>
            </a:avLst>
          </a:prstGeom>
          <a:solidFill>
            <a:srgbClr val="1A1F4E">
              <a:alpha val="70000"/>
            </a:srgbClr>
          </a:solidFill>
          <a:ln w="19050">
            <a:solidFill>
              <a:srgbClr val="CE93D8"/>
            </a:solidFill>
            <a:prstDash val="solid"/>
          </a:ln>
        </p:spPr>
      </p:sp>
      <p:sp>
        <p:nvSpPr>
          <p:cNvPr id="19" name="Shape 17"/>
          <p:cNvSpPr/>
          <p:nvPr/>
        </p:nvSpPr>
        <p:spPr>
          <a:xfrm>
            <a:off x="8138160" y="2560320"/>
            <a:ext cx="731520" cy="731520"/>
          </a:xfrm>
          <a:prstGeom prst="ellipse">
            <a:avLst/>
          </a:prstGeom>
          <a:solidFill>
            <a:srgbClr val="CE93D8">
              <a:alpha val="50000"/>
            </a:srgbClr>
          </a:solidFill>
          <a:ln w="25400">
            <a:solidFill>
              <a:srgbClr val="CE93D8"/>
            </a:solidFill>
            <a:prstDash val="solid"/>
          </a:ln>
        </p:spPr>
      </p:sp>
      <p:sp>
        <p:nvSpPr>
          <p:cNvPr id="20" name="Text 18"/>
          <p:cNvSpPr/>
          <p:nvPr/>
        </p:nvSpPr>
        <p:spPr>
          <a:xfrm>
            <a:off x="7406640" y="3474720"/>
            <a:ext cx="2194560" cy="731520"/>
          </a:xfrm>
          <a:prstGeom prst="rect">
            <a:avLst/>
          </a:prstGeom>
          <a:noFill/>
          <a:ln/>
        </p:spPr>
        <p:txBody>
          <a:bodyPr wrap="square" rtlCol="0" anchor="ctr"/>
          <a:lstStyle/>
          <a:p>
            <a:pPr algn="ctr" indent="0" marL="0">
              <a:buNone/>
            </a:pPr>
            <a:r>
              <a:rPr lang="en-US" sz="2200" b="1" dirty="0">
                <a:solidFill>
                  <a:srgbClr val="CE93D8"/>
                </a:solidFill>
                <a:latin typeface="Inter" pitchFamily="34" charset="0"/>
                <a:ea typeface="Inter" pitchFamily="34" charset="-122"/>
                <a:cs typeface="Inter" pitchFamily="34" charset="-120"/>
              </a:rPr>
              <a:t>Tools</a:t>
            </a:r>
            <a:endParaRPr lang="en-US" sz="2200" dirty="0"/>
          </a:p>
        </p:txBody>
      </p:sp>
      <p:sp>
        <p:nvSpPr>
          <p:cNvPr id="21" name="Text 19"/>
          <p:cNvSpPr/>
          <p:nvPr/>
        </p:nvSpPr>
        <p:spPr>
          <a:xfrm>
            <a:off x="7406640" y="4206240"/>
            <a:ext cx="2194560" cy="137160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Code exec</a:t>
            </a:r>
            <a:endParaRPr lang="en-US" sz="1800" dirty="0"/>
          </a:p>
          <a:p>
            <a:pPr algn="ctr" indent="0" marL="0">
              <a:buNone/>
            </a:pPr>
            <a:r>
              <a:rPr lang="en-US" sz="1800" dirty="0">
                <a:solidFill>
                  <a:srgbClr val="FFFFFF"/>
                </a:solidFill>
                <a:latin typeface="Inter" pitchFamily="34" charset="0"/>
                <a:ea typeface="Inter" pitchFamily="34" charset="-122"/>
                <a:cs typeface="Inter" pitchFamily="34" charset="-120"/>
              </a:rPr>
              <a:t>&amp; search</a:t>
            </a:r>
            <a:endParaRPr lang="en-US" sz="1800" dirty="0"/>
          </a:p>
        </p:txBody>
      </p:sp>
      <p:sp>
        <p:nvSpPr>
          <p:cNvPr id="22" name="Shape 20"/>
          <p:cNvSpPr/>
          <p:nvPr/>
        </p:nvSpPr>
        <p:spPr>
          <a:xfrm>
            <a:off x="9784080" y="2286000"/>
            <a:ext cx="2194560" cy="3657600"/>
          </a:xfrm>
          <a:prstGeom prst="roundRect">
            <a:avLst>
              <a:gd name="adj" fmla="val 4167"/>
            </a:avLst>
          </a:prstGeom>
          <a:solidFill>
            <a:srgbClr val="1A1F4E">
              <a:alpha val="70000"/>
            </a:srgbClr>
          </a:solidFill>
          <a:ln w="19050">
            <a:solidFill>
              <a:srgbClr val="4FC3F7"/>
            </a:solidFill>
            <a:prstDash val="solid"/>
          </a:ln>
        </p:spPr>
      </p:sp>
      <p:sp>
        <p:nvSpPr>
          <p:cNvPr id="23" name="Shape 21"/>
          <p:cNvSpPr/>
          <p:nvPr/>
        </p:nvSpPr>
        <p:spPr>
          <a:xfrm>
            <a:off x="10515600" y="2560320"/>
            <a:ext cx="731520" cy="731520"/>
          </a:xfrm>
          <a:prstGeom prst="ellipse">
            <a:avLst/>
          </a:prstGeom>
          <a:solidFill>
            <a:srgbClr val="4FC3F7">
              <a:alpha val="50000"/>
            </a:srgbClr>
          </a:solidFill>
          <a:ln w="25400">
            <a:solidFill>
              <a:srgbClr val="4FC3F7"/>
            </a:solidFill>
            <a:prstDash val="solid"/>
          </a:ln>
        </p:spPr>
      </p:sp>
      <p:sp>
        <p:nvSpPr>
          <p:cNvPr id="24" name="Text 22"/>
          <p:cNvSpPr/>
          <p:nvPr/>
        </p:nvSpPr>
        <p:spPr>
          <a:xfrm>
            <a:off x="9784080" y="3474720"/>
            <a:ext cx="2194560" cy="731520"/>
          </a:xfrm>
          <a:prstGeom prst="rect">
            <a:avLst/>
          </a:prstGeom>
          <a:noFill/>
          <a:ln/>
        </p:spPr>
        <p:txBody>
          <a:bodyPr wrap="square" rtlCol="0" anchor="ctr"/>
          <a:lstStyle/>
          <a:p>
            <a:pPr algn="ctr" indent="0" marL="0">
              <a:buNone/>
            </a:pPr>
            <a:r>
              <a:rPr lang="en-US" sz="2200" b="1" dirty="0">
                <a:solidFill>
                  <a:srgbClr val="4FC3F7"/>
                </a:solidFill>
                <a:latin typeface="Inter" pitchFamily="34" charset="0"/>
                <a:ea typeface="Inter" pitchFamily="34" charset="-122"/>
                <a:cs typeface="Inter" pitchFamily="34" charset="-120"/>
              </a:rPr>
              <a:t>Identity</a:t>
            </a:r>
            <a:endParaRPr lang="en-US" sz="2200" dirty="0"/>
          </a:p>
        </p:txBody>
      </p:sp>
      <p:sp>
        <p:nvSpPr>
          <p:cNvPr id="25" name="Text 23"/>
          <p:cNvSpPr/>
          <p:nvPr/>
        </p:nvSpPr>
        <p:spPr>
          <a:xfrm>
            <a:off x="9784080" y="4206240"/>
            <a:ext cx="2194560" cy="137160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SSO/IdP</a:t>
            </a:r>
            <a:endParaRPr lang="en-US" sz="1800" dirty="0"/>
          </a:p>
          <a:p>
            <a:pPr algn="ctr" indent="0" marL="0">
              <a:buNone/>
            </a:pPr>
            <a:r>
              <a:rPr lang="en-US" sz="1800" dirty="0">
                <a:solidFill>
                  <a:srgbClr val="FFFFFF"/>
                </a:solidFill>
                <a:latin typeface="Inter" pitchFamily="34" charset="0"/>
                <a:ea typeface="Inter" pitchFamily="34" charset="-122"/>
                <a:cs typeface="Inter" pitchFamily="34" charset="-120"/>
              </a:rPr>
              <a:t>Cedar</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Text 2"/>
          <p:cNvSpPr/>
          <p:nvPr/>
        </p:nvSpPr>
        <p:spPr>
          <a:xfrm>
            <a:off x="457200" y="274320"/>
            <a:ext cx="9144000" cy="914400"/>
          </a:xfrm>
          <a:prstGeom prst="rect">
            <a:avLst/>
          </a:prstGeom>
          <a:noFill/>
          <a:ln/>
        </p:spPr>
        <p:txBody>
          <a:bodyPr wrap="square" rtlCol="0" anchor="ctr"/>
          <a:lstStyle/>
          <a:p>
            <a:pPr indent="0" marL="0">
              <a:buNone/>
            </a:pPr>
            <a:r>
              <a:rPr lang="en-US" sz="4400" b="1" dirty="0">
                <a:solidFill>
                  <a:srgbClr val="FFFFFF"/>
                </a:solidFill>
                <a:latin typeface="Montserrat" pitchFamily="34" charset="0"/>
                <a:ea typeface="Montserrat" pitchFamily="34" charset="-122"/>
                <a:cs typeface="Montserrat" pitchFamily="34" charset="-120"/>
              </a:rPr>
              <a:t>What is OpenClaw?</a:t>
            </a:r>
            <a:endParaRPr lang="en-US" sz="4400" dirty="0"/>
          </a:p>
        </p:txBody>
      </p:sp>
      <p:sp>
        <p:nvSpPr>
          <p:cNvPr id="5" name="Text 3"/>
          <p:cNvSpPr/>
          <p:nvPr/>
        </p:nvSpPr>
        <p:spPr>
          <a:xfrm>
            <a:off x="457200" y="1188720"/>
            <a:ext cx="10972800" cy="640080"/>
          </a:xfrm>
          <a:prstGeom prst="rect">
            <a:avLst/>
          </a:prstGeom>
          <a:noFill/>
          <a:ln/>
        </p:spPr>
        <p:txBody>
          <a:bodyPr wrap="square" rtlCol="0" anchor="ctr"/>
          <a:lstStyle/>
          <a:p>
            <a:pPr indent="0" marL="0">
              <a:buNone/>
            </a:pPr>
            <a:r>
              <a:rPr lang="en-US" sz="2400" dirty="0">
                <a:solidFill>
                  <a:srgbClr val="90CAF9"/>
                </a:solidFill>
                <a:latin typeface="Inter" pitchFamily="34" charset="0"/>
                <a:ea typeface="Inter" pitchFamily="34" charset="-122"/>
                <a:cs typeface="Inter" pitchFamily="34" charset="-120"/>
              </a:rPr>
              <a:t>Fastest growing open-source AI agent</a:t>
            </a:r>
            <a:endParaRPr lang="en-US" sz="2400" dirty="0"/>
          </a:p>
        </p:txBody>
      </p:sp>
      <p:sp>
        <p:nvSpPr>
          <p:cNvPr id="6" name="Shape 4"/>
          <p:cNvSpPr/>
          <p:nvPr/>
        </p:nvSpPr>
        <p:spPr>
          <a:xfrm>
            <a:off x="457200" y="2286000"/>
            <a:ext cx="3474720" cy="3474720"/>
          </a:xfrm>
          <a:prstGeom prst="roundRect">
            <a:avLst>
              <a:gd name="adj" fmla="val 2632"/>
            </a:avLst>
          </a:prstGeom>
          <a:solidFill>
            <a:srgbClr val="1A1F4E">
              <a:alpha val="70000"/>
            </a:srgbClr>
          </a:solidFill>
          <a:ln w="19050">
            <a:solidFill>
              <a:srgbClr val="4FC3F7"/>
            </a:solidFill>
            <a:prstDash val="solid"/>
          </a:ln>
        </p:spPr>
      </p:sp>
      <p:sp>
        <p:nvSpPr>
          <p:cNvPr id="7" name="Text 5"/>
          <p:cNvSpPr/>
          <p:nvPr/>
        </p:nvSpPr>
        <p:spPr>
          <a:xfrm>
            <a:off x="457200" y="2560320"/>
            <a:ext cx="3474720" cy="2011680"/>
          </a:xfrm>
          <a:prstGeom prst="rect">
            <a:avLst/>
          </a:prstGeom>
          <a:noFill/>
          <a:ln/>
        </p:spPr>
        <p:txBody>
          <a:bodyPr wrap="square" rtlCol="0" anchor="ctr"/>
          <a:lstStyle/>
          <a:p>
            <a:pPr algn="ctr" indent="0" marL="0">
              <a:buNone/>
            </a:pPr>
            <a:r>
              <a:rPr lang="en-US" sz="4800" b="1" dirty="0">
                <a:solidFill>
                  <a:srgbClr val="4FC3F7"/>
                </a:solidFill>
                <a:latin typeface="Montserrat" pitchFamily="34" charset="0"/>
                <a:ea typeface="Montserrat" pitchFamily="34" charset="-122"/>
                <a:cs typeface="Montserrat" pitchFamily="34" charset="-120"/>
              </a:rPr>
              <a:t>230K+</a:t>
            </a:r>
            <a:endParaRPr lang="en-US" sz="4800" dirty="0"/>
          </a:p>
        </p:txBody>
      </p:sp>
      <p:sp>
        <p:nvSpPr>
          <p:cNvPr id="8" name="Text 6"/>
          <p:cNvSpPr/>
          <p:nvPr/>
        </p:nvSpPr>
        <p:spPr>
          <a:xfrm>
            <a:off x="457200" y="4572000"/>
            <a:ext cx="3474720" cy="914400"/>
          </a:xfrm>
          <a:prstGeom prst="rect">
            <a:avLst/>
          </a:prstGeom>
          <a:noFill/>
          <a:ln/>
        </p:spPr>
        <p:txBody>
          <a:bodyPr wrap="square" rtlCol="0" anchor="ctr"/>
          <a:lstStyle/>
          <a:p>
            <a:pPr algn="ctr" indent="0" marL="0">
              <a:buNone/>
            </a:pPr>
            <a:r>
              <a:rPr lang="en-US" sz="2400" dirty="0">
                <a:solidFill>
                  <a:srgbClr val="FFFFFF"/>
                </a:solidFill>
                <a:latin typeface="Inter" pitchFamily="34" charset="0"/>
                <a:ea typeface="Inter" pitchFamily="34" charset="-122"/>
                <a:cs typeface="Inter" pitchFamily="34" charset="-120"/>
              </a:rPr>
              <a:t>GitHub Stars</a:t>
            </a:r>
            <a:endParaRPr lang="en-US" sz="2400" dirty="0"/>
          </a:p>
        </p:txBody>
      </p:sp>
      <p:sp>
        <p:nvSpPr>
          <p:cNvPr id="9" name="Shape 7"/>
          <p:cNvSpPr/>
          <p:nvPr/>
        </p:nvSpPr>
        <p:spPr>
          <a:xfrm>
            <a:off x="4297680" y="2286000"/>
            <a:ext cx="3474720" cy="3474720"/>
          </a:xfrm>
          <a:prstGeom prst="roundRect">
            <a:avLst>
              <a:gd name="adj" fmla="val 2632"/>
            </a:avLst>
          </a:prstGeom>
          <a:solidFill>
            <a:srgbClr val="1A1F4E">
              <a:alpha val="70000"/>
            </a:srgbClr>
          </a:solidFill>
          <a:ln w="19050">
            <a:solidFill>
              <a:srgbClr val="FF9900"/>
            </a:solidFill>
            <a:prstDash val="solid"/>
          </a:ln>
        </p:spPr>
      </p:sp>
      <p:sp>
        <p:nvSpPr>
          <p:cNvPr id="10" name="Text 8"/>
          <p:cNvSpPr/>
          <p:nvPr/>
        </p:nvSpPr>
        <p:spPr>
          <a:xfrm>
            <a:off x="4297680" y="2560320"/>
            <a:ext cx="3474720" cy="2011680"/>
          </a:xfrm>
          <a:prstGeom prst="rect">
            <a:avLst/>
          </a:prstGeom>
          <a:noFill/>
          <a:ln/>
        </p:spPr>
        <p:txBody>
          <a:bodyPr wrap="square" rtlCol="0" anchor="ctr"/>
          <a:lstStyle/>
          <a:p>
            <a:pPr algn="ctr" indent="0" marL="0">
              <a:buNone/>
            </a:pPr>
            <a:r>
              <a:rPr lang="en-US" sz="4800" b="1" dirty="0">
                <a:solidFill>
                  <a:srgbClr val="FF9900"/>
                </a:solidFill>
                <a:latin typeface="Montserrat" pitchFamily="34" charset="0"/>
                <a:ea typeface="Montserrat" pitchFamily="34" charset="-122"/>
                <a:cs typeface="Montserrat" pitchFamily="34" charset="-120"/>
              </a:rPr>
              <a:t>10,000+</a:t>
            </a:r>
            <a:endParaRPr lang="en-US" sz="4800" dirty="0"/>
          </a:p>
        </p:txBody>
      </p:sp>
      <p:sp>
        <p:nvSpPr>
          <p:cNvPr id="11" name="Text 9"/>
          <p:cNvSpPr/>
          <p:nvPr/>
        </p:nvSpPr>
        <p:spPr>
          <a:xfrm>
            <a:off x="4297680" y="4572000"/>
            <a:ext cx="3474720" cy="914400"/>
          </a:xfrm>
          <a:prstGeom prst="rect">
            <a:avLst/>
          </a:prstGeom>
          <a:noFill/>
          <a:ln/>
        </p:spPr>
        <p:txBody>
          <a:bodyPr wrap="square" rtlCol="0" anchor="ctr"/>
          <a:lstStyle/>
          <a:p>
            <a:pPr algn="ctr" indent="0" marL="0">
              <a:buNone/>
            </a:pPr>
            <a:r>
              <a:rPr lang="en-US" sz="2400" dirty="0">
                <a:solidFill>
                  <a:srgbClr val="FFFFFF"/>
                </a:solidFill>
                <a:latin typeface="Inter" pitchFamily="34" charset="0"/>
                <a:ea typeface="Inter" pitchFamily="34" charset="-122"/>
                <a:cs typeface="Inter" pitchFamily="34" charset="-120"/>
              </a:rPr>
              <a:t>Community Skills</a:t>
            </a:r>
            <a:endParaRPr lang="en-US" sz="2400" dirty="0"/>
          </a:p>
        </p:txBody>
      </p:sp>
      <p:sp>
        <p:nvSpPr>
          <p:cNvPr id="12" name="Shape 10"/>
          <p:cNvSpPr/>
          <p:nvPr/>
        </p:nvSpPr>
        <p:spPr>
          <a:xfrm>
            <a:off x="8138160" y="2286000"/>
            <a:ext cx="3474720" cy="3474720"/>
          </a:xfrm>
          <a:prstGeom prst="roundRect">
            <a:avLst>
              <a:gd name="adj" fmla="val 2632"/>
            </a:avLst>
          </a:prstGeom>
          <a:solidFill>
            <a:srgbClr val="1A1F4E">
              <a:alpha val="70000"/>
            </a:srgbClr>
          </a:solidFill>
          <a:ln w="19050">
            <a:solidFill>
              <a:srgbClr val="69F0AE"/>
            </a:solidFill>
            <a:prstDash val="solid"/>
          </a:ln>
        </p:spPr>
      </p:sp>
      <p:sp>
        <p:nvSpPr>
          <p:cNvPr id="13" name="Text 11"/>
          <p:cNvSpPr/>
          <p:nvPr/>
        </p:nvSpPr>
        <p:spPr>
          <a:xfrm>
            <a:off x="8138160" y="2560320"/>
            <a:ext cx="3474720" cy="2011680"/>
          </a:xfrm>
          <a:prstGeom prst="rect">
            <a:avLst/>
          </a:prstGeom>
          <a:noFill/>
          <a:ln/>
        </p:spPr>
        <p:txBody>
          <a:bodyPr wrap="square" rtlCol="0" anchor="ctr"/>
          <a:lstStyle/>
          <a:p>
            <a:pPr algn="ctr" indent="0" marL="0">
              <a:buNone/>
            </a:pPr>
            <a:r>
              <a:rPr lang="en-US" sz="4800" b="1" dirty="0">
                <a:solidFill>
                  <a:srgbClr val="69F0AE"/>
                </a:solidFill>
                <a:latin typeface="Montserrat" pitchFamily="34" charset="0"/>
                <a:ea typeface="Montserrat" pitchFamily="34" charset="-122"/>
                <a:cs typeface="Montserrat" pitchFamily="34" charset="-120"/>
              </a:rPr>
              <a:t>15+</a:t>
            </a:r>
            <a:endParaRPr lang="en-US" sz="4800" dirty="0"/>
          </a:p>
        </p:txBody>
      </p:sp>
      <p:sp>
        <p:nvSpPr>
          <p:cNvPr id="14" name="Text 12"/>
          <p:cNvSpPr/>
          <p:nvPr/>
        </p:nvSpPr>
        <p:spPr>
          <a:xfrm>
            <a:off x="8138160" y="4572000"/>
            <a:ext cx="3474720" cy="914400"/>
          </a:xfrm>
          <a:prstGeom prst="rect">
            <a:avLst/>
          </a:prstGeom>
          <a:noFill/>
          <a:ln/>
        </p:spPr>
        <p:txBody>
          <a:bodyPr wrap="square" rtlCol="0" anchor="ctr"/>
          <a:lstStyle/>
          <a:p>
            <a:pPr algn="ctr" indent="0" marL="0">
              <a:buNone/>
            </a:pPr>
            <a:r>
              <a:rPr lang="en-US" sz="2400" dirty="0">
                <a:solidFill>
                  <a:srgbClr val="FFFFFF"/>
                </a:solidFill>
                <a:latin typeface="Inter" pitchFamily="34" charset="0"/>
                <a:ea typeface="Inter" pitchFamily="34" charset="-122"/>
                <a:cs typeface="Inter" pitchFamily="34" charset="-120"/>
              </a:rPr>
              <a:t>Channels</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Text 2"/>
          <p:cNvSpPr/>
          <p:nvPr/>
        </p:nvSpPr>
        <p:spPr>
          <a:xfrm>
            <a:off x="731520" y="274320"/>
            <a:ext cx="10972800" cy="914400"/>
          </a:xfrm>
          <a:prstGeom prst="rect">
            <a:avLst/>
          </a:prstGeom>
          <a:noFill/>
          <a:ln/>
        </p:spPr>
        <p:txBody>
          <a:bodyPr wrap="square" rtlCol="0" anchor="ctr"/>
          <a:lstStyle/>
          <a:p>
            <a:pPr indent="0" marL="0">
              <a:buNone/>
            </a:pPr>
            <a:r>
              <a:rPr lang="en-US" sz="4400" b="1" dirty="0">
                <a:solidFill>
                  <a:srgbClr val="FFFFFF"/>
                </a:solidFill>
                <a:latin typeface="Montserrat" pitchFamily="34" charset="0"/>
                <a:ea typeface="Montserrat" pitchFamily="34" charset="-122"/>
                <a:cs typeface="Montserrat" pitchFamily="34" charset="-120"/>
              </a:rPr>
              <a:t>Why OpenClaw + AWS?</a:t>
            </a:r>
            <a:endParaRPr lang="en-US" sz="4400" dirty="0"/>
          </a:p>
        </p:txBody>
      </p:sp>
      <p:sp>
        <p:nvSpPr>
          <p:cNvPr id="5" name="Shape 3"/>
          <p:cNvSpPr/>
          <p:nvPr/>
        </p:nvSpPr>
        <p:spPr>
          <a:xfrm>
            <a:off x="731520" y="1645920"/>
            <a:ext cx="10515600" cy="1280160"/>
          </a:xfrm>
          <a:prstGeom prst="roundRect">
            <a:avLst>
              <a:gd name="adj" fmla="val 7143"/>
            </a:avLst>
          </a:prstGeom>
          <a:solidFill>
            <a:srgbClr val="1A1F4E">
              <a:alpha val="70000"/>
            </a:srgbClr>
          </a:solidFill>
          <a:ln w="19050">
            <a:solidFill>
              <a:srgbClr val="4FC3F7"/>
            </a:solidFill>
            <a:prstDash val="solid"/>
          </a:ln>
        </p:spPr>
      </p:sp>
      <p:sp>
        <p:nvSpPr>
          <p:cNvPr id="6" name="Shape 4"/>
          <p:cNvSpPr/>
          <p:nvPr/>
        </p:nvSpPr>
        <p:spPr>
          <a:xfrm>
            <a:off x="1097280" y="1920240"/>
            <a:ext cx="731520" cy="731520"/>
          </a:xfrm>
          <a:prstGeom prst="ellipse">
            <a:avLst/>
          </a:prstGeom>
          <a:solidFill>
            <a:srgbClr val="4FC3F7">
              <a:alpha val="50000"/>
            </a:srgbClr>
          </a:solidFill>
          <a:ln w="25400">
            <a:solidFill>
              <a:srgbClr val="4FC3F7"/>
            </a:solidFill>
            <a:prstDash val="solid"/>
          </a:ln>
        </p:spPr>
      </p:sp>
      <p:sp>
        <p:nvSpPr>
          <p:cNvPr id="7" name="Text 5"/>
          <p:cNvSpPr/>
          <p:nvPr/>
        </p:nvSpPr>
        <p:spPr>
          <a:xfrm>
            <a:off x="2103120" y="1645920"/>
            <a:ext cx="8686800" cy="1280160"/>
          </a:xfrm>
          <a:prstGeom prst="rect">
            <a:avLst/>
          </a:prstGeom>
          <a:noFill/>
          <a:ln/>
        </p:spPr>
        <p:txBody>
          <a:bodyPr wrap="square" rtlCol="0" anchor="ctr"/>
          <a:lstStyle/>
          <a:p>
            <a:pPr indent="0" marL="0">
              <a:buNone/>
            </a:pPr>
            <a:r>
              <a:rPr lang="en-US" sz="2600" dirty="0">
                <a:solidFill>
                  <a:srgbClr val="FFFFFF"/>
                </a:solidFill>
                <a:latin typeface="Inter" pitchFamily="34" charset="0"/>
                <a:ea typeface="Inter" pitchFamily="34" charset="-122"/>
                <a:cs typeface="Inter" pitchFamily="34" charset="-120"/>
              </a:rPr>
              <a:t>No API keys — IAM-authenticated Bedrock</a:t>
            </a:r>
            <a:endParaRPr lang="en-US" sz="2600" dirty="0"/>
          </a:p>
        </p:txBody>
      </p:sp>
      <p:sp>
        <p:nvSpPr>
          <p:cNvPr id="8" name="Shape 6"/>
          <p:cNvSpPr/>
          <p:nvPr/>
        </p:nvSpPr>
        <p:spPr>
          <a:xfrm>
            <a:off x="731520" y="3291840"/>
            <a:ext cx="10515600" cy="1280160"/>
          </a:xfrm>
          <a:prstGeom prst="roundRect">
            <a:avLst>
              <a:gd name="adj" fmla="val 7143"/>
            </a:avLst>
          </a:prstGeom>
          <a:solidFill>
            <a:srgbClr val="1A1F4E">
              <a:alpha val="70000"/>
            </a:srgbClr>
          </a:solidFill>
          <a:ln w="19050">
            <a:solidFill>
              <a:srgbClr val="FF9900"/>
            </a:solidFill>
            <a:prstDash val="solid"/>
          </a:ln>
        </p:spPr>
      </p:sp>
      <p:sp>
        <p:nvSpPr>
          <p:cNvPr id="9" name="Shape 7"/>
          <p:cNvSpPr/>
          <p:nvPr/>
        </p:nvSpPr>
        <p:spPr>
          <a:xfrm>
            <a:off x="1097280" y="3566160"/>
            <a:ext cx="731520" cy="731520"/>
          </a:xfrm>
          <a:prstGeom prst="ellipse">
            <a:avLst/>
          </a:prstGeom>
          <a:solidFill>
            <a:srgbClr val="FF9900">
              <a:alpha val="50000"/>
            </a:srgbClr>
          </a:solidFill>
          <a:ln w="25400">
            <a:solidFill>
              <a:srgbClr val="FF9900"/>
            </a:solidFill>
            <a:prstDash val="solid"/>
          </a:ln>
        </p:spPr>
      </p:sp>
      <p:sp>
        <p:nvSpPr>
          <p:cNvPr id="10" name="Text 8"/>
          <p:cNvSpPr/>
          <p:nvPr/>
        </p:nvSpPr>
        <p:spPr>
          <a:xfrm>
            <a:off x="2103120" y="3291840"/>
            <a:ext cx="8686800" cy="1280160"/>
          </a:xfrm>
          <a:prstGeom prst="rect">
            <a:avLst/>
          </a:prstGeom>
          <a:noFill/>
          <a:ln/>
        </p:spPr>
        <p:txBody>
          <a:bodyPr wrap="square" rtlCol="0" anchor="ctr"/>
          <a:lstStyle/>
          <a:p>
            <a:pPr indent="0" marL="0">
              <a:buNone/>
            </a:pPr>
            <a:r>
              <a:rPr lang="en-US" sz="2600" dirty="0">
                <a:solidFill>
                  <a:srgbClr val="FFFFFF"/>
                </a:solidFill>
                <a:latin typeface="Inter" pitchFamily="34" charset="0"/>
                <a:ea typeface="Inter" pitchFamily="34" charset="-122"/>
                <a:cs typeface="Inter" pitchFamily="34" charset="-120"/>
              </a:rPr>
              <a:t>No open ports — SSM Session Manager</a:t>
            </a:r>
            <a:endParaRPr lang="en-US" sz="2600" dirty="0"/>
          </a:p>
        </p:txBody>
      </p:sp>
      <p:sp>
        <p:nvSpPr>
          <p:cNvPr id="11" name="Shape 9"/>
          <p:cNvSpPr/>
          <p:nvPr/>
        </p:nvSpPr>
        <p:spPr>
          <a:xfrm>
            <a:off x="731520" y="4937760"/>
            <a:ext cx="10515600" cy="1280160"/>
          </a:xfrm>
          <a:prstGeom prst="roundRect">
            <a:avLst>
              <a:gd name="adj" fmla="val 7143"/>
            </a:avLst>
          </a:prstGeom>
          <a:solidFill>
            <a:srgbClr val="1A1F4E">
              <a:alpha val="70000"/>
            </a:srgbClr>
          </a:solidFill>
          <a:ln w="19050">
            <a:solidFill>
              <a:srgbClr val="69F0AE"/>
            </a:solidFill>
            <a:prstDash val="solid"/>
          </a:ln>
        </p:spPr>
      </p:sp>
      <p:sp>
        <p:nvSpPr>
          <p:cNvPr id="12" name="Shape 10"/>
          <p:cNvSpPr/>
          <p:nvPr/>
        </p:nvSpPr>
        <p:spPr>
          <a:xfrm>
            <a:off x="1097280" y="5212080"/>
            <a:ext cx="731520" cy="731520"/>
          </a:xfrm>
          <a:prstGeom prst="ellipse">
            <a:avLst/>
          </a:prstGeom>
          <a:solidFill>
            <a:srgbClr val="69F0AE">
              <a:alpha val="50000"/>
            </a:srgbClr>
          </a:solidFill>
          <a:ln w="25400">
            <a:solidFill>
              <a:srgbClr val="69F0AE"/>
            </a:solidFill>
            <a:prstDash val="solid"/>
          </a:ln>
        </p:spPr>
      </p:sp>
      <p:sp>
        <p:nvSpPr>
          <p:cNvPr id="13" name="Text 11"/>
          <p:cNvSpPr/>
          <p:nvPr/>
        </p:nvSpPr>
        <p:spPr>
          <a:xfrm>
            <a:off x="2103120" y="4937760"/>
            <a:ext cx="8686800" cy="1280160"/>
          </a:xfrm>
          <a:prstGeom prst="rect">
            <a:avLst/>
          </a:prstGeom>
          <a:noFill/>
          <a:ln/>
        </p:spPr>
        <p:txBody>
          <a:bodyPr wrap="square" rtlCol="0" anchor="ctr"/>
          <a:lstStyle/>
          <a:p>
            <a:pPr indent="0" marL="0">
              <a:buNone/>
            </a:pPr>
            <a:r>
              <a:rPr lang="en-US" sz="2600" dirty="0">
                <a:solidFill>
                  <a:srgbClr val="FFFFFF"/>
                </a:solidFill>
                <a:latin typeface="Inter" pitchFamily="34" charset="0"/>
                <a:ea typeface="Inter" pitchFamily="34" charset="-122"/>
                <a:cs typeface="Inter" pitchFamily="34" charset="-120"/>
              </a:rPr>
              <a:t>Scale from 1 to 1000s users</a:t>
            </a:r>
            <a:endParaRPr lang="en-US" sz="2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Text 2"/>
          <p:cNvSpPr/>
          <p:nvPr/>
        </p:nvSpPr>
        <p:spPr>
          <a:xfrm>
            <a:off x="457200" y="274320"/>
            <a:ext cx="10972800" cy="914400"/>
          </a:xfrm>
          <a:prstGeom prst="rect">
            <a:avLst/>
          </a:prstGeom>
          <a:noFill/>
          <a:ln/>
        </p:spPr>
        <p:txBody>
          <a:bodyPr wrap="square" rtlCol="0" anchor="ctr"/>
          <a:lstStyle/>
          <a:p>
            <a:pPr indent="0" marL="0">
              <a:buNone/>
            </a:pPr>
            <a:r>
              <a:rPr lang="en-US" sz="4000" b="1" dirty="0">
                <a:solidFill>
                  <a:srgbClr val="FFFFFF"/>
                </a:solidFill>
                <a:latin typeface="Montserrat" pitchFamily="34" charset="0"/>
                <a:ea typeface="Montserrat" pitchFamily="34" charset="-122"/>
                <a:cs typeface="Montserrat" pitchFamily="34" charset="-120"/>
              </a:rPr>
              <a:t>Deployment Options</a:t>
            </a:r>
            <a:endParaRPr lang="en-US" sz="4000" dirty="0"/>
          </a:p>
        </p:txBody>
      </p:sp>
      <p:sp>
        <p:nvSpPr>
          <p:cNvPr id="5" name="Shape 3"/>
          <p:cNvSpPr/>
          <p:nvPr/>
        </p:nvSpPr>
        <p:spPr>
          <a:xfrm>
            <a:off x="457200" y="1280160"/>
            <a:ext cx="11247120" cy="5120640"/>
          </a:xfrm>
          <a:prstGeom prst="roundRect">
            <a:avLst>
              <a:gd name="adj" fmla="val 1786"/>
            </a:avLst>
          </a:prstGeom>
          <a:solidFill>
            <a:srgbClr val="1A1F4E">
              <a:alpha val="70000"/>
            </a:srgbClr>
          </a:solidFill>
          <a:ln w="19050">
            <a:solidFill>
              <a:srgbClr val="4FC3F7"/>
            </a:solidFill>
            <a:prstDash val="solid"/>
          </a:ln>
        </p:spPr>
      </p:sp>
      <p:sp>
        <p:nvSpPr>
          <p:cNvPr id="6" name="Shape 4"/>
          <p:cNvSpPr/>
          <p:nvPr/>
        </p:nvSpPr>
        <p:spPr>
          <a:xfrm>
            <a:off x="457200" y="1280160"/>
            <a:ext cx="11247120" cy="640080"/>
          </a:xfrm>
          <a:prstGeom prst="rect">
            <a:avLst/>
          </a:prstGeom>
          <a:solidFill>
            <a:srgbClr val="FF9900"/>
          </a:solidFill>
          <a:ln/>
        </p:spPr>
      </p:sp>
      <p:sp>
        <p:nvSpPr>
          <p:cNvPr id="7" name="Text 5"/>
          <p:cNvSpPr/>
          <p:nvPr/>
        </p:nvSpPr>
        <p:spPr>
          <a:xfrm>
            <a:off x="457200" y="1280160"/>
            <a:ext cx="2249424" cy="640080"/>
          </a:xfrm>
          <a:prstGeom prst="rect">
            <a:avLst/>
          </a:prstGeom>
          <a:noFill/>
          <a:ln/>
        </p:spPr>
        <p:txBody>
          <a:bodyPr wrap="square" rtlCol="0" anchor="ctr"/>
          <a:lstStyle/>
          <a:p>
            <a:pPr algn="ctr" indent="0" marL="0">
              <a:buNone/>
            </a:pPr>
            <a:endParaRPr lang="en-US" sz="1800" dirty="0"/>
          </a:p>
        </p:txBody>
      </p:sp>
      <p:sp>
        <p:nvSpPr>
          <p:cNvPr id="8" name="Text 6"/>
          <p:cNvSpPr/>
          <p:nvPr/>
        </p:nvSpPr>
        <p:spPr>
          <a:xfrm>
            <a:off x="2706624" y="1280160"/>
            <a:ext cx="2249424" cy="640080"/>
          </a:xfrm>
          <a:prstGeom prst="rect">
            <a:avLst/>
          </a:prstGeom>
          <a:noFill/>
          <a:ln/>
        </p:spPr>
        <p:txBody>
          <a:bodyPr wrap="square" rtlCol="0" anchor="ctr"/>
          <a:lstStyle/>
          <a:p>
            <a:pPr algn="ctr" indent="0" marL="0">
              <a:buNone/>
            </a:pPr>
            <a:r>
              <a:rPr lang="en-US" sz="1800" b="1" dirty="0">
                <a:solidFill>
                  <a:srgbClr val="0A0E27"/>
                </a:solidFill>
                <a:latin typeface="Inter" pitchFamily="34" charset="0"/>
                <a:ea typeface="Inter" pitchFamily="34" charset="-122"/>
                <a:cs typeface="Inter" pitchFamily="34" charset="-120"/>
              </a:rPr>
              <a:t>Lightsail</a:t>
            </a:r>
            <a:endParaRPr lang="en-US" sz="1800" dirty="0"/>
          </a:p>
        </p:txBody>
      </p:sp>
      <p:sp>
        <p:nvSpPr>
          <p:cNvPr id="9" name="Text 7"/>
          <p:cNvSpPr/>
          <p:nvPr/>
        </p:nvSpPr>
        <p:spPr>
          <a:xfrm>
            <a:off x="4956048" y="1280160"/>
            <a:ext cx="2249424" cy="640080"/>
          </a:xfrm>
          <a:prstGeom prst="rect">
            <a:avLst/>
          </a:prstGeom>
          <a:noFill/>
          <a:ln/>
        </p:spPr>
        <p:txBody>
          <a:bodyPr wrap="square" rtlCol="0" anchor="ctr"/>
          <a:lstStyle/>
          <a:p>
            <a:pPr algn="ctr" indent="0" marL="0">
              <a:buNone/>
            </a:pPr>
            <a:r>
              <a:rPr lang="en-US" sz="1800" b="1" dirty="0">
                <a:solidFill>
                  <a:srgbClr val="0A0E27"/>
                </a:solidFill>
                <a:latin typeface="Inter" pitchFamily="34" charset="0"/>
                <a:ea typeface="Inter" pitchFamily="34" charset="-122"/>
                <a:cs typeface="Inter" pitchFamily="34" charset="-120"/>
              </a:rPr>
              <a:t>EC2</a:t>
            </a:r>
            <a:endParaRPr lang="en-US" sz="1800" dirty="0"/>
          </a:p>
        </p:txBody>
      </p:sp>
      <p:sp>
        <p:nvSpPr>
          <p:cNvPr id="10" name="Text 8"/>
          <p:cNvSpPr/>
          <p:nvPr/>
        </p:nvSpPr>
        <p:spPr>
          <a:xfrm>
            <a:off x="7205472" y="1280160"/>
            <a:ext cx="2249424" cy="640080"/>
          </a:xfrm>
          <a:prstGeom prst="rect">
            <a:avLst/>
          </a:prstGeom>
          <a:noFill/>
          <a:ln/>
        </p:spPr>
        <p:txBody>
          <a:bodyPr wrap="square" rtlCol="0" anchor="ctr"/>
          <a:lstStyle/>
          <a:p>
            <a:pPr algn="ctr" indent="0" marL="0">
              <a:buNone/>
            </a:pPr>
            <a:r>
              <a:rPr lang="en-US" sz="1800" b="1" dirty="0">
                <a:solidFill>
                  <a:srgbClr val="0A0E27"/>
                </a:solidFill>
                <a:latin typeface="Inter" pitchFamily="34" charset="0"/>
                <a:ea typeface="Inter" pitchFamily="34" charset="-122"/>
                <a:cs typeface="Inter" pitchFamily="34" charset="-120"/>
              </a:rPr>
              <a:t>AgentCore</a:t>
            </a:r>
            <a:endParaRPr lang="en-US" sz="1800" dirty="0"/>
          </a:p>
        </p:txBody>
      </p:sp>
      <p:sp>
        <p:nvSpPr>
          <p:cNvPr id="11" name="Text 9"/>
          <p:cNvSpPr/>
          <p:nvPr/>
        </p:nvSpPr>
        <p:spPr>
          <a:xfrm>
            <a:off x="9454896" y="1280160"/>
            <a:ext cx="2249424" cy="640080"/>
          </a:xfrm>
          <a:prstGeom prst="rect">
            <a:avLst/>
          </a:prstGeom>
          <a:noFill/>
          <a:ln/>
        </p:spPr>
        <p:txBody>
          <a:bodyPr wrap="square" rtlCol="0" anchor="ctr"/>
          <a:lstStyle/>
          <a:p>
            <a:pPr algn="ctr" indent="0" marL="0">
              <a:buNone/>
            </a:pPr>
            <a:r>
              <a:rPr lang="en-US" sz="1800" b="1" dirty="0">
                <a:solidFill>
                  <a:srgbClr val="0A0E27"/>
                </a:solidFill>
                <a:latin typeface="Inter" pitchFamily="34" charset="0"/>
                <a:ea typeface="Inter" pitchFamily="34" charset="-122"/>
                <a:cs typeface="Inter" pitchFamily="34" charset="-120"/>
              </a:rPr>
              <a:t>EKS</a:t>
            </a:r>
            <a:endParaRPr lang="en-US" sz="1800" dirty="0"/>
          </a:p>
        </p:txBody>
      </p:sp>
      <p:sp>
        <p:nvSpPr>
          <p:cNvPr id="12" name="Text 10"/>
          <p:cNvSpPr/>
          <p:nvPr/>
        </p:nvSpPr>
        <p:spPr>
          <a:xfrm>
            <a:off x="457200" y="2011680"/>
            <a:ext cx="2249424" cy="868680"/>
          </a:xfrm>
          <a:prstGeom prst="rect">
            <a:avLst/>
          </a:prstGeom>
          <a:noFill/>
          <a:ln/>
        </p:spPr>
        <p:txBody>
          <a:bodyPr wrap="square" rtlCol="0" anchor="ctr"/>
          <a:lstStyle/>
          <a:p>
            <a:pPr algn="ctr" indent="0" marL="0">
              <a:buNone/>
            </a:pPr>
            <a:r>
              <a:rPr lang="en-US" sz="1800" b="1" dirty="0">
                <a:solidFill>
                  <a:srgbClr val="FF9900"/>
                </a:solidFill>
                <a:latin typeface="Inter" pitchFamily="34" charset="0"/>
                <a:ea typeface="Inter" pitchFamily="34" charset="-122"/>
                <a:cs typeface="Inter" pitchFamily="34" charset="-120"/>
              </a:rPr>
              <a:t>Target</a:t>
            </a:r>
            <a:endParaRPr lang="en-US" sz="1800" dirty="0"/>
          </a:p>
        </p:txBody>
      </p:sp>
      <p:sp>
        <p:nvSpPr>
          <p:cNvPr id="13" name="Text 11"/>
          <p:cNvSpPr/>
          <p:nvPr/>
        </p:nvSpPr>
        <p:spPr>
          <a:xfrm>
            <a:off x="2706624" y="2011680"/>
            <a:ext cx="2249424" cy="86868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Individual</a:t>
            </a:r>
            <a:endParaRPr lang="en-US" sz="1800" dirty="0"/>
          </a:p>
        </p:txBody>
      </p:sp>
      <p:sp>
        <p:nvSpPr>
          <p:cNvPr id="14" name="Text 12"/>
          <p:cNvSpPr/>
          <p:nvPr/>
        </p:nvSpPr>
        <p:spPr>
          <a:xfrm>
            <a:off x="4956048" y="2011680"/>
            <a:ext cx="2249424" cy="86868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Startups</a:t>
            </a:r>
            <a:endParaRPr lang="en-US" sz="1800" dirty="0"/>
          </a:p>
        </p:txBody>
      </p:sp>
      <p:sp>
        <p:nvSpPr>
          <p:cNvPr id="15" name="Text 13"/>
          <p:cNvSpPr/>
          <p:nvPr/>
        </p:nvSpPr>
        <p:spPr>
          <a:xfrm>
            <a:off x="7205472" y="2011680"/>
            <a:ext cx="2249424" cy="86868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Enterprise</a:t>
            </a:r>
            <a:endParaRPr lang="en-US" sz="1800" dirty="0"/>
          </a:p>
        </p:txBody>
      </p:sp>
      <p:sp>
        <p:nvSpPr>
          <p:cNvPr id="16" name="Text 14"/>
          <p:cNvSpPr/>
          <p:nvPr/>
        </p:nvSpPr>
        <p:spPr>
          <a:xfrm>
            <a:off x="9454896" y="2011680"/>
            <a:ext cx="2249424" cy="86868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Enterprise</a:t>
            </a:r>
            <a:endParaRPr lang="en-US" sz="1800" dirty="0"/>
          </a:p>
        </p:txBody>
      </p:sp>
      <p:sp>
        <p:nvSpPr>
          <p:cNvPr id="17" name="Text 15"/>
          <p:cNvSpPr/>
          <p:nvPr/>
        </p:nvSpPr>
        <p:spPr>
          <a:xfrm>
            <a:off x="457200" y="2880360"/>
            <a:ext cx="2249424" cy="868680"/>
          </a:xfrm>
          <a:prstGeom prst="rect">
            <a:avLst/>
          </a:prstGeom>
          <a:noFill/>
          <a:ln/>
        </p:spPr>
        <p:txBody>
          <a:bodyPr wrap="square" rtlCol="0" anchor="ctr"/>
          <a:lstStyle/>
          <a:p>
            <a:pPr algn="ctr" indent="0" marL="0">
              <a:buNone/>
            </a:pPr>
            <a:r>
              <a:rPr lang="en-US" sz="1800" b="1" dirty="0">
                <a:solidFill>
                  <a:srgbClr val="FF9900"/>
                </a:solidFill>
                <a:latin typeface="Inter" pitchFamily="34" charset="0"/>
                <a:ea typeface="Inter" pitchFamily="34" charset="-122"/>
                <a:cs typeface="Inter" pitchFamily="34" charset="-120"/>
              </a:rPr>
              <a:t>Cost</a:t>
            </a:r>
            <a:endParaRPr lang="en-US" sz="1800" dirty="0"/>
          </a:p>
        </p:txBody>
      </p:sp>
      <p:sp>
        <p:nvSpPr>
          <p:cNvPr id="18" name="Text 16"/>
          <p:cNvSpPr/>
          <p:nvPr/>
        </p:nvSpPr>
        <p:spPr>
          <a:xfrm>
            <a:off x="2706624" y="2880360"/>
            <a:ext cx="2249424" cy="86868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~$17/mo</a:t>
            </a:r>
            <a:endParaRPr lang="en-US" sz="1800" dirty="0"/>
          </a:p>
        </p:txBody>
      </p:sp>
      <p:sp>
        <p:nvSpPr>
          <p:cNvPr id="19" name="Text 17"/>
          <p:cNvSpPr/>
          <p:nvPr/>
        </p:nvSpPr>
        <p:spPr>
          <a:xfrm>
            <a:off x="4956048" y="2880360"/>
            <a:ext cx="2249424" cy="86868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~$30/mo</a:t>
            </a:r>
            <a:endParaRPr lang="en-US" sz="1800" dirty="0"/>
          </a:p>
        </p:txBody>
      </p:sp>
      <p:sp>
        <p:nvSpPr>
          <p:cNvPr id="20" name="Text 18"/>
          <p:cNvSpPr/>
          <p:nvPr/>
        </p:nvSpPr>
        <p:spPr>
          <a:xfrm>
            <a:off x="7205472" y="2880360"/>
            <a:ext cx="2249424" cy="86868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~$12/mo</a:t>
            </a:r>
            <a:endParaRPr lang="en-US" sz="1800" dirty="0"/>
          </a:p>
        </p:txBody>
      </p:sp>
      <p:sp>
        <p:nvSpPr>
          <p:cNvPr id="21" name="Text 19"/>
          <p:cNvSpPr/>
          <p:nvPr/>
        </p:nvSpPr>
        <p:spPr>
          <a:xfrm>
            <a:off x="9454896" y="2880360"/>
            <a:ext cx="2249424" cy="86868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~$50+/mo</a:t>
            </a:r>
            <a:endParaRPr lang="en-US" sz="1800" dirty="0"/>
          </a:p>
        </p:txBody>
      </p:sp>
      <p:sp>
        <p:nvSpPr>
          <p:cNvPr id="22" name="Text 20"/>
          <p:cNvSpPr/>
          <p:nvPr/>
        </p:nvSpPr>
        <p:spPr>
          <a:xfrm>
            <a:off x="457200" y="3749040"/>
            <a:ext cx="2249424" cy="868680"/>
          </a:xfrm>
          <a:prstGeom prst="rect">
            <a:avLst/>
          </a:prstGeom>
          <a:noFill/>
          <a:ln/>
        </p:spPr>
        <p:txBody>
          <a:bodyPr wrap="square" rtlCol="0" anchor="ctr"/>
          <a:lstStyle/>
          <a:p>
            <a:pPr algn="ctr" indent="0" marL="0">
              <a:buNone/>
            </a:pPr>
            <a:r>
              <a:rPr lang="en-US" sz="1800" b="1" dirty="0">
                <a:solidFill>
                  <a:srgbClr val="FF9900"/>
                </a:solidFill>
                <a:latin typeface="Inter" pitchFamily="34" charset="0"/>
                <a:ea typeface="Inter" pitchFamily="34" charset="-122"/>
                <a:cs typeface="Inter" pitchFamily="34" charset="-120"/>
              </a:rPr>
              <a:t>Deploy</a:t>
            </a:r>
            <a:endParaRPr lang="en-US" sz="1800" dirty="0"/>
          </a:p>
        </p:txBody>
      </p:sp>
      <p:sp>
        <p:nvSpPr>
          <p:cNvPr id="23" name="Text 21"/>
          <p:cNvSpPr/>
          <p:nvPr/>
        </p:nvSpPr>
        <p:spPr>
          <a:xfrm>
            <a:off x="2706624" y="3749040"/>
            <a:ext cx="2249424" cy="86868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Blueprint</a:t>
            </a:r>
            <a:endParaRPr lang="en-US" sz="1800" dirty="0"/>
          </a:p>
        </p:txBody>
      </p:sp>
      <p:sp>
        <p:nvSpPr>
          <p:cNvPr id="24" name="Text 22"/>
          <p:cNvSpPr/>
          <p:nvPr/>
        </p:nvSpPr>
        <p:spPr>
          <a:xfrm>
            <a:off x="4956048" y="3749040"/>
            <a:ext cx="2249424" cy="86868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CFN</a:t>
            </a:r>
            <a:endParaRPr lang="en-US" sz="1800" dirty="0"/>
          </a:p>
        </p:txBody>
      </p:sp>
      <p:sp>
        <p:nvSpPr>
          <p:cNvPr id="25" name="Text 23"/>
          <p:cNvSpPr/>
          <p:nvPr/>
        </p:nvSpPr>
        <p:spPr>
          <a:xfrm>
            <a:off x="7205472" y="3749040"/>
            <a:ext cx="2249424" cy="86868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CDK</a:t>
            </a:r>
            <a:endParaRPr lang="en-US" sz="1800" dirty="0"/>
          </a:p>
        </p:txBody>
      </p:sp>
      <p:sp>
        <p:nvSpPr>
          <p:cNvPr id="26" name="Text 24"/>
          <p:cNvSpPr/>
          <p:nvPr/>
        </p:nvSpPr>
        <p:spPr>
          <a:xfrm>
            <a:off x="9454896" y="3749040"/>
            <a:ext cx="2249424" cy="86868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K8s</a:t>
            </a:r>
            <a:endParaRPr lang="en-US" sz="1800" dirty="0"/>
          </a:p>
        </p:txBody>
      </p:sp>
      <p:sp>
        <p:nvSpPr>
          <p:cNvPr id="27" name="Text 25"/>
          <p:cNvSpPr/>
          <p:nvPr/>
        </p:nvSpPr>
        <p:spPr>
          <a:xfrm>
            <a:off x="457200" y="4617720"/>
            <a:ext cx="2249424" cy="868680"/>
          </a:xfrm>
          <a:prstGeom prst="rect">
            <a:avLst/>
          </a:prstGeom>
          <a:noFill/>
          <a:ln/>
        </p:spPr>
        <p:txBody>
          <a:bodyPr wrap="square" rtlCol="0" anchor="ctr"/>
          <a:lstStyle/>
          <a:p>
            <a:pPr algn="ctr" indent="0" marL="0">
              <a:buNone/>
            </a:pPr>
            <a:r>
              <a:rPr lang="en-US" sz="1800" b="1" dirty="0">
                <a:solidFill>
                  <a:srgbClr val="FF9900"/>
                </a:solidFill>
                <a:latin typeface="Inter" pitchFamily="34" charset="0"/>
                <a:ea typeface="Inter" pitchFamily="34" charset="-122"/>
                <a:cs typeface="Inter" pitchFamily="34" charset="-120"/>
              </a:rPr>
              <a:t>Isolation</a:t>
            </a:r>
            <a:endParaRPr lang="en-US" sz="1800" dirty="0"/>
          </a:p>
        </p:txBody>
      </p:sp>
      <p:sp>
        <p:nvSpPr>
          <p:cNvPr id="28" name="Text 26"/>
          <p:cNvSpPr/>
          <p:nvPr/>
        </p:nvSpPr>
        <p:spPr>
          <a:xfrm>
            <a:off x="2706624" y="4617720"/>
            <a:ext cx="2249424" cy="86868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None</a:t>
            </a:r>
            <a:endParaRPr lang="en-US" sz="1800" dirty="0"/>
          </a:p>
        </p:txBody>
      </p:sp>
      <p:sp>
        <p:nvSpPr>
          <p:cNvPr id="29" name="Text 27"/>
          <p:cNvSpPr/>
          <p:nvPr/>
        </p:nvSpPr>
        <p:spPr>
          <a:xfrm>
            <a:off x="4956048" y="4617720"/>
            <a:ext cx="2249424" cy="86868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None</a:t>
            </a:r>
            <a:endParaRPr lang="en-US" sz="1800" dirty="0"/>
          </a:p>
        </p:txBody>
      </p:sp>
      <p:sp>
        <p:nvSpPr>
          <p:cNvPr id="30" name="Text 28"/>
          <p:cNvSpPr/>
          <p:nvPr/>
        </p:nvSpPr>
        <p:spPr>
          <a:xfrm>
            <a:off x="7205472" y="4617720"/>
            <a:ext cx="2249424" cy="86868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microVM</a:t>
            </a:r>
            <a:endParaRPr lang="en-US" sz="1800" dirty="0"/>
          </a:p>
        </p:txBody>
      </p:sp>
      <p:sp>
        <p:nvSpPr>
          <p:cNvPr id="31" name="Text 29"/>
          <p:cNvSpPr/>
          <p:nvPr/>
        </p:nvSpPr>
        <p:spPr>
          <a:xfrm>
            <a:off x="9454896" y="4617720"/>
            <a:ext cx="2249424" cy="86868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Container</a:t>
            </a:r>
            <a:endParaRPr lang="en-US" sz="1800" dirty="0"/>
          </a:p>
        </p:txBody>
      </p:sp>
      <p:sp>
        <p:nvSpPr>
          <p:cNvPr id="32" name="Text 30"/>
          <p:cNvSpPr/>
          <p:nvPr/>
        </p:nvSpPr>
        <p:spPr>
          <a:xfrm>
            <a:off x="457200" y="5486400"/>
            <a:ext cx="2249424" cy="868680"/>
          </a:xfrm>
          <a:prstGeom prst="rect">
            <a:avLst/>
          </a:prstGeom>
          <a:noFill/>
          <a:ln/>
        </p:spPr>
        <p:txBody>
          <a:bodyPr wrap="square" rtlCol="0" anchor="ctr"/>
          <a:lstStyle/>
          <a:p>
            <a:pPr algn="ctr" indent="0" marL="0">
              <a:buNone/>
            </a:pPr>
            <a:r>
              <a:rPr lang="en-US" sz="1800" b="1" dirty="0">
                <a:solidFill>
                  <a:srgbClr val="FF9900"/>
                </a:solidFill>
                <a:latin typeface="Inter" pitchFamily="34" charset="0"/>
                <a:ea typeface="Inter" pitchFamily="34" charset="-122"/>
                <a:cs typeface="Inter" pitchFamily="34" charset="-120"/>
              </a:rPr>
              <a:t>Scaling</a:t>
            </a:r>
            <a:endParaRPr lang="en-US" sz="1800" dirty="0"/>
          </a:p>
        </p:txBody>
      </p:sp>
      <p:sp>
        <p:nvSpPr>
          <p:cNvPr id="33" name="Text 31"/>
          <p:cNvSpPr/>
          <p:nvPr/>
        </p:nvSpPr>
        <p:spPr>
          <a:xfrm>
            <a:off x="2706624" y="5486400"/>
            <a:ext cx="2249424" cy="86868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Manual</a:t>
            </a:r>
            <a:endParaRPr lang="en-US" sz="1800" dirty="0"/>
          </a:p>
        </p:txBody>
      </p:sp>
      <p:sp>
        <p:nvSpPr>
          <p:cNvPr id="34" name="Text 32"/>
          <p:cNvSpPr/>
          <p:nvPr/>
        </p:nvSpPr>
        <p:spPr>
          <a:xfrm>
            <a:off x="4956048" y="5486400"/>
            <a:ext cx="2249424" cy="86868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Manual</a:t>
            </a:r>
            <a:endParaRPr lang="en-US" sz="1800" dirty="0"/>
          </a:p>
        </p:txBody>
      </p:sp>
      <p:sp>
        <p:nvSpPr>
          <p:cNvPr id="35" name="Text 33"/>
          <p:cNvSpPr/>
          <p:nvPr/>
        </p:nvSpPr>
        <p:spPr>
          <a:xfrm>
            <a:off x="7205472" y="5486400"/>
            <a:ext cx="2249424" cy="86868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Serverless</a:t>
            </a:r>
            <a:endParaRPr lang="en-US" sz="1800" dirty="0"/>
          </a:p>
        </p:txBody>
      </p:sp>
      <p:sp>
        <p:nvSpPr>
          <p:cNvPr id="36" name="Text 34"/>
          <p:cNvSpPr/>
          <p:nvPr/>
        </p:nvSpPr>
        <p:spPr>
          <a:xfrm>
            <a:off x="9454896" y="5486400"/>
            <a:ext cx="2249424" cy="86868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Auto</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Text 2"/>
          <p:cNvSpPr/>
          <p:nvPr/>
        </p:nvSpPr>
        <p:spPr>
          <a:xfrm>
            <a:off x="548640" y="274320"/>
            <a:ext cx="10972800" cy="914400"/>
          </a:xfrm>
          <a:prstGeom prst="rect">
            <a:avLst/>
          </a:prstGeom>
          <a:noFill/>
          <a:ln/>
        </p:spPr>
        <p:txBody>
          <a:bodyPr wrap="square" rtlCol="0" anchor="ctr"/>
          <a:lstStyle/>
          <a:p>
            <a:pPr indent="0" marL="0">
              <a:buNone/>
            </a:pPr>
            <a:r>
              <a:rPr lang="en-US" sz="3600" b="1" dirty="0">
                <a:solidFill>
                  <a:srgbClr val="FFFFFF"/>
                </a:solidFill>
                <a:latin typeface="Montserrat" pitchFamily="34" charset="0"/>
                <a:ea typeface="Montserrat" pitchFamily="34" charset="-122"/>
                <a:cs typeface="Montserrat" pitchFamily="34" charset="-120"/>
              </a:rPr>
              <a:t>Architecture: OpenClaw on Lightsail</a:t>
            </a:r>
            <a:endParaRPr lang="en-US" sz="3600" dirty="0"/>
          </a:p>
        </p:txBody>
      </p:sp>
      <p:sp>
        <p:nvSpPr>
          <p:cNvPr id="5" name="Text 3"/>
          <p:cNvSpPr/>
          <p:nvPr/>
        </p:nvSpPr>
        <p:spPr>
          <a:xfrm>
            <a:off x="548640" y="1097280"/>
            <a:ext cx="10972800" cy="640080"/>
          </a:xfrm>
          <a:prstGeom prst="rect">
            <a:avLst/>
          </a:prstGeom>
          <a:noFill/>
          <a:ln/>
        </p:spPr>
        <p:txBody>
          <a:bodyPr wrap="square" rtlCol="0" anchor="ctr"/>
          <a:lstStyle/>
          <a:p>
            <a:pPr indent="0" marL="0">
              <a:buNone/>
            </a:pPr>
            <a:r>
              <a:rPr lang="en-US" sz="2400" dirty="0">
                <a:solidFill>
                  <a:srgbClr val="90CAF9"/>
                </a:solidFill>
                <a:latin typeface="Inter" pitchFamily="34" charset="0"/>
                <a:ea typeface="Inter" pitchFamily="34" charset="-122"/>
                <a:cs typeface="Inter" pitchFamily="34" charset="-120"/>
              </a:rPr>
              <a:t>One-click  ·  Pre-configured  ·  ~$17/mo</a:t>
            </a:r>
            <a:endParaRPr lang="en-US" sz="2400" dirty="0"/>
          </a:p>
        </p:txBody>
      </p:sp>
      <p:sp>
        <p:nvSpPr>
          <p:cNvPr id="6" name="Shape 4"/>
          <p:cNvSpPr/>
          <p:nvPr/>
        </p:nvSpPr>
        <p:spPr>
          <a:xfrm>
            <a:off x="457200" y="2560320"/>
            <a:ext cx="2560320" cy="2560320"/>
          </a:xfrm>
          <a:prstGeom prst="roundRect">
            <a:avLst>
              <a:gd name="adj" fmla="val 3571"/>
            </a:avLst>
          </a:prstGeom>
          <a:solidFill>
            <a:srgbClr val="1A1F4E">
              <a:alpha val="70000"/>
            </a:srgbClr>
          </a:solidFill>
          <a:ln w="19050">
            <a:solidFill>
              <a:srgbClr val="4FC3F7"/>
            </a:solidFill>
            <a:prstDash val="solid"/>
          </a:ln>
        </p:spPr>
      </p:sp>
      <p:sp>
        <p:nvSpPr>
          <p:cNvPr id="7" name="Text 5"/>
          <p:cNvSpPr/>
          <p:nvPr/>
        </p:nvSpPr>
        <p:spPr>
          <a:xfrm>
            <a:off x="457200" y="2560320"/>
            <a:ext cx="2560320" cy="2560320"/>
          </a:xfrm>
          <a:prstGeom prst="rect">
            <a:avLst/>
          </a:prstGeom>
          <a:noFill/>
          <a:ln/>
        </p:spPr>
        <p:txBody>
          <a:bodyPr wrap="square" rtlCol="0" anchor="ctr"/>
          <a:lstStyle/>
          <a:p>
            <a:pPr algn="ctr" indent="0" marL="0">
              <a:buNone/>
            </a:pPr>
            <a:r>
              <a:rPr lang="en-US" sz="2000" dirty="0">
                <a:solidFill>
                  <a:srgbClr val="FFFFFF"/>
                </a:solidFill>
                <a:latin typeface="Inter" pitchFamily="34" charset="0"/>
                <a:ea typeface="Inter" pitchFamily="34" charset="-122"/>
                <a:cs typeface="Inter" pitchFamily="34" charset="-120"/>
              </a:rPr>
              <a:t>You</a:t>
            </a:r>
            <a:endParaRPr lang="en-US" sz="2000" dirty="0"/>
          </a:p>
          <a:p>
            <a:pPr algn="ctr" indent="0" marL="0">
              <a:buNone/>
            </a:pPr>
            <a:r>
              <a:rPr lang="en-US" sz="2000" dirty="0">
                <a:solidFill>
                  <a:srgbClr val="FFFFFF"/>
                </a:solidFill>
                <a:latin typeface="Inter" pitchFamily="34" charset="0"/>
                <a:ea typeface="Inter" pitchFamily="34" charset="-122"/>
                <a:cs typeface="Inter" pitchFamily="34" charset="-120"/>
              </a:rPr>
              <a:t>(Browser)</a:t>
            </a:r>
            <a:endParaRPr lang="en-US" sz="2000" dirty="0"/>
          </a:p>
        </p:txBody>
      </p:sp>
      <p:sp>
        <p:nvSpPr>
          <p:cNvPr id="8" name="Text 6"/>
          <p:cNvSpPr/>
          <p:nvPr/>
        </p:nvSpPr>
        <p:spPr>
          <a:xfrm>
            <a:off x="3017520" y="3474720"/>
            <a:ext cx="457200" cy="731520"/>
          </a:xfrm>
          <a:prstGeom prst="rect">
            <a:avLst/>
          </a:prstGeom>
          <a:noFill/>
          <a:ln/>
        </p:spPr>
        <p:txBody>
          <a:bodyPr wrap="square" rtlCol="0" anchor="ctr"/>
          <a:lstStyle/>
          <a:p>
            <a:pPr algn="ctr" indent="0" marL="0">
              <a:buNone/>
            </a:pPr>
            <a:r>
              <a:rPr lang="en-US" sz="2800" dirty="0">
                <a:solidFill>
                  <a:srgbClr val="FF9900"/>
                </a:solidFill>
              </a:rPr>
              <a:t>→</a:t>
            </a:r>
            <a:endParaRPr lang="en-US" sz="2800" dirty="0"/>
          </a:p>
        </p:txBody>
      </p:sp>
      <p:sp>
        <p:nvSpPr>
          <p:cNvPr id="9" name="Shape 7"/>
          <p:cNvSpPr/>
          <p:nvPr/>
        </p:nvSpPr>
        <p:spPr>
          <a:xfrm>
            <a:off x="3383280" y="2560320"/>
            <a:ext cx="2560320" cy="2560320"/>
          </a:xfrm>
          <a:prstGeom prst="roundRect">
            <a:avLst>
              <a:gd name="adj" fmla="val 3571"/>
            </a:avLst>
          </a:prstGeom>
          <a:solidFill>
            <a:srgbClr val="1A1F4E">
              <a:alpha val="70000"/>
            </a:srgbClr>
          </a:solidFill>
          <a:ln w="19050">
            <a:solidFill>
              <a:srgbClr val="FF9900"/>
            </a:solidFill>
            <a:prstDash val="solid"/>
          </a:ln>
        </p:spPr>
      </p:sp>
      <p:sp>
        <p:nvSpPr>
          <p:cNvPr id="10" name="Text 8"/>
          <p:cNvSpPr/>
          <p:nvPr/>
        </p:nvSpPr>
        <p:spPr>
          <a:xfrm>
            <a:off x="3383280" y="2560320"/>
            <a:ext cx="2560320" cy="2560320"/>
          </a:xfrm>
          <a:prstGeom prst="rect">
            <a:avLst/>
          </a:prstGeom>
          <a:noFill/>
          <a:ln/>
        </p:spPr>
        <p:txBody>
          <a:bodyPr wrap="square" rtlCol="0" anchor="ctr"/>
          <a:lstStyle/>
          <a:p>
            <a:pPr algn="ctr" indent="0" marL="0">
              <a:buNone/>
            </a:pPr>
            <a:r>
              <a:rPr lang="en-US" sz="2000" dirty="0">
                <a:solidFill>
                  <a:srgbClr val="FFFFFF"/>
                </a:solidFill>
                <a:latin typeface="Inter" pitchFamily="34" charset="0"/>
                <a:ea typeface="Inter" pitchFamily="34" charset="-122"/>
                <a:cs typeface="Inter" pitchFamily="34" charset="-120"/>
              </a:rPr>
              <a:t>Lightsail</a:t>
            </a:r>
            <a:endParaRPr lang="en-US" sz="2000" dirty="0"/>
          </a:p>
          <a:p>
            <a:pPr algn="ctr" indent="0" marL="0">
              <a:buNone/>
            </a:pPr>
            <a:r>
              <a:rPr lang="en-US" sz="2000" dirty="0">
                <a:solidFill>
                  <a:srgbClr val="FFFFFF"/>
                </a:solidFill>
                <a:latin typeface="Inter" pitchFamily="34" charset="0"/>
                <a:ea typeface="Inter" pitchFamily="34" charset="-122"/>
                <a:cs typeface="Inter" pitchFamily="34" charset="-120"/>
              </a:rPr>
              <a:t>(OpenClaw)</a:t>
            </a:r>
            <a:endParaRPr lang="en-US" sz="2000" dirty="0"/>
          </a:p>
        </p:txBody>
      </p:sp>
      <p:sp>
        <p:nvSpPr>
          <p:cNvPr id="11" name="Text 9"/>
          <p:cNvSpPr/>
          <p:nvPr/>
        </p:nvSpPr>
        <p:spPr>
          <a:xfrm>
            <a:off x="5943600" y="3474720"/>
            <a:ext cx="457200" cy="731520"/>
          </a:xfrm>
          <a:prstGeom prst="rect">
            <a:avLst/>
          </a:prstGeom>
          <a:noFill/>
          <a:ln/>
        </p:spPr>
        <p:txBody>
          <a:bodyPr wrap="square" rtlCol="0" anchor="ctr"/>
          <a:lstStyle/>
          <a:p>
            <a:pPr algn="ctr" indent="0" marL="0">
              <a:buNone/>
            </a:pPr>
            <a:r>
              <a:rPr lang="en-US" sz="2800" dirty="0">
                <a:solidFill>
                  <a:srgbClr val="FF9900"/>
                </a:solidFill>
              </a:rPr>
              <a:t>→</a:t>
            </a:r>
            <a:endParaRPr lang="en-US" sz="2800" dirty="0"/>
          </a:p>
        </p:txBody>
      </p:sp>
      <p:sp>
        <p:nvSpPr>
          <p:cNvPr id="12" name="Shape 10"/>
          <p:cNvSpPr/>
          <p:nvPr/>
        </p:nvSpPr>
        <p:spPr>
          <a:xfrm>
            <a:off x="6309360" y="2560320"/>
            <a:ext cx="2560320" cy="2560320"/>
          </a:xfrm>
          <a:prstGeom prst="roundRect">
            <a:avLst>
              <a:gd name="adj" fmla="val 3571"/>
            </a:avLst>
          </a:prstGeom>
          <a:solidFill>
            <a:srgbClr val="1A1F4E">
              <a:alpha val="70000"/>
            </a:srgbClr>
          </a:solidFill>
          <a:ln w="19050">
            <a:solidFill>
              <a:srgbClr val="69F0AE"/>
            </a:solidFill>
            <a:prstDash val="solid"/>
          </a:ln>
        </p:spPr>
      </p:sp>
      <p:sp>
        <p:nvSpPr>
          <p:cNvPr id="13" name="Text 11"/>
          <p:cNvSpPr/>
          <p:nvPr/>
        </p:nvSpPr>
        <p:spPr>
          <a:xfrm>
            <a:off x="6309360" y="2560320"/>
            <a:ext cx="2560320" cy="2560320"/>
          </a:xfrm>
          <a:prstGeom prst="rect">
            <a:avLst/>
          </a:prstGeom>
          <a:noFill/>
          <a:ln/>
        </p:spPr>
        <p:txBody>
          <a:bodyPr wrap="square" rtlCol="0" anchor="ctr"/>
          <a:lstStyle/>
          <a:p>
            <a:pPr algn="ctr" indent="0" marL="0">
              <a:buNone/>
            </a:pPr>
            <a:r>
              <a:rPr lang="en-US" sz="2000" dirty="0">
                <a:solidFill>
                  <a:srgbClr val="FFFFFF"/>
                </a:solidFill>
                <a:latin typeface="Inter" pitchFamily="34" charset="0"/>
                <a:ea typeface="Inter" pitchFamily="34" charset="-122"/>
                <a:cs typeface="Inter" pitchFamily="34" charset="-120"/>
              </a:rPr>
              <a:t>IAM</a:t>
            </a:r>
            <a:endParaRPr lang="en-US" sz="2000" dirty="0"/>
          </a:p>
          <a:p>
            <a:pPr algn="ctr" indent="0" marL="0">
              <a:buNone/>
            </a:pPr>
            <a:r>
              <a:rPr lang="en-US" sz="2000" dirty="0">
                <a:solidFill>
                  <a:srgbClr val="FFFFFF"/>
                </a:solidFill>
                <a:latin typeface="Inter" pitchFamily="34" charset="0"/>
                <a:ea typeface="Inter" pitchFamily="34" charset="-122"/>
                <a:cs typeface="Inter" pitchFamily="34" charset="-120"/>
              </a:rPr>
              <a:t>Role</a:t>
            </a:r>
            <a:endParaRPr lang="en-US" sz="2000" dirty="0"/>
          </a:p>
        </p:txBody>
      </p:sp>
      <p:sp>
        <p:nvSpPr>
          <p:cNvPr id="14" name="Text 12"/>
          <p:cNvSpPr/>
          <p:nvPr/>
        </p:nvSpPr>
        <p:spPr>
          <a:xfrm>
            <a:off x="8869680" y="3474720"/>
            <a:ext cx="457200" cy="731520"/>
          </a:xfrm>
          <a:prstGeom prst="rect">
            <a:avLst/>
          </a:prstGeom>
          <a:noFill/>
          <a:ln/>
        </p:spPr>
        <p:txBody>
          <a:bodyPr wrap="square" rtlCol="0" anchor="ctr"/>
          <a:lstStyle/>
          <a:p>
            <a:pPr algn="ctr" indent="0" marL="0">
              <a:buNone/>
            </a:pPr>
            <a:r>
              <a:rPr lang="en-US" sz="2800" dirty="0">
                <a:solidFill>
                  <a:srgbClr val="FF9900"/>
                </a:solidFill>
              </a:rPr>
              <a:t>→</a:t>
            </a:r>
            <a:endParaRPr lang="en-US" sz="2800" dirty="0"/>
          </a:p>
        </p:txBody>
      </p:sp>
      <p:sp>
        <p:nvSpPr>
          <p:cNvPr id="15" name="Shape 13"/>
          <p:cNvSpPr/>
          <p:nvPr/>
        </p:nvSpPr>
        <p:spPr>
          <a:xfrm>
            <a:off x="9235440" y="2560320"/>
            <a:ext cx="2560320" cy="2560320"/>
          </a:xfrm>
          <a:prstGeom prst="roundRect">
            <a:avLst>
              <a:gd name="adj" fmla="val 3571"/>
            </a:avLst>
          </a:prstGeom>
          <a:solidFill>
            <a:srgbClr val="1A1F4E">
              <a:alpha val="70000"/>
            </a:srgbClr>
          </a:solidFill>
          <a:ln w="19050">
            <a:solidFill>
              <a:srgbClr val="CE93D8"/>
            </a:solidFill>
            <a:prstDash val="solid"/>
          </a:ln>
        </p:spPr>
      </p:sp>
      <p:sp>
        <p:nvSpPr>
          <p:cNvPr id="16" name="Text 14"/>
          <p:cNvSpPr/>
          <p:nvPr/>
        </p:nvSpPr>
        <p:spPr>
          <a:xfrm>
            <a:off x="9235440" y="2560320"/>
            <a:ext cx="2560320" cy="2560320"/>
          </a:xfrm>
          <a:prstGeom prst="rect">
            <a:avLst/>
          </a:prstGeom>
          <a:noFill/>
          <a:ln/>
        </p:spPr>
        <p:txBody>
          <a:bodyPr wrap="square" rtlCol="0" anchor="ctr"/>
          <a:lstStyle/>
          <a:p>
            <a:pPr algn="ctr" indent="0" marL="0">
              <a:buNone/>
            </a:pPr>
            <a:r>
              <a:rPr lang="en-US" sz="2000" dirty="0">
                <a:solidFill>
                  <a:srgbClr val="FFFFFF"/>
                </a:solidFill>
                <a:latin typeface="Inter" pitchFamily="34" charset="0"/>
                <a:ea typeface="Inter" pitchFamily="34" charset="-122"/>
                <a:cs typeface="Inter" pitchFamily="34" charset="-120"/>
              </a:rPr>
              <a:t>Bedrock</a:t>
            </a:r>
            <a:endParaRPr lang="en-US" sz="2000" dirty="0"/>
          </a:p>
          <a:p>
            <a:pPr algn="ctr" indent="0" marL="0">
              <a:buNone/>
            </a:pPr>
            <a:r>
              <a:rPr lang="en-US" sz="2000" dirty="0">
                <a:solidFill>
                  <a:srgbClr val="FFFFFF"/>
                </a:solidFill>
                <a:latin typeface="Inter" pitchFamily="34" charset="0"/>
                <a:ea typeface="Inter" pitchFamily="34" charset="-122"/>
                <a:cs typeface="Inter" pitchFamily="34" charset="-120"/>
              </a:rPr>
              <a:t>(Models)</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Shape 2"/>
          <p:cNvSpPr/>
          <p:nvPr/>
        </p:nvSpPr>
        <p:spPr>
          <a:xfrm>
            <a:off x="4709160" y="1371600"/>
            <a:ext cx="2743200" cy="2743200"/>
          </a:xfrm>
          <a:prstGeom prst="ellipse">
            <a:avLst/>
          </a:prstGeom>
          <a:solidFill>
            <a:srgbClr val="0A0E27">
              <a:alpha val="0"/>
            </a:srgbClr>
          </a:solidFill>
          <a:ln w="50800">
            <a:solidFill>
              <a:srgbClr val="FF9900"/>
            </a:solidFill>
            <a:prstDash val="solid"/>
          </a:ln>
        </p:spPr>
      </p:sp>
      <p:sp>
        <p:nvSpPr>
          <p:cNvPr id="5" name="Text 3"/>
          <p:cNvSpPr/>
          <p:nvPr/>
        </p:nvSpPr>
        <p:spPr>
          <a:xfrm>
            <a:off x="4709160" y="1371600"/>
            <a:ext cx="2743200" cy="2743200"/>
          </a:xfrm>
          <a:prstGeom prst="rect">
            <a:avLst/>
          </a:prstGeom>
          <a:noFill/>
          <a:ln/>
        </p:spPr>
        <p:txBody>
          <a:bodyPr wrap="square" rtlCol="0" anchor="ctr"/>
          <a:lstStyle/>
          <a:p>
            <a:pPr algn="ctr" indent="0" marL="0">
              <a:buNone/>
            </a:pPr>
            <a:r>
              <a:rPr lang="en-US" sz="7200" dirty="0">
                <a:solidFill>
                  <a:srgbClr val="FF9900"/>
                </a:solidFill>
                <a:latin typeface="Inter" pitchFamily="34" charset="0"/>
                <a:ea typeface="Inter" pitchFamily="34" charset="-122"/>
                <a:cs typeface="Inter" pitchFamily="34" charset="-120"/>
              </a:rPr>
              <a:t>▶</a:t>
            </a:r>
            <a:endParaRPr lang="en-US" sz="7200" dirty="0"/>
          </a:p>
        </p:txBody>
      </p:sp>
      <p:sp>
        <p:nvSpPr>
          <p:cNvPr id="6" name="Text 4"/>
          <p:cNvSpPr/>
          <p:nvPr/>
        </p:nvSpPr>
        <p:spPr>
          <a:xfrm>
            <a:off x="3657600" y="4389120"/>
            <a:ext cx="4846320" cy="914400"/>
          </a:xfrm>
          <a:prstGeom prst="rect">
            <a:avLst/>
          </a:prstGeom>
          <a:noFill/>
          <a:ln/>
        </p:spPr>
        <p:txBody>
          <a:bodyPr wrap="square" rtlCol="0" anchor="ctr"/>
          <a:lstStyle/>
          <a:p>
            <a:pPr algn="ctr" indent="0" marL="0">
              <a:buNone/>
            </a:pPr>
            <a:r>
              <a:rPr lang="en-US" sz="4400" b="1" dirty="0">
                <a:solidFill>
                  <a:srgbClr val="FFFFFF"/>
                </a:solidFill>
                <a:latin typeface="Montserrat" pitchFamily="34" charset="0"/>
                <a:ea typeface="Montserrat" pitchFamily="34" charset="-122"/>
                <a:cs typeface="Montserrat" pitchFamily="34" charset="-120"/>
              </a:rPr>
              <a:t>DEMO</a:t>
            </a:r>
            <a:endParaRPr lang="en-US" sz="4400" dirty="0"/>
          </a:p>
        </p:txBody>
      </p:sp>
      <p:sp>
        <p:nvSpPr>
          <p:cNvPr id="7" name="Text 5"/>
          <p:cNvSpPr/>
          <p:nvPr/>
        </p:nvSpPr>
        <p:spPr>
          <a:xfrm>
            <a:off x="2743200" y="5303520"/>
            <a:ext cx="6675120" cy="731520"/>
          </a:xfrm>
          <a:prstGeom prst="rect">
            <a:avLst/>
          </a:prstGeom>
          <a:noFill/>
          <a:ln/>
        </p:spPr>
        <p:txBody>
          <a:bodyPr wrap="square" rtlCol="0" anchor="ctr"/>
          <a:lstStyle/>
          <a:p>
            <a:pPr algn="ctr" indent="0" marL="0">
              <a:buNone/>
            </a:pPr>
            <a:r>
              <a:rPr lang="en-US" sz="2600" dirty="0">
                <a:solidFill>
                  <a:srgbClr val="90CAF9"/>
                </a:solidFill>
                <a:latin typeface="Inter" pitchFamily="34" charset="0"/>
                <a:ea typeface="Inter" pitchFamily="34" charset="-122"/>
                <a:cs typeface="Inter" pitchFamily="34" charset="-120"/>
              </a:rPr>
              <a:t>OpenClaw on Lightsail</a:t>
            </a:r>
            <a:endParaRPr lang="en-US" sz="2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Text 2"/>
          <p:cNvSpPr/>
          <p:nvPr/>
        </p:nvSpPr>
        <p:spPr>
          <a:xfrm>
            <a:off x="731520" y="274320"/>
            <a:ext cx="8229600" cy="914400"/>
          </a:xfrm>
          <a:prstGeom prst="rect">
            <a:avLst/>
          </a:prstGeom>
          <a:noFill/>
          <a:ln/>
        </p:spPr>
        <p:txBody>
          <a:bodyPr wrap="square" rtlCol="0" anchor="ctr"/>
          <a:lstStyle/>
          <a:p>
            <a:pPr indent="0" marL="0">
              <a:buNone/>
            </a:pPr>
            <a:r>
              <a:rPr lang="en-US" sz="4000" b="1" dirty="0">
                <a:solidFill>
                  <a:srgbClr val="FFFFFF"/>
                </a:solidFill>
                <a:latin typeface="Montserrat" pitchFamily="34" charset="0"/>
                <a:ea typeface="Montserrat" pitchFamily="34" charset="-122"/>
                <a:cs typeface="Montserrat" pitchFamily="34" charset="-120"/>
              </a:rPr>
              <a:t>What Just Happened</a:t>
            </a:r>
            <a:endParaRPr lang="en-US" sz="4000" dirty="0"/>
          </a:p>
        </p:txBody>
      </p:sp>
      <p:sp>
        <p:nvSpPr>
          <p:cNvPr id="5" name="Text 3"/>
          <p:cNvSpPr/>
          <p:nvPr/>
        </p:nvSpPr>
        <p:spPr>
          <a:xfrm>
            <a:off x="8686800" y="457200"/>
            <a:ext cx="2926080" cy="640080"/>
          </a:xfrm>
          <a:prstGeom prst="rect">
            <a:avLst/>
          </a:prstGeom>
          <a:noFill/>
          <a:ln/>
        </p:spPr>
        <p:txBody>
          <a:bodyPr wrap="square" rtlCol="0" anchor="ctr"/>
          <a:lstStyle/>
          <a:p>
            <a:pPr algn="r" indent="0" marL="0">
              <a:buNone/>
            </a:pPr>
            <a:r>
              <a:rPr lang="en-US" sz="2000" dirty="0">
                <a:solidFill>
                  <a:srgbClr val="FF9900"/>
                </a:solidFill>
                <a:latin typeface="Inter" pitchFamily="34" charset="0"/>
                <a:ea typeface="Inter" pitchFamily="34" charset="-122"/>
                <a:cs typeface="Inter" pitchFamily="34" charset="-120"/>
              </a:rPr>
              <a:t>LIGHTSAIL</a:t>
            </a:r>
            <a:endParaRPr lang="en-US" sz="2000" dirty="0"/>
          </a:p>
        </p:txBody>
      </p:sp>
      <p:sp>
        <p:nvSpPr>
          <p:cNvPr id="6" name="Shape 4"/>
          <p:cNvSpPr/>
          <p:nvPr/>
        </p:nvSpPr>
        <p:spPr>
          <a:xfrm>
            <a:off x="731520" y="1645920"/>
            <a:ext cx="10515600" cy="1005840"/>
          </a:xfrm>
          <a:prstGeom prst="roundRect">
            <a:avLst>
              <a:gd name="adj" fmla="val 9091"/>
            </a:avLst>
          </a:prstGeom>
          <a:solidFill>
            <a:srgbClr val="1A1F4E">
              <a:alpha val="70000"/>
            </a:srgbClr>
          </a:solidFill>
          <a:ln w="19050">
            <a:solidFill>
              <a:srgbClr val="69F0AE"/>
            </a:solidFill>
            <a:prstDash val="solid"/>
          </a:ln>
        </p:spPr>
      </p:sp>
      <p:sp>
        <p:nvSpPr>
          <p:cNvPr id="7" name="Text 5"/>
          <p:cNvSpPr/>
          <p:nvPr/>
        </p:nvSpPr>
        <p:spPr>
          <a:xfrm>
            <a:off x="1371600" y="1645920"/>
            <a:ext cx="9601200" cy="1005840"/>
          </a:xfrm>
          <a:prstGeom prst="rect">
            <a:avLst/>
          </a:prstGeom>
          <a:noFill/>
          <a:ln/>
        </p:spPr>
        <p:txBody>
          <a:bodyPr wrap="square" rtlCol="0" anchor="ctr"/>
          <a:lstStyle/>
          <a:p>
            <a:pPr indent="0" marL="0">
              <a:buNone/>
            </a:pPr>
            <a:r>
              <a:rPr lang="en-US" sz="2400" dirty="0">
                <a:solidFill>
                  <a:srgbClr val="FFFFFF"/>
                </a:solidFill>
                <a:latin typeface="Inter" pitchFamily="34" charset="0"/>
                <a:ea typeface="Inter" pitchFamily="34" charset="-122"/>
                <a:cs typeface="Inter" pitchFamily="34" charset="-120"/>
              </a:rPr>
              <a:t>✓  VM with OpenClaw pre-installed</a:t>
            </a:r>
            <a:endParaRPr lang="en-US" sz="2400" dirty="0"/>
          </a:p>
        </p:txBody>
      </p:sp>
      <p:sp>
        <p:nvSpPr>
          <p:cNvPr id="8" name="Shape 6"/>
          <p:cNvSpPr/>
          <p:nvPr/>
        </p:nvSpPr>
        <p:spPr>
          <a:xfrm>
            <a:off x="731520" y="2880360"/>
            <a:ext cx="10515600" cy="1005840"/>
          </a:xfrm>
          <a:prstGeom prst="roundRect">
            <a:avLst>
              <a:gd name="adj" fmla="val 9091"/>
            </a:avLst>
          </a:prstGeom>
          <a:solidFill>
            <a:srgbClr val="1A1F4E">
              <a:alpha val="70000"/>
            </a:srgbClr>
          </a:solidFill>
          <a:ln w="19050">
            <a:solidFill>
              <a:srgbClr val="69F0AE"/>
            </a:solidFill>
            <a:prstDash val="solid"/>
          </a:ln>
        </p:spPr>
      </p:sp>
      <p:sp>
        <p:nvSpPr>
          <p:cNvPr id="9" name="Text 7"/>
          <p:cNvSpPr/>
          <p:nvPr/>
        </p:nvSpPr>
        <p:spPr>
          <a:xfrm>
            <a:off x="1371600" y="2880360"/>
            <a:ext cx="9601200" cy="1005840"/>
          </a:xfrm>
          <a:prstGeom prst="rect">
            <a:avLst/>
          </a:prstGeom>
          <a:noFill/>
          <a:ln/>
        </p:spPr>
        <p:txBody>
          <a:bodyPr wrap="square" rtlCol="0" anchor="ctr"/>
          <a:lstStyle/>
          <a:p>
            <a:pPr indent="0" marL="0">
              <a:buNone/>
            </a:pPr>
            <a:r>
              <a:rPr lang="en-US" sz="2400" dirty="0">
                <a:solidFill>
                  <a:srgbClr val="FFFFFF"/>
                </a:solidFill>
                <a:latin typeface="Inter" pitchFamily="34" charset="0"/>
                <a:ea typeface="Inter" pitchFamily="34" charset="-122"/>
                <a:cs typeface="Inter" pitchFamily="34" charset="-120"/>
              </a:rPr>
              <a:t>✓  IAM role grants Bedrock access</a:t>
            </a:r>
            <a:endParaRPr lang="en-US" sz="2400" dirty="0"/>
          </a:p>
        </p:txBody>
      </p:sp>
      <p:sp>
        <p:nvSpPr>
          <p:cNvPr id="10" name="Shape 8"/>
          <p:cNvSpPr/>
          <p:nvPr/>
        </p:nvSpPr>
        <p:spPr>
          <a:xfrm>
            <a:off x="731520" y="4114800"/>
            <a:ext cx="10515600" cy="1005840"/>
          </a:xfrm>
          <a:prstGeom prst="roundRect">
            <a:avLst>
              <a:gd name="adj" fmla="val 9091"/>
            </a:avLst>
          </a:prstGeom>
          <a:solidFill>
            <a:srgbClr val="1A1F4E">
              <a:alpha val="70000"/>
            </a:srgbClr>
          </a:solidFill>
          <a:ln w="19050">
            <a:solidFill>
              <a:srgbClr val="69F0AE"/>
            </a:solidFill>
            <a:prstDash val="solid"/>
          </a:ln>
        </p:spPr>
      </p:sp>
      <p:sp>
        <p:nvSpPr>
          <p:cNvPr id="11" name="Text 9"/>
          <p:cNvSpPr/>
          <p:nvPr/>
        </p:nvSpPr>
        <p:spPr>
          <a:xfrm>
            <a:off x="1371600" y="4114800"/>
            <a:ext cx="9601200" cy="1005840"/>
          </a:xfrm>
          <a:prstGeom prst="rect">
            <a:avLst/>
          </a:prstGeom>
          <a:noFill/>
          <a:ln/>
        </p:spPr>
        <p:txBody>
          <a:bodyPr wrap="square" rtlCol="0" anchor="ctr"/>
          <a:lstStyle/>
          <a:p>
            <a:pPr indent="0" marL="0">
              <a:buNone/>
            </a:pPr>
            <a:r>
              <a:rPr lang="en-US" sz="2400" dirty="0">
                <a:solidFill>
                  <a:srgbClr val="FFFFFF"/>
                </a:solidFill>
                <a:latin typeface="Inter" pitchFamily="34" charset="0"/>
                <a:ea typeface="Inter" pitchFamily="34" charset="-122"/>
                <a:cs typeface="Inter" pitchFamily="34" charset="-120"/>
              </a:rPr>
              <a:t>✓  All channels ready to connect</a:t>
            </a:r>
            <a:endParaRPr lang="en-US" sz="2400" dirty="0"/>
          </a:p>
        </p:txBody>
      </p:sp>
      <p:sp>
        <p:nvSpPr>
          <p:cNvPr id="12" name="Shape 10"/>
          <p:cNvSpPr/>
          <p:nvPr/>
        </p:nvSpPr>
        <p:spPr>
          <a:xfrm>
            <a:off x="731520" y="5349240"/>
            <a:ext cx="10515600" cy="1005840"/>
          </a:xfrm>
          <a:prstGeom prst="roundRect">
            <a:avLst>
              <a:gd name="adj" fmla="val 9091"/>
            </a:avLst>
          </a:prstGeom>
          <a:solidFill>
            <a:srgbClr val="1A1F4E">
              <a:alpha val="70000"/>
            </a:srgbClr>
          </a:solidFill>
          <a:ln w="19050">
            <a:solidFill>
              <a:srgbClr val="69F0AE"/>
            </a:solidFill>
            <a:prstDash val="solid"/>
          </a:ln>
        </p:spPr>
      </p:sp>
      <p:sp>
        <p:nvSpPr>
          <p:cNvPr id="13" name="Text 11"/>
          <p:cNvSpPr/>
          <p:nvPr/>
        </p:nvSpPr>
        <p:spPr>
          <a:xfrm>
            <a:off x="1371600" y="5349240"/>
            <a:ext cx="9601200" cy="1005840"/>
          </a:xfrm>
          <a:prstGeom prst="rect">
            <a:avLst/>
          </a:prstGeom>
          <a:noFill/>
          <a:ln/>
        </p:spPr>
        <p:txBody>
          <a:bodyPr wrap="square" rtlCol="0" anchor="ctr"/>
          <a:lstStyle/>
          <a:p>
            <a:pPr indent="0" marL="0">
              <a:buNone/>
            </a:pPr>
            <a:r>
              <a:rPr lang="en-US" sz="2400" dirty="0">
                <a:solidFill>
                  <a:srgbClr val="FFFFFF"/>
                </a:solidFill>
                <a:latin typeface="Inter" pitchFamily="34" charset="0"/>
                <a:ea typeface="Inter" pitchFamily="34" charset="-122"/>
                <a:cs typeface="Inter" pitchFamily="34" charset="-120"/>
              </a:rPr>
              <a:t>✓  Single-user, no isolation</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Text 2"/>
          <p:cNvSpPr/>
          <p:nvPr/>
        </p:nvSpPr>
        <p:spPr>
          <a:xfrm>
            <a:off x="548640" y="274320"/>
            <a:ext cx="10972800" cy="914400"/>
          </a:xfrm>
          <a:prstGeom prst="rect">
            <a:avLst/>
          </a:prstGeom>
          <a:noFill/>
          <a:ln/>
        </p:spPr>
        <p:txBody>
          <a:bodyPr wrap="square" rtlCol="0" anchor="ctr"/>
          <a:lstStyle/>
          <a:p>
            <a:pPr indent="0" marL="0">
              <a:buNone/>
            </a:pPr>
            <a:r>
              <a:rPr lang="en-US" sz="3600" b="1" dirty="0">
                <a:solidFill>
                  <a:srgbClr val="FFFFFF"/>
                </a:solidFill>
                <a:latin typeface="Montserrat" pitchFamily="34" charset="0"/>
                <a:ea typeface="Montserrat" pitchFamily="34" charset="-122"/>
                <a:cs typeface="Montserrat" pitchFamily="34" charset="-120"/>
              </a:rPr>
              <a:t>Architecture: OpenClaw on EC2</a:t>
            </a:r>
            <a:endParaRPr lang="en-US" sz="3600" dirty="0"/>
          </a:p>
        </p:txBody>
      </p:sp>
      <p:sp>
        <p:nvSpPr>
          <p:cNvPr id="5" name="Text 3"/>
          <p:cNvSpPr/>
          <p:nvPr/>
        </p:nvSpPr>
        <p:spPr>
          <a:xfrm>
            <a:off x="548640" y="1097280"/>
            <a:ext cx="10972800" cy="640080"/>
          </a:xfrm>
          <a:prstGeom prst="rect">
            <a:avLst/>
          </a:prstGeom>
          <a:noFill/>
          <a:ln/>
        </p:spPr>
        <p:txBody>
          <a:bodyPr wrap="square" rtlCol="0" anchor="ctr"/>
          <a:lstStyle/>
          <a:p>
            <a:pPr indent="0" marL="0">
              <a:buNone/>
            </a:pPr>
            <a:r>
              <a:rPr lang="en-US" sz="2400" dirty="0">
                <a:solidFill>
                  <a:srgbClr val="90CAF9"/>
                </a:solidFill>
                <a:latin typeface="Inter" pitchFamily="34" charset="0"/>
                <a:ea typeface="Inter" pitchFamily="34" charset="-122"/>
                <a:cs typeface="Inter" pitchFamily="34" charset="-120"/>
              </a:rPr>
              <a:t>CloudFormation  ·  Graviton  ·  SSM  ·  ~$30/mo</a:t>
            </a:r>
            <a:endParaRPr lang="en-US" sz="2400" dirty="0"/>
          </a:p>
        </p:txBody>
      </p:sp>
      <p:sp>
        <p:nvSpPr>
          <p:cNvPr id="6" name="Shape 4"/>
          <p:cNvSpPr/>
          <p:nvPr/>
        </p:nvSpPr>
        <p:spPr>
          <a:xfrm>
            <a:off x="457200" y="2560320"/>
            <a:ext cx="2560320" cy="2560320"/>
          </a:xfrm>
          <a:prstGeom prst="roundRect">
            <a:avLst>
              <a:gd name="adj" fmla="val 3571"/>
            </a:avLst>
          </a:prstGeom>
          <a:solidFill>
            <a:srgbClr val="1A1F4E">
              <a:alpha val="70000"/>
            </a:srgbClr>
          </a:solidFill>
          <a:ln w="19050">
            <a:solidFill>
              <a:srgbClr val="4FC3F7"/>
            </a:solidFill>
            <a:prstDash val="solid"/>
          </a:ln>
        </p:spPr>
      </p:sp>
      <p:sp>
        <p:nvSpPr>
          <p:cNvPr id="7" name="Text 5"/>
          <p:cNvSpPr/>
          <p:nvPr/>
        </p:nvSpPr>
        <p:spPr>
          <a:xfrm>
            <a:off x="457200" y="2560320"/>
            <a:ext cx="2560320" cy="2560320"/>
          </a:xfrm>
          <a:prstGeom prst="rect">
            <a:avLst/>
          </a:prstGeom>
          <a:noFill/>
          <a:ln/>
        </p:spPr>
        <p:txBody>
          <a:bodyPr wrap="square" rtlCol="0" anchor="ctr"/>
          <a:lstStyle/>
          <a:p>
            <a:pPr algn="ctr" indent="0" marL="0">
              <a:buNone/>
            </a:pPr>
            <a:r>
              <a:rPr lang="en-US" sz="2000" dirty="0">
                <a:solidFill>
                  <a:srgbClr val="FFFFFF"/>
                </a:solidFill>
                <a:latin typeface="Inter" pitchFamily="34" charset="0"/>
                <a:ea typeface="Inter" pitchFamily="34" charset="-122"/>
                <a:cs typeface="Inter" pitchFamily="34" charset="-120"/>
              </a:rPr>
              <a:t>Messaging</a:t>
            </a:r>
            <a:endParaRPr lang="en-US" sz="2000" dirty="0"/>
          </a:p>
          <a:p>
            <a:pPr algn="ctr" indent="0" marL="0">
              <a:buNone/>
            </a:pPr>
            <a:r>
              <a:rPr lang="en-US" sz="2000" dirty="0">
                <a:solidFill>
                  <a:srgbClr val="FFFFFF"/>
                </a:solidFill>
                <a:latin typeface="Inter" pitchFamily="34" charset="0"/>
                <a:ea typeface="Inter" pitchFamily="34" charset="-122"/>
                <a:cs typeface="Inter" pitchFamily="34" charset="-120"/>
              </a:rPr>
              <a:t>Channels</a:t>
            </a:r>
            <a:endParaRPr lang="en-US" sz="2000" dirty="0"/>
          </a:p>
        </p:txBody>
      </p:sp>
      <p:sp>
        <p:nvSpPr>
          <p:cNvPr id="8" name="Text 6"/>
          <p:cNvSpPr/>
          <p:nvPr/>
        </p:nvSpPr>
        <p:spPr>
          <a:xfrm>
            <a:off x="3017520" y="3474720"/>
            <a:ext cx="457200" cy="731520"/>
          </a:xfrm>
          <a:prstGeom prst="rect">
            <a:avLst/>
          </a:prstGeom>
          <a:noFill/>
          <a:ln/>
        </p:spPr>
        <p:txBody>
          <a:bodyPr wrap="square" rtlCol="0" anchor="ctr"/>
          <a:lstStyle/>
          <a:p>
            <a:pPr algn="ctr" indent="0" marL="0">
              <a:buNone/>
            </a:pPr>
            <a:r>
              <a:rPr lang="en-US" sz="2800" dirty="0">
                <a:solidFill>
                  <a:srgbClr val="FF9900"/>
                </a:solidFill>
              </a:rPr>
              <a:t>→</a:t>
            </a:r>
            <a:endParaRPr lang="en-US" sz="2800" dirty="0"/>
          </a:p>
        </p:txBody>
      </p:sp>
      <p:sp>
        <p:nvSpPr>
          <p:cNvPr id="9" name="Shape 7"/>
          <p:cNvSpPr/>
          <p:nvPr/>
        </p:nvSpPr>
        <p:spPr>
          <a:xfrm>
            <a:off x="3383280" y="2560320"/>
            <a:ext cx="2560320" cy="2560320"/>
          </a:xfrm>
          <a:prstGeom prst="roundRect">
            <a:avLst>
              <a:gd name="adj" fmla="val 3571"/>
            </a:avLst>
          </a:prstGeom>
          <a:solidFill>
            <a:srgbClr val="1A1F4E">
              <a:alpha val="70000"/>
            </a:srgbClr>
          </a:solidFill>
          <a:ln w="19050">
            <a:solidFill>
              <a:srgbClr val="FF9900"/>
            </a:solidFill>
            <a:prstDash val="solid"/>
          </a:ln>
        </p:spPr>
      </p:sp>
      <p:sp>
        <p:nvSpPr>
          <p:cNvPr id="10" name="Text 8"/>
          <p:cNvSpPr/>
          <p:nvPr/>
        </p:nvSpPr>
        <p:spPr>
          <a:xfrm>
            <a:off x="3383280" y="2560320"/>
            <a:ext cx="2560320" cy="2560320"/>
          </a:xfrm>
          <a:prstGeom prst="rect">
            <a:avLst/>
          </a:prstGeom>
          <a:noFill/>
          <a:ln/>
        </p:spPr>
        <p:txBody>
          <a:bodyPr wrap="square" rtlCol="0" anchor="ctr"/>
          <a:lstStyle/>
          <a:p>
            <a:pPr algn="ctr" indent="0" marL="0">
              <a:buNone/>
            </a:pPr>
            <a:r>
              <a:rPr lang="en-US" sz="2000" dirty="0">
                <a:solidFill>
                  <a:srgbClr val="FFFFFF"/>
                </a:solidFill>
                <a:latin typeface="Inter" pitchFamily="34" charset="0"/>
                <a:ea typeface="Inter" pitchFamily="34" charset="-122"/>
                <a:cs typeface="Inter" pitchFamily="34" charset="-120"/>
              </a:rPr>
              <a:t>EC2</a:t>
            </a:r>
            <a:endParaRPr lang="en-US" sz="2000" dirty="0"/>
          </a:p>
          <a:p>
            <a:pPr algn="ctr" indent="0" marL="0">
              <a:buNone/>
            </a:pPr>
            <a:r>
              <a:rPr lang="en-US" sz="2000" dirty="0">
                <a:solidFill>
                  <a:srgbClr val="FFFFFF"/>
                </a:solidFill>
                <a:latin typeface="Inter" pitchFamily="34" charset="0"/>
                <a:ea typeface="Inter" pitchFamily="34" charset="-122"/>
                <a:cs typeface="Inter" pitchFamily="34" charset="-120"/>
              </a:rPr>
              <a:t>(Graviton)</a:t>
            </a:r>
            <a:endParaRPr lang="en-US" sz="2000" dirty="0"/>
          </a:p>
        </p:txBody>
      </p:sp>
      <p:sp>
        <p:nvSpPr>
          <p:cNvPr id="11" name="Text 9"/>
          <p:cNvSpPr/>
          <p:nvPr/>
        </p:nvSpPr>
        <p:spPr>
          <a:xfrm>
            <a:off x="5943600" y="3474720"/>
            <a:ext cx="457200" cy="731520"/>
          </a:xfrm>
          <a:prstGeom prst="rect">
            <a:avLst/>
          </a:prstGeom>
          <a:noFill/>
          <a:ln/>
        </p:spPr>
        <p:txBody>
          <a:bodyPr wrap="square" rtlCol="0" anchor="ctr"/>
          <a:lstStyle/>
          <a:p>
            <a:pPr algn="ctr" indent="0" marL="0">
              <a:buNone/>
            </a:pPr>
            <a:r>
              <a:rPr lang="en-US" sz="2800" dirty="0">
                <a:solidFill>
                  <a:srgbClr val="FF9900"/>
                </a:solidFill>
              </a:rPr>
              <a:t>→</a:t>
            </a:r>
            <a:endParaRPr lang="en-US" sz="2800" dirty="0"/>
          </a:p>
        </p:txBody>
      </p:sp>
      <p:sp>
        <p:nvSpPr>
          <p:cNvPr id="12" name="Shape 10"/>
          <p:cNvSpPr/>
          <p:nvPr/>
        </p:nvSpPr>
        <p:spPr>
          <a:xfrm>
            <a:off x="6309360" y="2560320"/>
            <a:ext cx="2560320" cy="2560320"/>
          </a:xfrm>
          <a:prstGeom prst="roundRect">
            <a:avLst>
              <a:gd name="adj" fmla="val 3571"/>
            </a:avLst>
          </a:prstGeom>
          <a:solidFill>
            <a:srgbClr val="1A1F4E">
              <a:alpha val="70000"/>
            </a:srgbClr>
          </a:solidFill>
          <a:ln w="19050">
            <a:solidFill>
              <a:srgbClr val="69F0AE"/>
            </a:solidFill>
            <a:prstDash val="solid"/>
          </a:ln>
        </p:spPr>
      </p:sp>
      <p:sp>
        <p:nvSpPr>
          <p:cNvPr id="13" name="Text 11"/>
          <p:cNvSpPr/>
          <p:nvPr/>
        </p:nvSpPr>
        <p:spPr>
          <a:xfrm>
            <a:off x="6309360" y="2560320"/>
            <a:ext cx="2560320" cy="2560320"/>
          </a:xfrm>
          <a:prstGeom prst="rect">
            <a:avLst/>
          </a:prstGeom>
          <a:noFill/>
          <a:ln/>
        </p:spPr>
        <p:txBody>
          <a:bodyPr wrap="square" rtlCol="0" anchor="ctr"/>
          <a:lstStyle/>
          <a:p>
            <a:pPr algn="ctr" indent="0" marL="0">
              <a:buNone/>
            </a:pPr>
            <a:r>
              <a:rPr lang="en-US" sz="2000" dirty="0">
                <a:solidFill>
                  <a:srgbClr val="FFFFFF"/>
                </a:solidFill>
                <a:latin typeface="Inter" pitchFamily="34" charset="0"/>
                <a:ea typeface="Inter" pitchFamily="34" charset="-122"/>
                <a:cs typeface="Inter" pitchFamily="34" charset="-120"/>
              </a:rPr>
              <a:t>SSM +</a:t>
            </a:r>
            <a:endParaRPr lang="en-US" sz="2000" dirty="0"/>
          </a:p>
          <a:p>
            <a:pPr algn="ctr" indent="0" marL="0">
              <a:buNone/>
            </a:pPr>
            <a:r>
              <a:rPr lang="en-US" sz="2000" dirty="0">
                <a:solidFill>
                  <a:srgbClr val="FFFFFF"/>
                </a:solidFill>
                <a:latin typeface="Inter" pitchFamily="34" charset="0"/>
                <a:ea typeface="Inter" pitchFamily="34" charset="-122"/>
                <a:cs typeface="Inter" pitchFamily="34" charset="-120"/>
              </a:rPr>
              <a:t>CloudTrail</a:t>
            </a:r>
            <a:endParaRPr lang="en-US" sz="2000" dirty="0"/>
          </a:p>
        </p:txBody>
      </p:sp>
      <p:sp>
        <p:nvSpPr>
          <p:cNvPr id="14" name="Text 12"/>
          <p:cNvSpPr/>
          <p:nvPr/>
        </p:nvSpPr>
        <p:spPr>
          <a:xfrm>
            <a:off x="8869680" y="3474720"/>
            <a:ext cx="457200" cy="731520"/>
          </a:xfrm>
          <a:prstGeom prst="rect">
            <a:avLst/>
          </a:prstGeom>
          <a:noFill/>
          <a:ln/>
        </p:spPr>
        <p:txBody>
          <a:bodyPr wrap="square" rtlCol="0" anchor="ctr"/>
          <a:lstStyle/>
          <a:p>
            <a:pPr algn="ctr" indent="0" marL="0">
              <a:buNone/>
            </a:pPr>
            <a:r>
              <a:rPr lang="en-US" sz="2800" dirty="0">
                <a:solidFill>
                  <a:srgbClr val="FF9900"/>
                </a:solidFill>
              </a:rPr>
              <a:t>→</a:t>
            </a:r>
            <a:endParaRPr lang="en-US" sz="2800" dirty="0"/>
          </a:p>
        </p:txBody>
      </p:sp>
      <p:sp>
        <p:nvSpPr>
          <p:cNvPr id="15" name="Shape 13"/>
          <p:cNvSpPr/>
          <p:nvPr/>
        </p:nvSpPr>
        <p:spPr>
          <a:xfrm>
            <a:off x="9235440" y="2560320"/>
            <a:ext cx="2560320" cy="2560320"/>
          </a:xfrm>
          <a:prstGeom prst="roundRect">
            <a:avLst>
              <a:gd name="adj" fmla="val 3571"/>
            </a:avLst>
          </a:prstGeom>
          <a:solidFill>
            <a:srgbClr val="1A1F4E">
              <a:alpha val="70000"/>
            </a:srgbClr>
          </a:solidFill>
          <a:ln w="19050">
            <a:solidFill>
              <a:srgbClr val="CE93D8"/>
            </a:solidFill>
            <a:prstDash val="solid"/>
          </a:ln>
        </p:spPr>
      </p:sp>
      <p:sp>
        <p:nvSpPr>
          <p:cNvPr id="16" name="Text 14"/>
          <p:cNvSpPr/>
          <p:nvPr/>
        </p:nvSpPr>
        <p:spPr>
          <a:xfrm>
            <a:off x="9235440" y="2560320"/>
            <a:ext cx="2560320" cy="2560320"/>
          </a:xfrm>
          <a:prstGeom prst="rect">
            <a:avLst/>
          </a:prstGeom>
          <a:noFill/>
          <a:ln/>
        </p:spPr>
        <p:txBody>
          <a:bodyPr wrap="square" rtlCol="0" anchor="ctr"/>
          <a:lstStyle/>
          <a:p>
            <a:pPr algn="ctr" indent="0" marL="0">
              <a:buNone/>
            </a:pPr>
            <a:r>
              <a:rPr lang="en-US" sz="2000" dirty="0">
                <a:solidFill>
                  <a:srgbClr val="FFFFFF"/>
                </a:solidFill>
                <a:latin typeface="Inter" pitchFamily="34" charset="0"/>
                <a:ea typeface="Inter" pitchFamily="34" charset="-122"/>
                <a:cs typeface="Inter" pitchFamily="34" charset="-120"/>
              </a:rPr>
              <a:t>Bedrock</a:t>
            </a:r>
            <a:endParaRPr lang="en-US" sz="2000" dirty="0"/>
          </a:p>
          <a:p>
            <a:pPr algn="ctr" indent="0" marL="0">
              <a:buNone/>
            </a:pPr>
            <a:r>
              <a:rPr lang="en-US" sz="2000" dirty="0">
                <a:solidFill>
                  <a:srgbClr val="FFFFFF"/>
                </a:solidFill>
                <a:latin typeface="Inter" pitchFamily="34" charset="0"/>
                <a:ea typeface="Inter" pitchFamily="34" charset="-122"/>
                <a:cs typeface="Inter" pitchFamily="34" charset="-120"/>
              </a:rPr>
              <a:t>(Models)</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Shape 2"/>
          <p:cNvSpPr/>
          <p:nvPr/>
        </p:nvSpPr>
        <p:spPr>
          <a:xfrm>
            <a:off x="4709160" y="1371600"/>
            <a:ext cx="2743200" cy="2743200"/>
          </a:xfrm>
          <a:prstGeom prst="ellipse">
            <a:avLst/>
          </a:prstGeom>
          <a:solidFill>
            <a:srgbClr val="0A0E27">
              <a:alpha val="0"/>
            </a:srgbClr>
          </a:solidFill>
          <a:ln w="50800">
            <a:solidFill>
              <a:srgbClr val="FF9900"/>
            </a:solidFill>
            <a:prstDash val="solid"/>
          </a:ln>
        </p:spPr>
      </p:sp>
      <p:sp>
        <p:nvSpPr>
          <p:cNvPr id="5" name="Text 3"/>
          <p:cNvSpPr/>
          <p:nvPr/>
        </p:nvSpPr>
        <p:spPr>
          <a:xfrm>
            <a:off x="4709160" y="1371600"/>
            <a:ext cx="2743200" cy="2743200"/>
          </a:xfrm>
          <a:prstGeom prst="rect">
            <a:avLst/>
          </a:prstGeom>
          <a:noFill/>
          <a:ln/>
        </p:spPr>
        <p:txBody>
          <a:bodyPr wrap="square" rtlCol="0" anchor="ctr"/>
          <a:lstStyle/>
          <a:p>
            <a:pPr algn="ctr" indent="0" marL="0">
              <a:buNone/>
            </a:pPr>
            <a:r>
              <a:rPr lang="en-US" sz="7200" dirty="0">
                <a:solidFill>
                  <a:srgbClr val="FF9900"/>
                </a:solidFill>
                <a:latin typeface="Inter" pitchFamily="34" charset="0"/>
                <a:ea typeface="Inter" pitchFamily="34" charset="-122"/>
                <a:cs typeface="Inter" pitchFamily="34" charset="-120"/>
              </a:rPr>
              <a:t>▶</a:t>
            </a:r>
            <a:endParaRPr lang="en-US" sz="7200" dirty="0"/>
          </a:p>
        </p:txBody>
      </p:sp>
      <p:sp>
        <p:nvSpPr>
          <p:cNvPr id="6" name="Text 4"/>
          <p:cNvSpPr/>
          <p:nvPr/>
        </p:nvSpPr>
        <p:spPr>
          <a:xfrm>
            <a:off x="3657600" y="4389120"/>
            <a:ext cx="4846320" cy="914400"/>
          </a:xfrm>
          <a:prstGeom prst="rect">
            <a:avLst/>
          </a:prstGeom>
          <a:noFill/>
          <a:ln/>
        </p:spPr>
        <p:txBody>
          <a:bodyPr wrap="square" rtlCol="0" anchor="ctr"/>
          <a:lstStyle/>
          <a:p>
            <a:pPr algn="ctr" indent="0" marL="0">
              <a:buNone/>
            </a:pPr>
            <a:r>
              <a:rPr lang="en-US" sz="4400" b="1" dirty="0">
                <a:solidFill>
                  <a:srgbClr val="FFFFFF"/>
                </a:solidFill>
                <a:latin typeface="Montserrat" pitchFamily="34" charset="0"/>
                <a:ea typeface="Montserrat" pitchFamily="34" charset="-122"/>
                <a:cs typeface="Montserrat" pitchFamily="34" charset="-120"/>
              </a:rPr>
              <a:t>DEMO</a:t>
            </a:r>
            <a:endParaRPr lang="en-US" sz="4400" dirty="0"/>
          </a:p>
        </p:txBody>
      </p:sp>
      <p:sp>
        <p:nvSpPr>
          <p:cNvPr id="7" name="Text 5"/>
          <p:cNvSpPr/>
          <p:nvPr/>
        </p:nvSpPr>
        <p:spPr>
          <a:xfrm>
            <a:off x="2743200" y="5303520"/>
            <a:ext cx="6675120" cy="731520"/>
          </a:xfrm>
          <a:prstGeom prst="rect">
            <a:avLst/>
          </a:prstGeom>
          <a:noFill/>
          <a:ln/>
        </p:spPr>
        <p:txBody>
          <a:bodyPr wrap="square" rtlCol="0" anchor="ctr"/>
          <a:lstStyle/>
          <a:p>
            <a:pPr algn="ctr" indent="0" marL="0">
              <a:buNone/>
            </a:pPr>
            <a:r>
              <a:rPr lang="en-US" sz="2600" dirty="0">
                <a:solidFill>
                  <a:srgbClr val="90CAF9"/>
                </a:solidFill>
                <a:latin typeface="Inter" pitchFamily="34" charset="0"/>
                <a:ea typeface="Inter" pitchFamily="34" charset="-122"/>
                <a:cs typeface="Inter" pitchFamily="34" charset="-120"/>
              </a:rPr>
              <a:t>OpenClaw on EC2</a:t>
            </a:r>
            <a:endParaRPr lang="en-US" sz="2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Text 2"/>
          <p:cNvSpPr/>
          <p:nvPr/>
        </p:nvSpPr>
        <p:spPr>
          <a:xfrm>
            <a:off x="731520" y="274320"/>
            <a:ext cx="8229600" cy="914400"/>
          </a:xfrm>
          <a:prstGeom prst="rect">
            <a:avLst/>
          </a:prstGeom>
          <a:noFill/>
          <a:ln/>
        </p:spPr>
        <p:txBody>
          <a:bodyPr wrap="square" rtlCol="0" anchor="ctr"/>
          <a:lstStyle/>
          <a:p>
            <a:pPr indent="0" marL="0">
              <a:buNone/>
            </a:pPr>
            <a:r>
              <a:rPr lang="en-US" sz="4000" b="1" dirty="0">
                <a:solidFill>
                  <a:srgbClr val="FFFFFF"/>
                </a:solidFill>
                <a:latin typeface="Montserrat" pitchFamily="34" charset="0"/>
                <a:ea typeface="Montserrat" pitchFamily="34" charset="-122"/>
                <a:cs typeface="Montserrat" pitchFamily="34" charset="-120"/>
              </a:rPr>
              <a:t>What Just Happened</a:t>
            </a:r>
            <a:endParaRPr lang="en-US" sz="4000" dirty="0"/>
          </a:p>
        </p:txBody>
      </p:sp>
      <p:sp>
        <p:nvSpPr>
          <p:cNvPr id="5" name="Text 3"/>
          <p:cNvSpPr/>
          <p:nvPr/>
        </p:nvSpPr>
        <p:spPr>
          <a:xfrm>
            <a:off x="9144000" y="457200"/>
            <a:ext cx="2286000" cy="640080"/>
          </a:xfrm>
          <a:prstGeom prst="rect">
            <a:avLst/>
          </a:prstGeom>
          <a:noFill/>
          <a:ln/>
        </p:spPr>
        <p:txBody>
          <a:bodyPr wrap="square" rtlCol="0" anchor="ctr"/>
          <a:lstStyle/>
          <a:p>
            <a:pPr algn="r" indent="0" marL="0">
              <a:buNone/>
            </a:pPr>
            <a:r>
              <a:rPr lang="en-US" sz="2000" dirty="0">
                <a:solidFill>
                  <a:srgbClr val="FF9900"/>
                </a:solidFill>
                <a:latin typeface="Inter" pitchFamily="34" charset="0"/>
                <a:ea typeface="Inter" pitchFamily="34" charset="-122"/>
                <a:cs typeface="Inter" pitchFamily="34" charset="-120"/>
              </a:rPr>
              <a:t>EC2</a:t>
            </a:r>
            <a:endParaRPr lang="en-US" sz="2000" dirty="0"/>
          </a:p>
        </p:txBody>
      </p:sp>
      <p:sp>
        <p:nvSpPr>
          <p:cNvPr id="6" name="Shape 4"/>
          <p:cNvSpPr/>
          <p:nvPr/>
        </p:nvSpPr>
        <p:spPr>
          <a:xfrm>
            <a:off x="731520" y="1645920"/>
            <a:ext cx="10515600" cy="1005840"/>
          </a:xfrm>
          <a:prstGeom prst="roundRect">
            <a:avLst>
              <a:gd name="adj" fmla="val 9091"/>
            </a:avLst>
          </a:prstGeom>
          <a:solidFill>
            <a:srgbClr val="1A1F4E">
              <a:alpha val="70000"/>
            </a:srgbClr>
          </a:solidFill>
          <a:ln w="19050">
            <a:solidFill>
              <a:srgbClr val="69F0AE"/>
            </a:solidFill>
            <a:prstDash val="solid"/>
          </a:ln>
        </p:spPr>
      </p:sp>
      <p:sp>
        <p:nvSpPr>
          <p:cNvPr id="7" name="Text 5"/>
          <p:cNvSpPr/>
          <p:nvPr/>
        </p:nvSpPr>
        <p:spPr>
          <a:xfrm>
            <a:off x="1371600" y="1645920"/>
            <a:ext cx="9601200" cy="1005840"/>
          </a:xfrm>
          <a:prstGeom prst="rect">
            <a:avLst/>
          </a:prstGeom>
          <a:noFill/>
          <a:ln/>
        </p:spPr>
        <p:txBody>
          <a:bodyPr wrap="square" rtlCol="0" anchor="ctr"/>
          <a:lstStyle/>
          <a:p>
            <a:pPr indent="0" marL="0">
              <a:buNone/>
            </a:pPr>
            <a:r>
              <a:rPr lang="en-US" sz="2400" dirty="0">
                <a:solidFill>
                  <a:srgbClr val="FFFFFF"/>
                </a:solidFill>
                <a:latin typeface="Inter" pitchFamily="34" charset="0"/>
                <a:ea typeface="Inter" pitchFamily="34" charset="-122"/>
                <a:cs typeface="Inter" pitchFamily="34" charset="-120"/>
              </a:rPr>
              <a:t>✓  Graviton = 20-40% cheaper</a:t>
            </a:r>
            <a:endParaRPr lang="en-US" sz="2400" dirty="0"/>
          </a:p>
        </p:txBody>
      </p:sp>
      <p:sp>
        <p:nvSpPr>
          <p:cNvPr id="8" name="Shape 6"/>
          <p:cNvSpPr/>
          <p:nvPr/>
        </p:nvSpPr>
        <p:spPr>
          <a:xfrm>
            <a:off x="731520" y="2880360"/>
            <a:ext cx="10515600" cy="1005840"/>
          </a:xfrm>
          <a:prstGeom prst="roundRect">
            <a:avLst>
              <a:gd name="adj" fmla="val 9091"/>
            </a:avLst>
          </a:prstGeom>
          <a:solidFill>
            <a:srgbClr val="1A1F4E">
              <a:alpha val="70000"/>
            </a:srgbClr>
          </a:solidFill>
          <a:ln w="19050">
            <a:solidFill>
              <a:srgbClr val="69F0AE"/>
            </a:solidFill>
            <a:prstDash val="solid"/>
          </a:ln>
        </p:spPr>
      </p:sp>
      <p:sp>
        <p:nvSpPr>
          <p:cNvPr id="9" name="Text 7"/>
          <p:cNvSpPr/>
          <p:nvPr/>
        </p:nvSpPr>
        <p:spPr>
          <a:xfrm>
            <a:off x="1371600" y="2880360"/>
            <a:ext cx="9601200" cy="1005840"/>
          </a:xfrm>
          <a:prstGeom prst="rect">
            <a:avLst/>
          </a:prstGeom>
          <a:noFill/>
          <a:ln/>
        </p:spPr>
        <p:txBody>
          <a:bodyPr wrap="square" rtlCol="0" anchor="ctr"/>
          <a:lstStyle/>
          <a:p>
            <a:pPr indent="0" marL="0">
              <a:buNone/>
            </a:pPr>
            <a:r>
              <a:rPr lang="en-US" sz="2400" dirty="0">
                <a:solidFill>
                  <a:srgbClr val="FFFFFF"/>
                </a:solidFill>
                <a:latin typeface="Inter" pitchFamily="34" charset="0"/>
                <a:ea typeface="Inter" pitchFamily="34" charset="-122"/>
                <a:cs typeface="Inter" pitchFamily="34" charset="-120"/>
              </a:rPr>
              <a:t>✓  SSM = no SSH ports exposed</a:t>
            </a:r>
            <a:endParaRPr lang="en-US" sz="2400" dirty="0"/>
          </a:p>
        </p:txBody>
      </p:sp>
      <p:sp>
        <p:nvSpPr>
          <p:cNvPr id="10" name="Shape 8"/>
          <p:cNvSpPr/>
          <p:nvPr/>
        </p:nvSpPr>
        <p:spPr>
          <a:xfrm>
            <a:off x="731520" y="4114800"/>
            <a:ext cx="10515600" cy="1005840"/>
          </a:xfrm>
          <a:prstGeom prst="roundRect">
            <a:avLst>
              <a:gd name="adj" fmla="val 9091"/>
            </a:avLst>
          </a:prstGeom>
          <a:solidFill>
            <a:srgbClr val="1A1F4E">
              <a:alpha val="70000"/>
            </a:srgbClr>
          </a:solidFill>
          <a:ln w="19050">
            <a:solidFill>
              <a:srgbClr val="69F0AE"/>
            </a:solidFill>
            <a:prstDash val="solid"/>
          </a:ln>
        </p:spPr>
      </p:sp>
      <p:sp>
        <p:nvSpPr>
          <p:cNvPr id="11" name="Text 9"/>
          <p:cNvSpPr/>
          <p:nvPr/>
        </p:nvSpPr>
        <p:spPr>
          <a:xfrm>
            <a:off x="1371600" y="4114800"/>
            <a:ext cx="9601200" cy="1005840"/>
          </a:xfrm>
          <a:prstGeom prst="rect">
            <a:avLst/>
          </a:prstGeom>
          <a:noFill/>
          <a:ln/>
        </p:spPr>
        <p:txBody>
          <a:bodyPr wrap="square" rtlCol="0" anchor="ctr"/>
          <a:lstStyle/>
          <a:p>
            <a:pPr indent="0" marL="0">
              <a:buNone/>
            </a:pPr>
            <a:r>
              <a:rPr lang="en-US" sz="2400" dirty="0">
                <a:solidFill>
                  <a:srgbClr val="FFFFFF"/>
                </a:solidFill>
                <a:latin typeface="Inter" pitchFamily="34" charset="0"/>
                <a:ea typeface="Inter" pitchFamily="34" charset="-122"/>
                <a:cs typeface="Inter" pitchFamily="34" charset="-120"/>
              </a:rPr>
              <a:t>✓  IAM = zero API key mgmt</a:t>
            </a:r>
            <a:endParaRPr lang="en-US" sz="2400" dirty="0"/>
          </a:p>
        </p:txBody>
      </p:sp>
      <p:sp>
        <p:nvSpPr>
          <p:cNvPr id="12" name="Shape 10"/>
          <p:cNvSpPr/>
          <p:nvPr/>
        </p:nvSpPr>
        <p:spPr>
          <a:xfrm>
            <a:off x="731520" y="5349240"/>
            <a:ext cx="10515600" cy="1005840"/>
          </a:xfrm>
          <a:prstGeom prst="roundRect">
            <a:avLst>
              <a:gd name="adj" fmla="val 9091"/>
            </a:avLst>
          </a:prstGeom>
          <a:solidFill>
            <a:srgbClr val="1A1F4E">
              <a:alpha val="70000"/>
            </a:srgbClr>
          </a:solidFill>
          <a:ln w="19050">
            <a:solidFill>
              <a:srgbClr val="69F0AE"/>
            </a:solidFill>
            <a:prstDash val="solid"/>
          </a:ln>
        </p:spPr>
      </p:sp>
      <p:sp>
        <p:nvSpPr>
          <p:cNvPr id="13" name="Text 11"/>
          <p:cNvSpPr/>
          <p:nvPr/>
        </p:nvSpPr>
        <p:spPr>
          <a:xfrm>
            <a:off x="1371600" y="5349240"/>
            <a:ext cx="9601200" cy="1005840"/>
          </a:xfrm>
          <a:prstGeom prst="rect">
            <a:avLst/>
          </a:prstGeom>
          <a:noFill/>
          <a:ln/>
        </p:spPr>
        <p:txBody>
          <a:bodyPr wrap="square" rtlCol="0" anchor="ctr"/>
          <a:lstStyle/>
          <a:p>
            <a:pPr indent="0" marL="0">
              <a:buNone/>
            </a:pPr>
            <a:r>
              <a:rPr lang="en-US" sz="2400" dirty="0">
                <a:solidFill>
                  <a:srgbClr val="FFFFFF"/>
                </a:solidFill>
                <a:latin typeface="Inter" pitchFamily="34" charset="0"/>
                <a:ea typeface="Inter" pitchFamily="34" charset="-122"/>
                <a:cs typeface="Inter" pitchFamily="34" charset="-120"/>
              </a:rPr>
              <a:t>✓  Still single-user, always-on</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Text 2"/>
          <p:cNvSpPr/>
          <p:nvPr/>
        </p:nvSpPr>
        <p:spPr>
          <a:xfrm>
            <a:off x="457200" y="182880"/>
            <a:ext cx="10972800" cy="914400"/>
          </a:xfrm>
          <a:prstGeom prst="rect">
            <a:avLst/>
          </a:prstGeom>
          <a:noFill/>
          <a:ln/>
        </p:spPr>
        <p:txBody>
          <a:bodyPr wrap="square" rtlCol="0" anchor="ctr"/>
          <a:lstStyle/>
          <a:p>
            <a:pPr indent="0" marL="0">
              <a:buNone/>
            </a:pPr>
            <a:r>
              <a:rPr lang="en-US" sz="4400" b="1" dirty="0">
                <a:solidFill>
                  <a:srgbClr val="FFFFFF"/>
                </a:solidFill>
                <a:latin typeface="Montserrat" pitchFamily="34" charset="0"/>
                <a:ea typeface="Montserrat" pitchFamily="34" charset="-122"/>
                <a:cs typeface="Montserrat" pitchFamily="34" charset="-120"/>
              </a:rPr>
              <a:t>What Breaks at Scale</a:t>
            </a:r>
            <a:endParaRPr lang="en-US" sz="4400" dirty="0"/>
          </a:p>
        </p:txBody>
      </p:sp>
      <p:sp>
        <p:nvSpPr>
          <p:cNvPr id="5" name="Shape 3"/>
          <p:cNvSpPr/>
          <p:nvPr/>
        </p:nvSpPr>
        <p:spPr>
          <a:xfrm>
            <a:off x="457200" y="1371600"/>
            <a:ext cx="5394960" cy="2286000"/>
          </a:xfrm>
          <a:prstGeom prst="roundRect">
            <a:avLst>
              <a:gd name="adj" fmla="val 4000"/>
            </a:avLst>
          </a:prstGeom>
          <a:solidFill>
            <a:srgbClr val="1A1F4E">
              <a:alpha val="70000"/>
            </a:srgbClr>
          </a:solidFill>
          <a:ln w="19050">
            <a:solidFill>
              <a:srgbClr val="F44336"/>
            </a:solidFill>
            <a:prstDash val="solid"/>
          </a:ln>
        </p:spPr>
      </p:sp>
      <p:sp>
        <p:nvSpPr>
          <p:cNvPr id="6" name="Text 4"/>
          <p:cNvSpPr/>
          <p:nvPr/>
        </p:nvSpPr>
        <p:spPr>
          <a:xfrm>
            <a:off x="822960" y="1645920"/>
            <a:ext cx="4572000" cy="731520"/>
          </a:xfrm>
          <a:prstGeom prst="rect">
            <a:avLst/>
          </a:prstGeom>
          <a:noFill/>
          <a:ln/>
        </p:spPr>
        <p:txBody>
          <a:bodyPr wrap="square" rtlCol="0" anchor="ctr"/>
          <a:lstStyle/>
          <a:p>
            <a:pPr indent="0" marL="0">
              <a:buNone/>
            </a:pPr>
            <a:r>
              <a:rPr lang="en-US" sz="2600" b="1" dirty="0">
                <a:solidFill>
                  <a:srgbClr val="F44336"/>
                </a:solidFill>
                <a:latin typeface="Inter" pitchFamily="34" charset="0"/>
                <a:ea typeface="Inter" pitchFamily="34" charset="-122"/>
                <a:cs typeface="Inter" pitchFamily="34" charset="-120"/>
              </a:rPr>
              <a:t>Isolation</a:t>
            </a:r>
            <a:endParaRPr lang="en-US" sz="2600" dirty="0"/>
          </a:p>
        </p:txBody>
      </p:sp>
      <p:sp>
        <p:nvSpPr>
          <p:cNvPr id="7" name="Text 5"/>
          <p:cNvSpPr/>
          <p:nvPr/>
        </p:nvSpPr>
        <p:spPr>
          <a:xfrm>
            <a:off x="822960" y="2468880"/>
            <a:ext cx="4572000" cy="1097280"/>
          </a:xfrm>
          <a:prstGeom prst="rect">
            <a:avLst/>
          </a:prstGeom>
          <a:noFill/>
          <a:ln/>
        </p:spPr>
        <p:txBody>
          <a:bodyPr wrap="square" rtlCol="0" anchor="ctr"/>
          <a:lstStyle/>
          <a:p>
            <a:pPr indent="0" marL="0">
              <a:buNone/>
            </a:pPr>
            <a:r>
              <a:rPr lang="en-US" sz="2200" dirty="0">
                <a:solidFill>
                  <a:srgbClr val="FFFFFF"/>
                </a:solidFill>
                <a:latin typeface="Inter" pitchFamily="34" charset="0"/>
                <a:ea typeface="Inter" pitchFamily="34" charset="-122"/>
                <a:cs typeface="Inter" pitchFamily="34" charset="-120"/>
              </a:rPr>
              <a:t>Data leaks</a:t>
            </a:r>
            <a:endParaRPr lang="en-US" sz="2200" dirty="0"/>
          </a:p>
          <a:p>
            <a:pPr indent="0" marL="0">
              <a:buNone/>
            </a:pPr>
            <a:r>
              <a:rPr lang="en-US" sz="2200" dirty="0">
                <a:solidFill>
                  <a:srgbClr val="FFFFFF"/>
                </a:solidFill>
                <a:latin typeface="Inter" pitchFamily="34" charset="0"/>
                <a:ea typeface="Inter" pitchFamily="34" charset="-122"/>
                <a:cs typeface="Inter" pitchFamily="34" charset="-120"/>
              </a:rPr>
              <a:t>across users</a:t>
            </a:r>
            <a:endParaRPr lang="en-US" sz="2200" dirty="0"/>
          </a:p>
        </p:txBody>
      </p:sp>
      <p:sp>
        <p:nvSpPr>
          <p:cNvPr id="8" name="Shape 6"/>
          <p:cNvSpPr/>
          <p:nvPr/>
        </p:nvSpPr>
        <p:spPr>
          <a:xfrm>
            <a:off x="6309360" y="1371600"/>
            <a:ext cx="5394960" cy="2286000"/>
          </a:xfrm>
          <a:prstGeom prst="roundRect">
            <a:avLst>
              <a:gd name="adj" fmla="val 4000"/>
            </a:avLst>
          </a:prstGeom>
          <a:solidFill>
            <a:srgbClr val="1A1F4E">
              <a:alpha val="70000"/>
            </a:srgbClr>
          </a:solidFill>
          <a:ln w="19050">
            <a:solidFill>
              <a:srgbClr val="FF9900"/>
            </a:solidFill>
            <a:prstDash val="solid"/>
          </a:ln>
        </p:spPr>
      </p:sp>
      <p:sp>
        <p:nvSpPr>
          <p:cNvPr id="9" name="Text 7"/>
          <p:cNvSpPr/>
          <p:nvPr/>
        </p:nvSpPr>
        <p:spPr>
          <a:xfrm>
            <a:off x="6675120" y="1645920"/>
            <a:ext cx="4572000" cy="731520"/>
          </a:xfrm>
          <a:prstGeom prst="rect">
            <a:avLst/>
          </a:prstGeom>
          <a:noFill/>
          <a:ln/>
        </p:spPr>
        <p:txBody>
          <a:bodyPr wrap="square" rtlCol="0" anchor="ctr"/>
          <a:lstStyle/>
          <a:p>
            <a:pPr indent="0" marL="0">
              <a:buNone/>
            </a:pPr>
            <a:r>
              <a:rPr lang="en-US" sz="2600" b="1" dirty="0">
                <a:solidFill>
                  <a:srgbClr val="FF9900"/>
                </a:solidFill>
                <a:latin typeface="Inter" pitchFamily="34" charset="0"/>
                <a:ea typeface="Inter" pitchFamily="34" charset="-122"/>
                <a:cs typeface="Inter" pitchFamily="34" charset="-120"/>
              </a:rPr>
              <a:t>Security</a:t>
            </a:r>
            <a:endParaRPr lang="en-US" sz="2600" dirty="0"/>
          </a:p>
        </p:txBody>
      </p:sp>
      <p:sp>
        <p:nvSpPr>
          <p:cNvPr id="10" name="Text 8"/>
          <p:cNvSpPr/>
          <p:nvPr/>
        </p:nvSpPr>
        <p:spPr>
          <a:xfrm>
            <a:off x="6675120" y="2468880"/>
            <a:ext cx="4572000" cy="1097280"/>
          </a:xfrm>
          <a:prstGeom prst="rect">
            <a:avLst/>
          </a:prstGeom>
          <a:noFill/>
          <a:ln/>
        </p:spPr>
        <p:txBody>
          <a:bodyPr wrap="square" rtlCol="0" anchor="ctr"/>
          <a:lstStyle/>
          <a:p>
            <a:pPr indent="0" marL="0">
              <a:buNone/>
            </a:pPr>
            <a:r>
              <a:rPr lang="en-US" sz="2200" dirty="0">
                <a:solidFill>
                  <a:srgbClr val="FFFFFF"/>
                </a:solidFill>
                <a:latin typeface="Inter" pitchFamily="34" charset="0"/>
                <a:ea typeface="Inter" pitchFamily="34" charset="-122"/>
                <a:cs typeface="Inter" pitchFamily="34" charset="-120"/>
              </a:rPr>
              <a:t>Agents inherit</a:t>
            </a:r>
            <a:endParaRPr lang="en-US" sz="2200" dirty="0"/>
          </a:p>
          <a:p>
            <a:pPr indent="0" marL="0">
              <a:buNone/>
            </a:pPr>
            <a:r>
              <a:rPr lang="en-US" sz="2200" dirty="0">
                <a:solidFill>
                  <a:srgbClr val="FFFFFF"/>
                </a:solidFill>
                <a:latin typeface="Inter" pitchFamily="34" charset="0"/>
                <a:ea typeface="Inter" pitchFamily="34" charset="-122"/>
                <a:cs typeface="Inter" pitchFamily="34" charset="-120"/>
              </a:rPr>
              <a:t>all permissions</a:t>
            </a:r>
            <a:endParaRPr lang="en-US" sz="2200" dirty="0"/>
          </a:p>
        </p:txBody>
      </p:sp>
      <p:sp>
        <p:nvSpPr>
          <p:cNvPr id="11" name="Shape 9"/>
          <p:cNvSpPr/>
          <p:nvPr/>
        </p:nvSpPr>
        <p:spPr>
          <a:xfrm>
            <a:off x="457200" y="3931920"/>
            <a:ext cx="5394960" cy="2286000"/>
          </a:xfrm>
          <a:prstGeom prst="roundRect">
            <a:avLst>
              <a:gd name="adj" fmla="val 4000"/>
            </a:avLst>
          </a:prstGeom>
          <a:solidFill>
            <a:srgbClr val="1A1F4E">
              <a:alpha val="70000"/>
            </a:srgbClr>
          </a:solidFill>
          <a:ln w="19050">
            <a:solidFill>
              <a:srgbClr val="CE93D8"/>
            </a:solidFill>
            <a:prstDash val="solid"/>
          </a:ln>
        </p:spPr>
      </p:sp>
      <p:sp>
        <p:nvSpPr>
          <p:cNvPr id="12" name="Text 10"/>
          <p:cNvSpPr/>
          <p:nvPr/>
        </p:nvSpPr>
        <p:spPr>
          <a:xfrm>
            <a:off x="822960" y="4206240"/>
            <a:ext cx="4572000" cy="731520"/>
          </a:xfrm>
          <a:prstGeom prst="rect">
            <a:avLst/>
          </a:prstGeom>
          <a:noFill/>
          <a:ln/>
        </p:spPr>
        <p:txBody>
          <a:bodyPr wrap="square" rtlCol="0" anchor="ctr"/>
          <a:lstStyle/>
          <a:p>
            <a:pPr indent="0" marL="0">
              <a:buNone/>
            </a:pPr>
            <a:r>
              <a:rPr lang="en-US" sz="2600" b="1" dirty="0">
                <a:solidFill>
                  <a:srgbClr val="CE93D8"/>
                </a:solidFill>
                <a:latin typeface="Inter" pitchFamily="34" charset="0"/>
                <a:ea typeface="Inter" pitchFamily="34" charset="-122"/>
                <a:cs typeface="Inter" pitchFamily="34" charset="-120"/>
              </a:rPr>
              <a:t>Observability</a:t>
            </a:r>
            <a:endParaRPr lang="en-US" sz="2600" dirty="0"/>
          </a:p>
        </p:txBody>
      </p:sp>
      <p:sp>
        <p:nvSpPr>
          <p:cNvPr id="13" name="Text 11"/>
          <p:cNvSpPr/>
          <p:nvPr/>
        </p:nvSpPr>
        <p:spPr>
          <a:xfrm>
            <a:off x="822960" y="5029200"/>
            <a:ext cx="4572000" cy="1097280"/>
          </a:xfrm>
          <a:prstGeom prst="rect">
            <a:avLst/>
          </a:prstGeom>
          <a:noFill/>
          <a:ln/>
        </p:spPr>
        <p:txBody>
          <a:bodyPr wrap="square" rtlCol="0" anchor="ctr"/>
          <a:lstStyle/>
          <a:p>
            <a:pPr indent="0" marL="0">
              <a:buNone/>
            </a:pPr>
            <a:r>
              <a:rPr lang="en-US" sz="2200" dirty="0">
                <a:solidFill>
                  <a:srgbClr val="FFFFFF"/>
                </a:solidFill>
                <a:latin typeface="Inter" pitchFamily="34" charset="0"/>
                <a:ea typeface="Inter" pitchFamily="34" charset="-122"/>
                <a:cs typeface="Inter" pitchFamily="34" charset="-120"/>
              </a:rPr>
              <a:t>No tracing of</a:t>
            </a:r>
            <a:endParaRPr lang="en-US" sz="2200" dirty="0"/>
          </a:p>
          <a:p>
            <a:pPr indent="0" marL="0">
              <a:buNone/>
            </a:pPr>
            <a:r>
              <a:rPr lang="en-US" sz="2200" dirty="0">
                <a:solidFill>
                  <a:srgbClr val="FFFFFF"/>
                </a:solidFill>
                <a:latin typeface="Inter" pitchFamily="34" charset="0"/>
                <a:ea typeface="Inter" pitchFamily="34" charset="-122"/>
                <a:cs typeface="Inter" pitchFamily="34" charset="-120"/>
              </a:rPr>
              <a:t>tool calls</a:t>
            </a:r>
            <a:endParaRPr lang="en-US" sz="2200" dirty="0"/>
          </a:p>
        </p:txBody>
      </p:sp>
      <p:sp>
        <p:nvSpPr>
          <p:cNvPr id="14" name="Shape 12"/>
          <p:cNvSpPr/>
          <p:nvPr/>
        </p:nvSpPr>
        <p:spPr>
          <a:xfrm>
            <a:off x="6309360" y="3931920"/>
            <a:ext cx="5394960" cy="2286000"/>
          </a:xfrm>
          <a:prstGeom prst="roundRect">
            <a:avLst>
              <a:gd name="adj" fmla="val 4000"/>
            </a:avLst>
          </a:prstGeom>
          <a:solidFill>
            <a:srgbClr val="1A1F4E">
              <a:alpha val="70000"/>
            </a:srgbClr>
          </a:solidFill>
          <a:ln w="19050">
            <a:solidFill>
              <a:srgbClr val="4FC3F7"/>
            </a:solidFill>
            <a:prstDash val="solid"/>
          </a:ln>
        </p:spPr>
      </p:sp>
      <p:sp>
        <p:nvSpPr>
          <p:cNvPr id="15" name="Text 13"/>
          <p:cNvSpPr/>
          <p:nvPr/>
        </p:nvSpPr>
        <p:spPr>
          <a:xfrm>
            <a:off x="6675120" y="4206240"/>
            <a:ext cx="4572000" cy="731520"/>
          </a:xfrm>
          <a:prstGeom prst="rect">
            <a:avLst/>
          </a:prstGeom>
          <a:noFill/>
          <a:ln/>
        </p:spPr>
        <p:txBody>
          <a:bodyPr wrap="square" rtlCol="0" anchor="ctr"/>
          <a:lstStyle/>
          <a:p>
            <a:pPr indent="0" marL="0">
              <a:buNone/>
            </a:pPr>
            <a:r>
              <a:rPr lang="en-US" sz="2600" b="1" dirty="0">
                <a:solidFill>
                  <a:srgbClr val="4FC3F7"/>
                </a:solidFill>
                <a:latin typeface="Inter" pitchFamily="34" charset="0"/>
                <a:ea typeface="Inter" pitchFamily="34" charset="-122"/>
                <a:cs typeface="Inter" pitchFamily="34" charset="-120"/>
              </a:rPr>
              <a:t>Cost</a:t>
            </a:r>
            <a:endParaRPr lang="en-US" sz="2600" dirty="0"/>
          </a:p>
        </p:txBody>
      </p:sp>
      <p:sp>
        <p:nvSpPr>
          <p:cNvPr id="16" name="Text 14"/>
          <p:cNvSpPr/>
          <p:nvPr/>
        </p:nvSpPr>
        <p:spPr>
          <a:xfrm>
            <a:off x="6675120" y="5029200"/>
            <a:ext cx="4572000" cy="1097280"/>
          </a:xfrm>
          <a:prstGeom prst="rect">
            <a:avLst/>
          </a:prstGeom>
          <a:noFill/>
          <a:ln/>
        </p:spPr>
        <p:txBody>
          <a:bodyPr wrap="square" rtlCol="0" anchor="ctr"/>
          <a:lstStyle/>
          <a:p>
            <a:pPr indent="0" marL="0">
              <a:buNone/>
            </a:pPr>
            <a:r>
              <a:rPr lang="en-US" sz="2200" dirty="0">
                <a:solidFill>
                  <a:srgbClr val="FFFFFF"/>
                </a:solidFill>
                <a:latin typeface="Inter" pitchFamily="34" charset="0"/>
                <a:ea typeface="Inter" pitchFamily="34" charset="-122"/>
                <a:cs typeface="Inter" pitchFamily="34" charset="-120"/>
              </a:rPr>
              <a:t>Paying for</a:t>
            </a:r>
            <a:endParaRPr lang="en-US" sz="2200" dirty="0"/>
          </a:p>
          <a:p>
            <a:pPr indent="0" marL="0">
              <a:buNone/>
            </a:pPr>
            <a:r>
              <a:rPr lang="en-US" sz="2200" dirty="0">
                <a:solidFill>
                  <a:srgbClr val="FFFFFF"/>
                </a:solidFill>
                <a:latin typeface="Inter" pitchFamily="34" charset="0"/>
                <a:ea typeface="Inter" pitchFamily="34" charset="-122"/>
                <a:cs typeface="Inter" pitchFamily="34" charset="-120"/>
              </a:rPr>
              <a:t>idle compute</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Text 2"/>
          <p:cNvSpPr/>
          <p:nvPr/>
        </p:nvSpPr>
        <p:spPr>
          <a:xfrm>
            <a:off x="365760" y="274320"/>
            <a:ext cx="10972800" cy="914400"/>
          </a:xfrm>
          <a:prstGeom prst="rect">
            <a:avLst/>
          </a:prstGeom>
          <a:noFill/>
          <a:ln/>
        </p:spPr>
        <p:txBody>
          <a:bodyPr wrap="square" rtlCol="0" anchor="ctr"/>
          <a:lstStyle/>
          <a:p>
            <a:pPr indent="0" marL="0">
              <a:buNone/>
            </a:pPr>
            <a:r>
              <a:rPr lang="en-US" sz="4000" b="1" dirty="0">
                <a:solidFill>
                  <a:srgbClr val="FFFFFF"/>
                </a:solidFill>
                <a:latin typeface="Montserrat" pitchFamily="34" charset="0"/>
                <a:ea typeface="Montserrat" pitchFamily="34" charset="-122"/>
                <a:cs typeface="Montserrat" pitchFamily="34" charset="-120"/>
              </a:rPr>
              <a:t>Production Deployment Paths</a:t>
            </a:r>
            <a:endParaRPr lang="en-US" sz="4000" dirty="0"/>
          </a:p>
        </p:txBody>
      </p:sp>
      <p:sp>
        <p:nvSpPr>
          <p:cNvPr id="5" name="Shape 3"/>
          <p:cNvSpPr/>
          <p:nvPr/>
        </p:nvSpPr>
        <p:spPr>
          <a:xfrm>
            <a:off x="365760" y="1645920"/>
            <a:ext cx="2743200" cy="4389120"/>
          </a:xfrm>
          <a:prstGeom prst="roundRect">
            <a:avLst>
              <a:gd name="adj" fmla="val 3333"/>
            </a:avLst>
          </a:prstGeom>
          <a:solidFill>
            <a:srgbClr val="1A1F4E">
              <a:alpha val="70000"/>
            </a:srgbClr>
          </a:solidFill>
          <a:ln w="19050">
            <a:solidFill>
              <a:srgbClr val="5C6BC0"/>
            </a:solidFill>
            <a:prstDash val="solid"/>
          </a:ln>
        </p:spPr>
      </p:sp>
      <p:sp>
        <p:nvSpPr>
          <p:cNvPr id="6" name="Text 4"/>
          <p:cNvSpPr/>
          <p:nvPr/>
        </p:nvSpPr>
        <p:spPr>
          <a:xfrm>
            <a:off x="365760" y="1828800"/>
            <a:ext cx="2743200" cy="548640"/>
          </a:xfrm>
          <a:prstGeom prst="rect">
            <a:avLst/>
          </a:prstGeom>
          <a:noFill/>
          <a:ln/>
        </p:spPr>
        <p:txBody>
          <a:bodyPr wrap="square" rtlCol="0" anchor="ctr"/>
          <a:lstStyle/>
          <a:p>
            <a:pPr algn="ctr" indent="0" marL="0">
              <a:buNone/>
            </a:pPr>
            <a:r>
              <a:rPr lang="en-US" sz="1800" dirty="0">
                <a:solidFill>
                  <a:srgbClr val="5C6BC0"/>
                </a:solidFill>
                <a:latin typeface="Inter" pitchFamily="34" charset="0"/>
                <a:ea typeface="Inter" pitchFamily="34" charset="-122"/>
                <a:cs typeface="Inter" pitchFamily="34" charset="-120"/>
              </a:rPr>
              <a:t>Path A</a:t>
            </a:r>
            <a:endParaRPr lang="en-US" sz="1800" dirty="0"/>
          </a:p>
        </p:txBody>
      </p:sp>
      <p:sp>
        <p:nvSpPr>
          <p:cNvPr id="7" name="Text 5"/>
          <p:cNvSpPr/>
          <p:nvPr/>
        </p:nvSpPr>
        <p:spPr>
          <a:xfrm>
            <a:off x="365760" y="2743200"/>
            <a:ext cx="2743200" cy="2286000"/>
          </a:xfrm>
          <a:prstGeom prst="rect">
            <a:avLst/>
          </a:prstGeom>
          <a:noFill/>
          <a:ln/>
        </p:spPr>
        <p:txBody>
          <a:bodyPr wrap="square" rtlCol="0" anchor="ctr"/>
          <a:lstStyle/>
          <a:p>
            <a:pPr algn="ctr" indent="0" marL="0">
              <a:buNone/>
            </a:pPr>
            <a:r>
              <a:rPr lang="en-US" sz="2600" b="1" dirty="0">
                <a:solidFill>
                  <a:srgbClr val="FFFFFF"/>
                </a:solidFill>
                <a:latin typeface="Inter" pitchFamily="34" charset="0"/>
                <a:ea typeface="Inter" pitchFamily="34" charset="-122"/>
                <a:cs typeface="Inter" pitchFamily="34" charset="-120"/>
              </a:rPr>
              <a:t>Local</a:t>
            </a:r>
            <a:endParaRPr lang="en-US" sz="2600" dirty="0"/>
          </a:p>
          <a:p>
            <a:pPr algn="ctr" indent="0" marL="0">
              <a:buNone/>
            </a:pPr>
            <a:r>
              <a:rPr lang="en-US" sz="2600" b="1" dirty="0">
                <a:solidFill>
                  <a:srgbClr val="FFFFFF"/>
                </a:solidFill>
                <a:latin typeface="Inter" pitchFamily="34" charset="0"/>
                <a:ea typeface="Inter" pitchFamily="34" charset="-122"/>
                <a:cs typeface="Inter" pitchFamily="34" charset="-120"/>
              </a:rPr>
              <a:t>Dev</a:t>
            </a:r>
            <a:endParaRPr lang="en-US" sz="2600" dirty="0"/>
          </a:p>
        </p:txBody>
      </p:sp>
      <p:sp>
        <p:nvSpPr>
          <p:cNvPr id="8" name="Shape 6"/>
          <p:cNvSpPr/>
          <p:nvPr/>
        </p:nvSpPr>
        <p:spPr>
          <a:xfrm>
            <a:off x="3291840" y="1645920"/>
            <a:ext cx="2743200" cy="4389120"/>
          </a:xfrm>
          <a:prstGeom prst="roundRect">
            <a:avLst>
              <a:gd name="adj" fmla="val 3333"/>
            </a:avLst>
          </a:prstGeom>
          <a:solidFill>
            <a:srgbClr val="1A1F4E">
              <a:alpha val="70000"/>
            </a:srgbClr>
          </a:solidFill>
          <a:ln w="19050">
            <a:solidFill>
              <a:srgbClr val="5C6BC0"/>
            </a:solidFill>
            <a:prstDash val="solid"/>
          </a:ln>
        </p:spPr>
      </p:sp>
      <p:sp>
        <p:nvSpPr>
          <p:cNvPr id="9" name="Text 7"/>
          <p:cNvSpPr/>
          <p:nvPr/>
        </p:nvSpPr>
        <p:spPr>
          <a:xfrm>
            <a:off x="3291840" y="1828800"/>
            <a:ext cx="2743200" cy="548640"/>
          </a:xfrm>
          <a:prstGeom prst="rect">
            <a:avLst/>
          </a:prstGeom>
          <a:noFill/>
          <a:ln/>
        </p:spPr>
        <p:txBody>
          <a:bodyPr wrap="square" rtlCol="0" anchor="ctr"/>
          <a:lstStyle/>
          <a:p>
            <a:pPr algn="ctr" indent="0" marL="0">
              <a:buNone/>
            </a:pPr>
            <a:r>
              <a:rPr lang="en-US" sz="1800" dirty="0">
                <a:solidFill>
                  <a:srgbClr val="5C6BC0"/>
                </a:solidFill>
                <a:latin typeface="Inter" pitchFamily="34" charset="0"/>
                <a:ea typeface="Inter" pitchFamily="34" charset="-122"/>
                <a:cs typeface="Inter" pitchFamily="34" charset="-120"/>
              </a:rPr>
              <a:t>Path B</a:t>
            </a:r>
            <a:endParaRPr lang="en-US" sz="1800" dirty="0"/>
          </a:p>
        </p:txBody>
      </p:sp>
      <p:sp>
        <p:nvSpPr>
          <p:cNvPr id="10" name="Text 8"/>
          <p:cNvSpPr/>
          <p:nvPr/>
        </p:nvSpPr>
        <p:spPr>
          <a:xfrm>
            <a:off x="3291840" y="2743200"/>
            <a:ext cx="2743200" cy="2286000"/>
          </a:xfrm>
          <a:prstGeom prst="rect">
            <a:avLst/>
          </a:prstGeom>
          <a:noFill/>
          <a:ln/>
        </p:spPr>
        <p:txBody>
          <a:bodyPr wrap="square" rtlCol="0" anchor="ctr"/>
          <a:lstStyle/>
          <a:p>
            <a:pPr algn="ctr" indent="0" marL="0">
              <a:buNone/>
            </a:pPr>
            <a:r>
              <a:rPr lang="en-US" sz="2600" b="1" dirty="0">
                <a:solidFill>
                  <a:srgbClr val="FFFFFF"/>
                </a:solidFill>
                <a:latin typeface="Inter" pitchFamily="34" charset="0"/>
                <a:ea typeface="Inter" pitchFamily="34" charset="-122"/>
                <a:cs typeface="Inter" pitchFamily="34" charset="-120"/>
              </a:rPr>
              <a:t>Rapid</a:t>
            </a:r>
            <a:endParaRPr lang="en-US" sz="2600" dirty="0"/>
          </a:p>
          <a:p>
            <a:pPr algn="ctr" indent="0" marL="0">
              <a:buNone/>
            </a:pPr>
            <a:r>
              <a:rPr lang="en-US" sz="2600" b="1" dirty="0">
                <a:solidFill>
                  <a:srgbClr val="FFFFFF"/>
                </a:solidFill>
                <a:latin typeface="Inter" pitchFamily="34" charset="0"/>
                <a:ea typeface="Inter" pitchFamily="34" charset="-122"/>
                <a:cs typeface="Inter" pitchFamily="34" charset="-120"/>
              </a:rPr>
              <a:t>Cloud</a:t>
            </a:r>
            <a:endParaRPr lang="en-US" sz="2600" dirty="0"/>
          </a:p>
        </p:txBody>
      </p:sp>
      <p:sp>
        <p:nvSpPr>
          <p:cNvPr id="11" name="Shape 9"/>
          <p:cNvSpPr/>
          <p:nvPr/>
        </p:nvSpPr>
        <p:spPr>
          <a:xfrm>
            <a:off x="6217920" y="1645920"/>
            <a:ext cx="2743200" cy="4389120"/>
          </a:xfrm>
          <a:prstGeom prst="roundRect">
            <a:avLst>
              <a:gd name="adj" fmla="val 3333"/>
            </a:avLst>
          </a:prstGeom>
          <a:solidFill>
            <a:srgbClr val="1A1F4E">
              <a:alpha val="70000"/>
            </a:srgbClr>
          </a:solidFill>
          <a:ln w="19050">
            <a:solidFill>
              <a:srgbClr val="5C6BC0"/>
            </a:solidFill>
            <a:prstDash val="solid"/>
          </a:ln>
        </p:spPr>
      </p:sp>
      <p:sp>
        <p:nvSpPr>
          <p:cNvPr id="12" name="Text 10"/>
          <p:cNvSpPr/>
          <p:nvPr/>
        </p:nvSpPr>
        <p:spPr>
          <a:xfrm>
            <a:off x="6217920" y="1828800"/>
            <a:ext cx="2743200" cy="548640"/>
          </a:xfrm>
          <a:prstGeom prst="rect">
            <a:avLst/>
          </a:prstGeom>
          <a:noFill/>
          <a:ln/>
        </p:spPr>
        <p:txBody>
          <a:bodyPr wrap="square" rtlCol="0" anchor="ctr"/>
          <a:lstStyle/>
          <a:p>
            <a:pPr algn="ctr" indent="0" marL="0">
              <a:buNone/>
            </a:pPr>
            <a:r>
              <a:rPr lang="en-US" sz="1800" dirty="0">
                <a:solidFill>
                  <a:srgbClr val="5C6BC0"/>
                </a:solidFill>
                <a:latin typeface="Inter" pitchFamily="34" charset="0"/>
                <a:ea typeface="Inter" pitchFamily="34" charset="-122"/>
                <a:cs typeface="Inter" pitchFamily="34" charset="-120"/>
              </a:rPr>
              <a:t>Path C</a:t>
            </a:r>
            <a:endParaRPr lang="en-US" sz="1800" dirty="0"/>
          </a:p>
        </p:txBody>
      </p:sp>
      <p:sp>
        <p:nvSpPr>
          <p:cNvPr id="13" name="Text 11"/>
          <p:cNvSpPr/>
          <p:nvPr/>
        </p:nvSpPr>
        <p:spPr>
          <a:xfrm>
            <a:off x="6217920" y="2743200"/>
            <a:ext cx="2743200" cy="2286000"/>
          </a:xfrm>
          <a:prstGeom prst="rect">
            <a:avLst/>
          </a:prstGeom>
          <a:noFill/>
          <a:ln/>
        </p:spPr>
        <p:txBody>
          <a:bodyPr wrap="square" rtlCol="0" anchor="ctr"/>
          <a:lstStyle/>
          <a:p>
            <a:pPr algn="ctr" indent="0" marL="0">
              <a:buNone/>
            </a:pPr>
            <a:r>
              <a:rPr lang="en-US" sz="2600" b="1" dirty="0">
                <a:solidFill>
                  <a:srgbClr val="FFFFFF"/>
                </a:solidFill>
                <a:latin typeface="Inter" pitchFamily="34" charset="0"/>
                <a:ea typeface="Inter" pitchFamily="34" charset="-122"/>
                <a:cs typeface="Inter" pitchFamily="34" charset="-120"/>
              </a:rPr>
              <a:t>Self-</a:t>
            </a:r>
            <a:endParaRPr lang="en-US" sz="2600" dirty="0"/>
          </a:p>
          <a:p>
            <a:pPr algn="ctr" indent="0" marL="0">
              <a:buNone/>
            </a:pPr>
            <a:r>
              <a:rPr lang="en-US" sz="2600" b="1" dirty="0">
                <a:solidFill>
                  <a:srgbClr val="FFFFFF"/>
                </a:solidFill>
                <a:latin typeface="Inter" pitchFamily="34" charset="0"/>
                <a:ea typeface="Inter" pitchFamily="34" charset="-122"/>
                <a:cs typeface="Inter" pitchFamily="34" charset="-120"/>
              </a:rPr>
              <a:t>Managed</a:t>
            </a:r>
            <a:endParaRPr lang="en-US" sz="2600" dirty="0"/>
          </a:p>
        </p:txBody>
      </p:sp>
      <p:sp>
        <p:nvSpPr>
          <p:cNvPr id="14" name="Shape 12"/>
          <p:cNvSpPr/>
          <p:nvPr/>
        </p:nvSpPr>
        <p:spPr>
          <a:xfrm>
            <a:off x="9144000" y="1645920"/>
            <a:ext cx="2743200" cy="4389120"/>
          </a:xfrm>
          <a:prstGeom prst="roundRect">
            <a:avLst>
              <a:gd name="adj" fmla="val 3333"/>
            </a:avLst>
          </a:prstGeom>
          <a:solidFill>
            <a:srgbClr val="1A1F4E">
              <a:alpha val="70000"/>
            </a:srgbClr>
          </a:solidFill>
          <a:ln w="19050">
            <a:solidFill>
              <a:srgbClr val="69F0AE"/>
            </a:solidFill>
            <a:prstDash val="solid"/>
          </a:ln>
        </p:spPr>
      </p:sp>
      <p:sp>
        <p:nvSpPr>
          <p:cNvPr id="15" name="Text 13"/>
          <p:cNvSpPr/>
          <p:nvPr/>
        </p:nvSpPr>
        <p:spPr>
          <a:xfrm>
            <a:off x="9144000" y="1828800"/>
            <a:ext cx="2743200" cy="548640"/>
          </a:xfrm>
          <a:prstGeom prst="rect">
            <a:avLst/>
          </a:prstGeom>
          <a:noFill/>
          <a:ln/>
        </p:spPr>
        <p:txBody>
          <a:bodyPr wrap="square" rtlCol="0" anchor="ctr"/>
          <a:lstStyle/>
          <a:p>
            <a:pPr algn="ctr" indent="0" marL="0">
              <a:buNone/>
            </a:pPr>
            <a:r>
              <a:rPr lang="en-US" sz="1800" dirty="0">
                <a:solidFill>
                  <a:srgbClr val="5C6BC0"/>
                </a:solidFill>
                <a:latin typeface="Inter" pitchFamily="34" charset="0"/>
                <a:ea typeface="Inter" pitchFamily="34" charset="-122"/>
                <a:cs typeface="Inter" pitchFamily="34" charset="-120"/>
              </a:rPr>
              <a:t>Path D</a:t>
            </a:r>
            <a:endParaRPr lang="en-US" sz="1800" dirty="0"/>
          </a:p>
        </p:txBody>
      </p:sp>
      <p:sp>
        <p:nvSpPr>
          <p:cNvPr id="16" name="Text 14"/>
          <p:cNvSpPr/>
          <p:nvPr/>
        </p:nvSpPr>
        <p:spPr>
          <a:xfrm>
            <a:off x="9144000" y="2743200"/>
            <a:ext cx="2743200" cy="2286000"/>
          </a:xfrm>
          <a:prstGeom prst="rect">
            <a:avLst/>
          </a:prstGeom>
          <a:noFill/>
          <a:ln/>
        </p:spPr>
        <p:txBody>
          <a:bodyPr wrap="square" rtlCol="0" anchor="ctr"/>
          <a:lstStyle/>
          <a:p>
            <a:pPr algn="ctr" indent="0" marL="0">
              <a:buNone/>
            </a:pPr>
            <a:r>
              <a:rPr lang="en-US" sz="2600" b="1" dirty="0">
                <a:solidFill>
                  <a:srgbClr val="69F0AE"/>
                </a:solidFill>
                <a:latin typeface="Inter" pitchFamily="34" charset="0"/>
                <a:ea typeface="Inter" pitchFamily="34" charset="-122"/>
                <a:cs typeface="Inter" pitchFamily="34" charset="-120"/>
              </a:rPr>
              <a:t>Agent</a:t>
            </a:r>
            <a:endParaRPr lang="en-US" sz="2600" dirty="0"/>
          </a:p>
          <a:p>
            <a:pPr algn="ctr" indent="0" marL="0">
              <a:buNone/>
            </a:pPr>
            <a:r>
              <a:rPr lang="en-US" sz="2600" b="1" dirty="0">
                <a:solidFill>
                  <a:srgbClr val="69F0AE"/>
                </a:solidFill>
                <a:latin typeface="Inter" pitchFamily="34" charset="0"/>
                <a:ea typeface="Inter" pitchFamily="34" charset="-122"/>
                <a:cs typeface="Inter" pitchFamily="34" charset="-120"/>
              </a:rPr>
              <a:t>Core</a:t>
            </a:r>
            <a:endParaRPr lang="en-US" sz="2600" dirty="0"/>
          </a:p>
        </p:txBody>
      </p:sp>
      <p:sp>
        <p:nvSpPr>
          <p:cNvPr id="17" name="Text 15"/>
          <p:cNvSpPr/>
          <p:nvPr/>
        </p:nvSpPr>
        <p:spPr>
          <a:xfrm>
            <a:off x="9144000" y="5303520"/>
            <a:ext cx="2743200" cy="457200"/>
          </a:xfrm>
          <a:prstGeom prst="rect">
            <a:avLst/>
          </a:prstGeom>
          <a:noFill/>
          <a:ln/>
        </p:spPr>
        <p:txBody>
          <a:bodyPr wrap="square" rtlCol="0" anchor="ctr"/>
          <a:lstStyle/>
          <a:p>
            <a:pPr algn="ctr" indent="0" marL="0">
              <a:buNone/>
            </a:pPr>
            <a:r>
              <a:rPr lang="en-US" sz="1800" b="1" dirty="0">
                <a:solidFill>
                  <a:srgbClr val="69F0AE"/>
                </a:solidFill>
                <a:latin typeface="Inter" pitchFamily="34" charset="0"/>
                <a:ea typeface="Inter" pitchFamily="34" charset="-122"/>
                <a:cs typeface="Inter" pitchFamily="34" charset="-120"/>
              </a:rPr>
              <a:t>RECOMMENDED</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Text 2"/>
          <p:cNvSpPr/>
          <p:nvPr/>
        </p:nvSpPr>
        <p:spPr>
          <a:xfrm>
            <a:off x="457200" y="274320"/>
            <a:ext cx="10972800" cy="914400"/>
          </a:xfrm>
          <a:prstGeom prst="rect">
            <a:avLst/>
          </a:prstGeom>
          <a:noFill/>
          <a:ln/>
        </p:spPr>
        <p:txBody>
          <a:bodyPr wrap="square" rtlCol="0" anchor="ctr"/>
          <a:lstStyle/>
          <a:p>
            <a:pPr indent="0" marL="0">
              <a:buNone/>
            </a:pPr>
            <a:r>
              <a:rPr lang="en-US" sz="4000" b="1" dirty="0">
                <a:solidFill>
                  <a:srgbClr val="FFFFFF"/>
                </a:solidFill>
                <a:latin typeface="Montserrat" pitchFamily="34" charset="0"/>
                <a:ea typeface="Montserrat" pitchFamily="34" charset="-122"/>
                <a:cs typeface="Montserrat" pitchFamily="34" charset="-120"/>
              </a:rPr>
              <a:t>Containers vs Firecracker</a:t>
            </a:r>
            <a:endParaRPr lang="en-US" sz="4000" dirty="0"/>
          </a:p>
        </p:txBody>
      </p:sp>
      <p:sp>
        <p:nvSpPr>
          <p:cNvPr id="5" name="Shape 3"/>
          <p:cNvSpPr/>
          <p:nvPr/>
        </p:nvSpPr>
        <p:spPr>
          <a:xfrm>
            <a:off x="457200" y="1645920"/>
            <a:ext cx="5394960" cy="4389120"/>
          </a:xfrm>
          <a:prstGeom prst="roundRect">
            <a:avLst>
              <a:gd name="adj" fmla="val 2083"/>
            </a:avLst>
          </a:prstGeom>
          <a:solidFill>
            <a:srgbClr val="1A1F4E">
              <a:alpha val="70000"/>
            </a:srgbClr>
          </a:solidFill>
          <a:ln w="19050">
            <a:solidFill>
              <a:srgbClr val="F44336"/>
            </a:solidFill>
            <a:prstDash val="solid"/>
          </a:ln>
        </p:spPr>
      </p:sp>
      <p:sp>
        <p:nvSpPr>
          <p:cNvPr id="6" name="Shape 4"/>
          <p:cNvSpPr/>
          <p:nvPr/>
        </p:nvSpPr>
        <p:spPr>
          <a:xfrm>
            <a:off x="6309360" y="1645920"/>
            <a:ext cx="5394960" cy="4389120"/>
          </a:xfrm>
          <a:prstGeom prst="roundRect">
            <a:avLst>
              <a:gd name="adj" fmla="val 2083"/>
            </a:avLst>
          </a:prstGeom>
          <a:solidFill>
            <a:srgbClr val="1A1F4E">
              <a:alpha val="70000"/>
            </a:srgbClr>
          </a:solidFill>
          <a:ln w="19050">
            <a:solidFill>
              <a:srgbClr val="69F0AE"/>
            </a:solidFill>
            <a:prstDash val="solid"/>
          </a:ln>
        </p:spPr>
      </p:sp>
      <p:sp>
        <p:nvSpPr>
          <p:cNvPr id="7" name="Text 5"/>
          <p:cNvSpPr/>
          <p:nvPr/>
        </p:nvSpPr>
        <p:spPr>
          <a:xfrm>
            <a:off x="457200" y="1828800"/>
            <a:ext cx="5394960" cy="914400"/>
          </a:xfrm>
          <a:prstGeom prst="rect">
            <a:avLst/>
          </a:prstGeom>
          <a:noFill/>
          <a:ln/>
        </p:spPr>
        <p:txBody>
          <a:bodyPr wrap="square" rtlCol="0" anchor="ctr"/>
          <a:lstStyle/>
          <a:p>
            <a:pPr algn="ctr" indent="0" marL="0">
              <a:buNone/>
            </a:pPr>
            <a:r>
              <a:rPr lang="en-US" sz="2800" b="1" dirty="0">
                <a:solidFill>
                  <a:srgbClr val="F44336"/>
                </a:solidFill>
                <a:latin typeface="Inter" pitchFamily="34" charset="0"/>
                <a:ea typeface="Inter" pitchFamily="34" charset="-122"/>
                <a:cs typeface="Inter" pitchFamily="34" charset="-120"/>
              </a:rPr>
              <a:t>Containers</a:t>
            </a:r>
            <a:endParaRPr lang="en-US" sz="2800" dirty="0"/>
          </a:p>
        </p:txBody>
      </p:sp>
      <p:sp>
        <p:nvSpPr>
          <p:cNvPr id="8" name="Text 6"/>
          <p:cNvSpPr/>
          <p:nvPr/>
        </p:nvSpPr>
        <p:spPr>
          <a:xfrm>
            <a:off x="731520" y="2926080"/>
            <a:ext cx="4846320" cy="2743200"/>
          </a:xfrm>
          <a:prstGeom prst="rect">
            <a:avLst/>
          </a:prstGeom>
          <a:noFill/>
          <a:ln/>
        </p:spPr>
        <p:txBody>
          <a:bodyPr wrap="square" rtlCol="0" anchor="ctr"/>
          <a:lstStyle/>
          <a:p>
            <a:pPr algn="ctr" indent="0" marL="0">
              <a:lnSpc>
                <a:spcPts val="3600"/>
              </a:lnSpc>
              <a:buNone/>
            </a:pPr>
            <a:r>
              <a:rPr lang="en-US" sz="2200" dirty="0">
                <a:solidFill>
                  <a:srgbClr val="FFFFFF"/>
                </a:solidFill>
                <a:latin typeface="Inter" pitchFamily="34" charset="0"/>
                <a:ea typeface="Inter" pitchFamily="34" charset="-122"/>
                <a:cs typeface="Inter" pitchFamily="34" charset="-120"/>
              </a:rPr>
              <a:t>Shared kernel</a:t>
            </a:r>
            <a:endParaRPr lang="en-US" sz="2200" dirty="0"/>
          </a:p>
          <a:p>
            <a:pPr algn="ctr" indent="0" marL="0">
              <a:lnSpc>
                <a:spcPts val="3600"/>
              </a:lnSpc>
              <a:buNone/>
            </a:pPr>
            <a:endParaRPr lang="en-US" sz="2200" dirty="0"/>
          </a:p>
          <a:p>
            <a:pPr algn="ctr" indent="0" marL="0">
              <a:lnSpc>
                <a:spcPts val="3600"/>
              </a:lnSpc>
              <a:buNone/>
            </a:pPr>
            <a:r>
              <a:rPr lang="en-US" sz="2200" dirty="0">
                <a:solidFill>
                  <a:srgbClr val="FFFFFF"/>
                </a:solidFill>
                <a:latin typeface="Inter" pitchFamily="34" charset="0"/>
                <a:ea typeface="Inter" pitchFamily="34" charset="-122"/>
                <a:cs typeface="Inter" pitchFamily="34" charset="-120"/>
              </a:rPr>
              <a:t>Escape risks</a:t>
            </a:r>
            <a:endParaRPr lang="en-US" sz="2200" dirty="0"/>
          </a:p>
          <a:p>
            <a:pPr algn="ctr" indent="0" marL="0">
              <a:lnSpc>
                <a:spcPts val="3600"/>
              </a:lnSpc>
              <a:buNone/>
            </a:pPr>
            <a:endParaRPr lang="en-US" sz="2200" dirty="0"/>
          </a:p>
          <a:p>
            <a:pPr algn="ctr" indent="0" marL="0">
              <a:lnSpc>
                <a:spcPts val="3600"/>
              </a:lnSpc>
              <a:buNone/>
            </a:pPr>
            <a:r>
              <a:rPr lang="en-US" sz="2200" dirty="0">
                <a:solidFill>
                  <a:srgbClr val="FFFFFF"/>
                </a:solidFill>
                <a:latin typeface="Inter" pitchFamily="34" charset="0"/>
                <a:ea typeface="Inter" pitchFamily="34" charset="-122"/>
                <a:cs typeface="Inter" pitchFamily="34" charset="-120"/>
              </a:rPr>
              <a:t>No fs isolation</a:t>
            </a:r>
            <a:endParaRPr lang="en-US" sz="2200" dirty="0"/>
          </a:p>
        </p:txBody>
      </p:sp>
      <p:sp>
        <p:nvSpPr>
          <p:cNvPr id="9" name="Text 7"/>
          <p:cNvSpPr/>
          <p:nvPr/>
        </p:nvSpPr>
        <p:spPr>
          <a:xfrm>
            <a:off x="6309360" y="1828800"/>
            <a:ext cx="5394960" cy="914400"/>
          </a:xfrm>
          <a:prstGeom prst="rect">
            <a:avLst/>
          </a:prstGeom>
          <a:noFill/>
          <a:ln/>
        </p:spPr>
        <p:txBody>
          <a:bodyPr wrap="square" rtlCol="0" anchor="ctr"/>
          <a:lstStyle/>
          <a:p>
            <a:pPr algn="ctr" indent="0" marL="0">
              <a:buNone/>
            </a:pPr>
            <a:r>
              <a:rPr lang="en-US" sz="2800" b="1" dirty="0">
                <a:solidFill>
                  <a:srgbClr val="69F0AE"/>
                </a:solidFill>
                <a:latin typeface="Inter" pitchFamily="34" charset="0"/>
                <a:ea typeface="Inter" pitchFamily="34" charset="-122"/>
                <a:cs typeface="Inter" pitchFamily="34" charset="-120"/>
              </a:rPr>
              <a:t>Firecracker microVMs</a:t>
            </a:r>
            <a:endParaRPr lang="en-US" sz="2800" dirty="0"/>
          </a:p>
        </p:txBody>
      </p:sp>
      <p:sp>
        <p:nvSpPr>
          <p:cNvPr id="10" name="Text 8"/>
          <p:cNvSpPr/>
          <p:nvPr/>
        </p:nvSpPr>
        <p:spPr>
          <a:xfrm>
            <a:off x="6583680" y="2926080"/>
            <a:ext cx="4846320" cy="2743200"/>
          </a:xfrm>
          <a:prstGeom prst="rect">
            <a:avLst/>
          </a:prstGeom>
          <a:noFill/>
          <a:ln/>
        </p:spPr>
        <p:txBody>
          <a:bodyPr wrap="square" rtlCol="0" anchor="ctr"/>
          <a:lstStyle/>
          <a:p>
            <a:pPr algn="ctr" indent="0" marL="0">
              <a:lnSpc>
                <a:spcPts val="3600"/>
              </a:lnSpc>
              <a:buNone/>
            </a:pPr>
            <a:r>
              <a:rPr lang="en-US" sz="2200" dirty="0">
                <a:solidFill>
                  <a:srgbClr val="FFFFFF"/>
                </a:solidFill>
                <a:latin typeface="Inter" pitchFamily="34" charset="0"/>
                <a:ea typeface="Inter" pitchFamily="34" charset="-122"/>
                <a:cs typeface="Inter" pitchFamily="34" charset="-120"/>
              </a:rPr>
              <a:t>Hardware isolation</a:t>
            </a:r>
            <a:endParaRPr lang="en-US" sz="2200" dirty="0"/>
          </a:p>
          <a:p>
            <a:pPr algn="ctr" indent="0" marL="0">
              <a:lnSpc>
                <a:spcPts val="3600"/>
              </a:lnSpc>
              <a:buNone/>
            </a:pPr>
            <a:endParaRPr lang="en-US" sz="2200" dirty="0"/>
          </a:p>
          <a:p>
            <a:pPr algn="ctr" indent="0" marL="0">
              <a:lnSpc>
                <a:spcPts val="3600"/>
              </a:lnSpc>
              <a:buNone/>
            </a:pPr>
            <a:r>
              <a:rPr lang="en-US" sz="2200" dirty="0">
                <a:solidFill>
                  <a:srgbClr val="FFFFFF"/>
                </a:solidFill>
                <a:latin typeface="Inter" pitchFamily="34" charset="0"/>
                <a:ea typeface="Inter" pitchFamily="34" charset="-122"/>
                <a:cs typeface="Inter" pitchFamily="34" charset="-120"/>
              </a:rPr>
              <a:t>Dedicated CPU/mem</a:t>
            </a:r>
            <a:endParaRPr lang="en-US" sz="2200" dirty="0"/>
          </a:p>
          <a:p>
            <a:pPr algn="ctr" indent="0" marL="0">
              <a:lnSpc>
                <a:spcPts val="3600"/>
              </a:lnSpc>
              <a:buNone/>
            </a:pPr>
            <a:endParaRPr lang="en-US" sz="2200" dirty="0"/>
          </a:p>
          <a:p>
            <a:pPr algn="ctr" indent="0" marL="0">
              <a:lnSpc>
                <a:spcPts val="3600"/>
              </a:lnSpc>
              <a:buNone/>
            </a:pPr>
            <a:r>
              <a:rPr lang="en-US" sz="2200" dirty="0">
                <a:solidFill>
                  <a:srgbClr val="FFFFFF"/>
                </a:solidFill>
                <a:latin typeface="Inter" pitchFamily="34" charset="0"/>
                <a:ea typeface="Inter" pitchFamily="34" charset="-122"/>
                <a:cs typeface="Inter" pitchFamily="34" charset="-120"/>
              </a:rPr>
              <a:t>Zero residual state</a:t>
            </a:r>
            <a:endParaRPr lang="en-US" sz="2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Text 2"/>
          <p:cNvSpPr/>
          <p:nvPr/>
        </p:nvSpPr>
        <p:spPr>
          <a:xfrm>
            <a:off x="457200" y="274320"/>
            <a:ext cx="10972800" cy="914400"/>
          </a:xfrm>
          <a:prstGeom prst="rect">
            <a:avLst/>
          </a:prstGeom>
          <a:noFill/>
          <a:ln/>
        </p:spPr>
        <p:txBody>
          <a:bodyPr wrap="square" rtlCol="0" anchor="ctr"/>
          <a:lstStyle/>
          <a:p>
            <a:pPr indent="0" marL="0">
              <a:buNone/>
            </a:pPr>
            <a:r>
              <a:rPr lang="en-US" sz="4000" b="1" dirty="0">
                <a:solidFill>
                  <a:srgbClr val="FFFFFF"/>
                </a:solidFill>
                <a:latin typeface="Montserrat" pitchFamily="34" charset="0"/>
                <a:ea typeface="Montserrat" pitchFamily="34" charset="-122"/>
                <a:cs typeface="Montserrat" pitchFamily="34" charset="-120"/>
              </a:rPr>
              <a:t>Security &amp; Governance</a:t>
            </a:r>
            <a:endParaRPr lang="en-US" sz="4000" dirty="0"/>
          </a:p>
        </p:txBody>
      </p:sp>
      <p:sp>
        <p:nvSpPr>
          <p:cNvPr id="5" name="Shape 3"/>
          <p:cNvSpPr/>
          <p:nvPr/>
        </p:nvSpPr>
        <p:spPr>
          <a:xfrm>
            <a:off x="457200" y="1645920"/>
            <a:ext cx="10972800" cy="960120"/>
          </a:xfrm>
          <a:prstGeom prst="roundRect">
            <a:avLst>
              <a:gd name="adj" fmla="val 9524"/>
            </a:avLst>
          </a:prstGeom>
          <a:solidFill>
            <a:srgbClr val="1A1F4E">
              <a:alpha val="70000"/>
            </a:srgbClr>
          </a:solidFill>
          <a:ln w="19050">
            <a:solidFill>
              <a:srgbClr val="4FC3F7"/>
            </a:solidFill>
            <a:prstDash val="solid"/>
          </a:ln>
        </p:spPr>
      </p:sp>
      <p:sp>
        <p:nvSpPr>
          <p:cNvPr id="6" name="Text 4"/>
          <p:cNvSpPr/>
          <p:nvPr/>
        </p:nvSpPr>
        <p:spPr>
          <a:xfrm>
            <a:off x="914400" y="1645920"/>
            <a:ext cx="10058400" cy="960120"/>
          </a:xfrm>
          <a:prstGeom prst="rect">
            <a:avLst/>
          </a:prstGeom>
          <a:noFill/>
          <a:ln/>
        </p:spPr>
        <p:txBody>
          <a:bodyPr wrap="square" rtlCol="0" anchor="ctr"/>
          <a:lstStyle/>
          <a:p>
            <a:pPr indent="0" marL="0">
              <a:buNone/>
            </a:pPr>
            <a:r>
              <a:rPr lang="en-US" sz="2600" dirty="0">
                <a:solidFill>
                  <a:srgbClr val="FFFFFF"/>
                </a:solidFill>
                <a:latin typeface="Inter" pitchFamily="34" charset="0"/>
                <a:ea typeface="Inter" pitchFamily="34" charset="-122"/>
                <a:cs typeface="Inter" pitchFamily="34" charset="-120"/>
              </a:rPr>
              <a:t>Cedar policy engine</a:t>
            </a:r>
            <a:endParaRPr lang="en-US" sz="2600" dirty="0"/>
          </a:p>
        </p:txBody>
      </p:sp>
      <p:sp>
        <p:nvSpPr>
          <p:cNvPr id="7" name="Shape 5"/>
          <p:cNvSpPr/>
          <p:nvPr/>
        </p:nvSpPr>
        <p:spPr>
          <a:xfrm>
            <a:off x="731520" y="2834640"/>
            <a:ext cx="10424160" cy="960120"/>
          </a:xfrm>
          <a:prstGeom prst="roundRect">
            <a:avLst>
              <a:gd name="adj" fmla="val 9524"/>
            </a:avLst>
          </a:prstGeom>
          <a:solidFill>
            <a:srgbClr val="1A1F4E">
              <a:alpha val="70000"/>
            </a:srgbClr>
          </a:solidFill>
          <a:ln w="19050">
            <a:solidFill>
              <a:srgbClr val="FF9900"/>
            </a:solidFill>
            <a:prstDash val="solid"/>
          </a:ln>
        </p:spPr>
      </p:sp>
      <p:sp>
        <p:nvSpPr>
          <p:cNvPr id="8" name="Text 6"/>
          <p:cNvSpPr/>
          <p:nvPr/>
        </p:nvSpPr>
        <p:spPr>
          <a:xfrm>
            <a:off x="1188720" y="2834640"/>
            <a:ext cx="9509760" cy="960120"/>
          </a:xfrm>
          <a:prstGeom prst="rect">
            <a:avLst/>
          </a:prstGeom>
          <a:noFill/>
          <a:ln/>
        </p:spPr>
        <p:txBody>
          <a:bodyPr wrap="square" rtlCol="0" anchor="ctr"/>
          <a:lstStyle/>
          <a:p>
            <a:pPr indent="0" marL="0">
              <a:buNone/>
            </a:pPr>
            <a:r>
              <a:rPr lang="en-US" sz="2600" dirty="0">
                <a:solidFill>
                  <a:srgbClr val="FFFFFF"/>
                </a:solidFill>
                <a:latin typeface="Inter" pitchFamily="34" charset="0"/>
                <a:ea typeface="Inter" pitchFamily="34" charset="-122"/>
                <a:cs typeface="Inter" pitchFamily="34" charset="-120"/>
              </a:rPr>
              <a:t>SSO / IdP identity</a:t>
            </a:r>
            <a:endParaRPr lang="en-US" sz="2600" dirty="0"/>
          </a:p>
        </p:txBody>
      </p:sp>
      <p:sp>
        <p:nvSpPr>
          <p:cNvPr id="9" name="Shape 7"/>
          <p:cNvSpPr/>
          <p:nvPr/>
        </p:nvSpPr>
        <p:spPr>
          <a:xfrm>
            <a:off x="1005840" y="4023360"/>
            <a:ext cx="9875520" cy="960120"/>
          </a:xfrm>
          <a:prstGeom prst="roundRect">
            <a:avLst>
              <a:gd name="adj" fmla="val 9524"/>
            </a:avLst>
          </a:prstGeom>
          <a:solidFill>
            <a:srgbClr val="1A1F4E">
              <a:alpha val="70000"/>
            </a:srgbClr>
          </a:solidFill>
          <a:ln w="19050">
            <a:solidFill>
              <a:srgbClr val="69F0AE"/>
            </a:solidFill>
            <a:prstDash val="solid"/>
          </a:ln>
        </p:spPr>
      </p:sp>
      <p:sp>
        <p:nvSpPr>
          <p:cNvPr id="10" name="Text 8"/>
          <p:cNvSpPr/>
          <p:nvPr/>
        </p:nvSpPr>
        <p:spPr>
          <a:xfrm>
            <a:off x="1463040" y="4023360"/>
            <a:ext cx="8961120" cy="960120"/>
          </a:xfrm>
          <a:prstGeom prst="rect">
            <a:avLst/>
          </a:prstGeom>
          <a:noFill/>
          <a:ln/>
        </p:spPr>
        <p:txBody>
          <a:bodyPr wrap="square" rtlCol="0" anchor="ctr"/>
          <a:lstStyle/>
          <a:p>
            <a:pPr indent="0" marL="0">
              <a:buNone/>
            </a:pPr>
            <a:r>
              <a:rPr lang="en-US" sz="2600" dirty="0">
                <a:solidFill>
                  <a:srgbClr val="FFFFFF"/>
                </a:solidFill>
                <a:latin typeface="Inter" pitchFamily="34" charset="0"/>
                <a:ea typeface="Inter" pitchFamily="34" charset="-122"/>
                <a:cs typeface="Inter" pitchFamily="34" charset="-120"/>
              </a:rPr>
              <a:t>STS scoped credentials</a:t>
            </a:r>
            <a:endParaRPr lang="en-US" sz="2600" dirty="0"/>
          </a:p>
        </p:txBody>
      </p:sp>
      <p:sp>
        <p:nvSpPr>
          <p:cNvPr id="11" name="Shape 9"/>
          <p:cNvSpPr/>
          <p:nvPr/>
        </p:nvSpPr>
        <p:spPr>
          <a:xfrm>
            <a:off x="1280160" y="5212080"/>
            <a:ext cx="9326880" cy="960120"/>
          </a:xfrm>
          <a:prstGeom prst="roundRect">
            <a:avLst>
              <a:gd name="adj" fmla="val 9524"/>
            </a:avLst>
          </a:prstGeom>
          <a:solidFill>
            <a:srgbClr val="1A1F4E">
              <a:alpha val="70000"/>
            </a:srgbClr>
          </a:solidFill>
          <a:ln w="19050">
            <a:solidFill>
              <a:srgbClr val="CE93D8"/>
            </a:solidFill>
            <a:prstDash val="solid"/>
          </a:ln>
        </p:spPr>
      </p:sp>
      <p:sp>
        <p:nvSpPr>
          <p:cNvPr id="12" name="Text 10"/>
          <p:cNvSpPr/>
          <p:nvPr/>
        </p:nvSpPr>
        <p:spPr>
          <a:xfrm>
            <a:off x="1737360" y="5212080"/>
            <a:ext cx="8412480" cy="960120"/>
          </a:xfrm>
          <a:prstGeom prst="rect">
            <a:avLst/>
          </a:prstGeom>
          <a:noFill/>
          <a:ln/>
        </p:spPr>
        <p:txBody>
          <a:bodyPr wrap="square" rtlCol="0" anchor="ctr"/>
          <a:lstStyle/>
          <a:p>
            <a:pPr indent="0" marL="0">
              <a:buNone/>
            </a:pPr>
            <a:r>
              <a:rPr lang="en-US" sz="2600" dirty="0">
                <a:solidFill>
                  <a:srgbClr val="FFFFFF"/>
                </a:solidFill>
                <a:latin typeface="Inter" pitchFamily="34" charset="0"/>
                <a:ea typeface="Inter" pitchFamily="34" charset="-122"/>
                <a:cs typeface="Inter" pitchFamily="34" charset="-120"/>
              </a:rPr>
              <a:t>Bedrock Guardrails</a:t>
            </a:r>
            <a:endParaRPr lang="en-US" sz="2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Text 2"/>
          <p:cNvSpPr/>
          <p:nvPr/>
        </p:nvSpPr>
        <p:spPr>
          <a:xfrm>
            <a:off x="457200" y="274320"/>
            <a:ext cx="10972800" cy="914400"/>
          </a:xfrm>
          <a:prstGeom prst="rect">
            <a:avLst/>
          </a:prstGeom>
          <a:noFill/>
          <a:ln/>
        </p:spPr>
        <p:txBody>
          <a:bodyPr wrap="square" rtlCol="0" anchor="ctr"/>
          <a:lstStyle/>
          <a:p>
            <a:pPr indent="0" marL="0">
              <a:buNone/>
            </a:pPr>
            <a:r>
              <a:rPr lang="en-US" sz="4000" b="1" dirty="0">
                <a:solidFill>
                  <a:srgbClr val="FFFFFF"/>
                </a:solidFill>
                <a:latin typeface="Montserrat" pitchFamily="34" charset="0"/>
                <a:ea typeface="Montserrat" pitchFamily="34" charset="-122"/>
                <a:cs typeface="Montserrat" pitchFamily="34" charset="-120"/>
              </a:rPr>
              <a:t>Cost Efficiency</a:t>
            </a:r>
            <a:endParaRPr lang="en-US" sz="4000" dirty="0"/>
          </a:p>
        </p:txBody>
      </p:sp>
      <p:sp>
        <p:nvSpPr>
          <p:cNvPr id="5" name="Shape 3"/>
          <p:cNvSpPr/>
          <p:nvPr/>
        </p:nvSpPr>
        <p:spPr>
          <a:xfrm>
            <a:off x="457200" y="1371600"/>
            <a:ext cx="5486400" cy="4754880"/>
          </a:xfrm>
          <a:prstGeom prst="roundRect">
            <a:avLst>
              <a:gd name="adj" fmla="val 1923"/>
            </a:avLst>
          </a:prstGeom>
          <a:solidFill>
            <a:srgbClr val="1A1F4E">
              <a:alpha val="70000"/>
            </a:srgbClr>
          </a:solidFill>
          <a:ln w="19050">
            <a:solidFill>
              <a:srgbClr val="69F0AE"/>
            </a:solidFill>
            <a:prstDash val="solid"/>
          </a:ln>
        </p:spPr>
      </p:sp>
      <p:sp>
        <p:nvSpPr>
          <p:cNvPr id="6" name="Shape 4"/>
          <p:cNvSpPr/>
          <p:nvPr/>
        </p:nvSpPr>
        <p:spPr>
          <a:xfrm>
            <a:off x="6400800" y="1371600"/>
            <a:ext cx="5303520" cy="4754880"/>
          </a:xfrm>
          <a:prstGeom prst="roundRect">
            <a:avLst>
              <a:gd name="adj" fmla="val 1923"/>
            </a:avLst>
          </a:prstGeom>
          <a:solidFill>
            <a:srgbClr val="1A1F4E">
              <a:alpha val="70000"/>
            </a:srgbClr>
          </a:solidFill>
          <a:ln w="19050">
            <a:solidFill>
              <a:srgbClr val="4FC3F7"/>
            </a:solidFill>
            <a:prstDash val="solid"/>
          </a:ln>
        </p:spPr>
      </p:sp>
      <p:sp>
        <p:nvSpPr>
          <p:cNvPr id="7" name="Text 5"/>
          <p:cNvSpPr/>
          <p:nvPr/>
        </p:nvSpPr>
        <p:spPr>
          <a:xfrm>
            <a:off x="731520" y="1828800"/>
            <a:ext cx="5029200" cy="731520"/>
          </a:xfrm>
          <a:prstGeom prst="rect">
            <a:avLst/>
          </a:prstGeom>
          <a:noFill/>
          <a:ln/>
        </p:spPr>
        <p:txBody>
          <a:bodyPr wrap="square" rtlCol="0" anchor="ctr"/>
          <a:lstStyle/>
          <a:p>
            <a:pPr algn="ctr" indent="0" marL="0">
              <a:buNone/>
            </a:pPr>
            <a:r>
              <a:rPr lang="en-US" sz="2200" dirty="0">
                <a:solidFill>
                  <a:srgbClr val="90CAF9"/>
                </a:solidFill>
                <a:latin typeface="Inter" pitchFamily="34" charset="0"/>
                <a:ea typeface="Inter" pitchFamily="34" charset="-122"/>
                <a:cs typeface="Inter" pitchFamily="34" charset="-120"/>
              </a:rPr>
              <a:t>Up to</a:t>
            </a:r>
            <a:endParaRPr lang="en-US" sz="2200" dirty="0"/>
          </a:p>
        </p:txBody>
      </p:sp>
      <p:sp>
        <p:nvSpPr>
          <p:cNvPr id="8" name="Text 6"/>
          <p:cNvSpPr/>
          <p:nvPr/>
        </p:nvSpPr>
        <p:spPr>
          <a:xfrm>
            <a:off x="731520" y="2560320"/>
            <a:ext cx="5029200" cy="2286000"/>
          </a:xfrm>
          <a:prstGeom prst="rect">
            <a:avLst/>
          </a:prstGeom>
          <a:noFill/>
          <a:ln/>
        </p:spPr>
        <p:txBody>
          <a:bodyPr wrap="square" rtlCol="0" anchor="ctr"/>
          <a:lstStyle/>
          <a:p>
            <a:pPr algn="ctr" indent="0" marL="0">
              <a:buNone/>
            </a:pPr>
            <a:r>
              <a:rPr lang="en-US" sz="9600" b="1" dirty="0">
                <a:solidFill>
                  <a:srgbClr val="69F0AE"/>
                </a:solidFill>
                <a:latin typeface="Montserrat" pitchFamily="34" charset="0"/>
                <a:ea typeface="Montserrat" pitchFamily="34" charset="-122"/>
                <a:cs typeface="Montserrat" pitchFamily="34" charset="-120"/>
              </a:rPr>
              <a:t>83%</a:t>
            </a:r>
            <a:endParaRPr lang="en-US" sz="9600" dirty="0"/>
          </a:p>
        </p:txBody>
      </p:sp>
      <p:sp>
        <p:nvSpPr>
          <p:cNvPr id="9" name="Text 7"/>
          <p:cNvSpPr/>
          <p:nvPr/>
        </p:nvSpPr>
        <p:spPr>
          <a:xfrm>
            <a:off x="731520" y="4846320"/>
            <a:ext cx="5029200" cy="731520"/>
          </a:xfrm>
          <a:prstGeom prst="rect">
            <a:avLst/>
          </a:prstGeom>
          <a:noFill/>
          <a:ln/>
        </p:spPr>
        <p:txBody>
          <a:bodyPr wrap="square" rtlCol="0" anchor="ctr"/>
          <a:lstStyle/>
          <a:p>
            <a:pPr algn="ctr" indent="0" marL="0">
              <a:buNone/>
            </a:pPr>
            <a:r>
              <a:rPr lang="en-US" sz="2200" dirty="0">
                <a:solidFill>
                  <a:srgbClr val="90CAF9"/>
                </a:solidFill>
                <a:latin typeface="Inter" pitchFamily="34" charset="0"/>
                <a:ea typeface="Inter" pitchFamily="34" charset="-122"/>
                <a:cs typeface="Inter" pitchFamily="34" charset="-120"/>
              </a:rPr>
              <a:t>cost savings</a:t>
            </a:r>
            <a:endParaRPr lang="en-US" sz="2200" dirty="0"/>
          </a:p>
        </p:txBody>
      </p:sp>
      <p:sp>
        <p:nvSpPr>
          <p:cNvPr id="10" name="Text 8"/>
          <p:cNvSpPr/>
          <p:nvPr/>
        </p:nvSpPr>
        <p:spPr>
          <a:xfrm>
            <a:off x="6675120" y="2011680"/>
            <a:ext cx="4754880" cy="3657600"/>
          </a:xfrm>
          <a:prstGeom prst="rect">
            <a:avLst/>
          </a:prstGeom>
          <a:noFill/>
          <a:ln/>
        </p:spPr>
        <p:txBody>
          <a:bodyPr wrap="square" rtlCol="0" anchor="ctr"/>
          <a:lstStyle/>
          <a:p>
            <a:pPr indent="0" marL="0">
              <a:lnSpc>
                <a:spcPts val="3800"/>
              </a:lnSpc>
              <a:buNone/>
            </a:pPr>
            <a:r>
              <a:rPr lang="en-US" sz="2400" dirty="0">
                <a:solidFill>
                  <a:srgbClr val="FFFFFF"/>
                </a:solidFill>
                <a:latin typeface="Inter" pitchFamily="34" charset="0"/>
                <a:ea typeface="Inter" pitchFamily="34" charset="-122"/>
                <a:cs typeface="Inter" pitchFamily="34" charset="-120"/>
              </a:rPr>
              <a:t>End-to-end tracing</a:t>
            </a:r>
            <a:endParaRPr lang="en-US" sz="2400" dirty="0"/>
          </a:p>
          <a:p>
            <a:pPr indent="0" marL="0">
              <a:lnSpc>
                <a:spcPts val="3800"/>
              </a:lnSpc>
              <a:buNone/>
            </a:pPr>
            <a:endParaRPr lang="en-US" sz="2400" dirty="0"/>
          </a:p>
          <a:p>
            <a:pPr indent="0" marL="0">
              <a:lnSpc>
                <a:spcPts val="3800"/>
              </a:lnSpc>
              <a:buNone/>
            </a:pPr>
            <a:r>
              <a:rPr lang="en-US" sz="2400" dirty="0">
                <a:solidFill>
                  <a:srgbClr val="FFFFFF"/>
                </a:solidFill>
                <a:latin typeface="Inter" pitchFamily="34" charset="0"/>
                <a:ea typeface="Inter" pitchFamily="34" charset="-122"/>
                <a:cs typeface="Inter" pitchFamily="34" charset="-120"/>
              </a:rPr>
              <a:t>Pay-per-use only</a:t>
            </a:r>
            <a:endParaRPr lang="en-US" sz="2400" dirty="0"/>
          </a:p>
          <a:p>
            <a:pPr indent="0" marL="0">
              <a:lnSpc>
                <a:spcPts val="3800"/>
              </a:lnSpc>
              <a:buNone/>
            </a:pPr>
            <a:endParaRPr lang="en-US" sz="2400" dirty="0"/>
          </a:p>
          <a:p>
            <a:pPr indent="0" marL="0">
              <a:lnSpc>
                <a:spcPts val="3800"/>
              </a:lnSpc>
              <a:buNone/>
            </a:pPr>
            <a:r>
              <a:rPr lang="en-US" sz="2400" dirty="0">
                <a:solidFill>
                  <a:srgbClr val="FFFFFF"/>
                </a:solidFill>
                <a:latin typeface="Inter" pitchFamily="34" charset="0"/>
                <a:ea typeface="Inter" pitchFamily="34" charset="-122"/>
                <a:cs typeface="Inter" pitchFamily="34" charset="-120"/>
              </a:rPr>
              <a:t>$30/user → $9/user</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Text 2"/>
          <p:cNvSpPr/>
          <p:nvPr/>
        </p:nvSpPr>
        <p:spPr>
          <a:xfrm>
            <a:off x="274320" y="274320"/>
            <a:ext cx="10972800" cy="822960"/>
          </a:xfrm>
          <a:prstGeom prst="rect">
            <a:avLst/>
          </a:prstGeom>
          <a:noFill/>
          <a:ln/>
        </p:spPr>
        <p:txBody>
          <a:bodyPr wrap="square" rtlCol="0" anchor="ctr"/>
          <a:lstStyle/>
          <a:p>
            <a:pPr indent="0" marL="0">
              <a:buNone/>
            </a:pPr>
            <a:r>
              <a:rPr lang="en-US" sz="3600" b="1" dirty="0">
                <a:solidFill>
                  <a:srgbClr val="FFFFFF"/>
                </a:solidFill>
                <a:latin typeface="Montserrat" pitchFamily="34" charset="0"/>
                <a:ea typeface="Montserrat" pitchFamily="34" charset="-122"/>
                <a:cs typeface="Montserrat" pitchFamily="34" charset="-120"/>
              </a:rPr>
              <a:t>Architecture: OpenClaw on AgentCore</a:t>
            </a:r>
            <a:endParaRPr lang="en-US" sz="3600" dirty="0"/>
          </a:p>
        </p:txBody>
      </p:sp>
      <p:sp>
        <p:nvSpPr>
          <p:cNvPr id="5" name="Text 3"/>
          <p:cNvSpPr/>
          <p:nvPr/>
        </p:nvSpPr>
        <p:spPr>
          <a:xfrm>
            <a:off x="274320" y="1005840"/>
            <a:ext cx="10972800" cy="548640"/>
          </a:xfrm>
          <a:prstGeom prst="rect">
            <a:avLst/>
          </a:prstGeom>
          <a:noFill/>
          <a:ln/>
        </p:spPr>
        <p:txBody>
          <a:bodyPr wrap="square" rtlCol="0" anchor="ctr"/>
          <a:lstStyle/>
          <a:p>
            <a:pPr indent="0" marL="0">
              <a:buNone/>
            </a:pPr>
            <a:r>
              <a:rPr lang="en-US" sz="2200" dirty="0">
                <a:solidFill>
                  <a:srgbClr val="90CAF9"/>
                </a:solidFill>
                <a:latin typeface="Inter" pitchFamily="34" charset="0"/>
                <a:ea typeface="Inter" pitchFamily="34" charset="-122"/>
                <a:cs typeface="Inter" pitchFamily="34" charset="-120"/>
              </a:rPr>
              <a:t>CDK deploys 7 production components</a:t>
            </a:r>
            <a:endParaRPr lang="en-US" sz="2200" dirty="0"/>
          </a:p>
        </p:txBody>
      </p:sp>
      <p:sp>
        <p:nvSpPr>
          <p:cNvPr id="6" name="Shape 4"/>
          <p:cNvSpPr/>
          <p:nvPr/>
        </p:nvSpPr>
        <p:spPr>
          <a:xfrm>
            <a:off x="182880" y="2011680"/>
            <a:ext cx="1554480" cy="4114800"/>
          </a:xfrm>
          <a:prstGeom prst="roundRect">
            <a:avLst>
              <a:gd name="adj" fmla="val 5882"/>
            </a:avLst>
          </a:prstGeom>
          <a:solidFill>
            <a:srgbClr val="1A1F4E">
              <a:alpha val="70000"/>
            </a:srgbClr>
          </a:solidFill>
          <a:ln w="19050">
            <a:solidFill>
              <a:srgbClr val="4FC3F7"/>
            </a:solidFill>
            <a:prstDash val="solid"/>
          </a:ln>
        </p:spPr>
      </p:sp>
      <p:sp>
        <p:nvSpPr>
          <p:cNvPr id="7" name="Text 5"/>
          <p:cNvSpPr/>
          <p:nvPr/>
        </p:nvSpPr>
        <p:spPr>
          <a:xfrm>
            <a:off x="182880" y="2926080"/>
            <a:ext cx="1554480" cy="228600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API</a:t>
            </a:r>
            <a:endParaRPr lang="en-US" sz="1800" dirty="0"/>
          </a:p>
          <a:p>
            <a:pPr algn="ctr" indent="0" marL="0">
              <a:buNone/>
            </a:pPr>
            <a:r>
              <a:rPr lang="en-US" sz="1800" dirty="0">
                <a:solidFill>
                  <a:srgbClr val="FFFFFF"/>
                </a:solidFill>
                <a:latin typeface="Inter" pitchFamily="34" charset="0"/>
                <a:ea typeface="Inter" pitchFamily="34" charset="-122"/>
                <a:cs typeface="Inter" pitchFamily="34" charset="-120"/>
              </a:rPr>
              <a:t>Gateway</a:t>
            </a:r>
            <a:endParaRPr lang="en-US" sz="1800" dirty="0"/>
          </a:p>
        </p:txBody>
      </p:sp>
      <p:sp>
        <p:nvSpPr>
          <p:cNvPr id="8" name="Shape 6"/>
          <p:cNvSpPr/>
          <p:nvPr/>
        </p:nvSpPr>
        <p:spPr>
          <a:xfrm>
            <a:off x="1892808" y="2011680"/>
            <a:ext cx="1554480" cy="4114800"/>
          </a:xfrm>
          <a:prstGeom prst="roundRect">
            <a:avLst>
              <a:gd name="adj" fmla="val 5882"/>
            </a:avLst>
          </a:prstGeom>
          <a:solidFill>
            <a:srgbClr val="1A1F4E">
              <a:alpha val="70000"/>
            </a:srgbClr>
          </a:solidFill>
          <a:ln w="19050">
            <a:solidFill>
              <a:srgbClr val="FF9900"/>
            </a:solidFill>
            <a:prstDash val="solid"/>
          </a:ln>
        </p:spPr>
      </p:sp>
      <p:sp>
        <p:nvSpPr>
          <p:cNvPr id="9" name="Text 7"/>
          <p:cNvSpPr/>
          <p:nvPr/>
        </p:nvSpPr>
        <p:spPr>
          <a:xfrm>
            <a:off x="1892808" y="2926080"/>
            <a:ext cx="1554480" cy="228600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Router</a:t>
            </a:r>
            <a:endParaRPr lang="en-US" sz="1800" dirty="0"/>
          </a:p>
          <a:p>
            <a:pPr algn="ctr" indent="0" marL="0">
              <a:buNone/>
            </a:pPr>
            <a:r>
              <a:rPr lang="en-US" sz="1800" dirty="0">
                <a:solidFill>
                  <a:srgbClr val="FFFFFF"/>
                </a:solidFill>
                <a:latin typeface="Inter" pitchFamily="34" charset="0"/>
                <a:ea typeface="Inter" pitchFamily="34" charset="-122"/>
                <a:cs typeface="Inter" pitchFamily="34" charset="-120"/>
              </a:rPr>
              <a:t>Lambda</a:t>
            </a:r>
            <a:endParaRPr lang="en-US" sz="1800" dirty="0"/>
          </a:p>
        </p:txBody>
      </p:sp>
      <p:sp>
        <p:nvSpPr>
          <p:cNvPr id="10" name="Shape 8"/>
          <p:cNvSpPr/>
          <p:nvPr/>
        </p:nvSpPr>
        <p:spPr>
          <a:xfrm>
            <a:off x="3602736" y="2011680"/>
            <a:ext cx="1554480" cy="4114800"/>
          </a:xfrm>
          <a:prstGeom prst="roundRect">
            <a:avLst>
              <a:gd name="adj" fmla="val 5882"/>
            </a:avLst>
          </a:prstGeom>
          <a:solidFill>
            <a:srgbClr val="1A1F4E">
              <a:alpha val="70000"/>
            </a:srgbClr>
          </a:solidFill>
          <a:ln w="19050">
            <a:solidFill>
              <a:srgbClr val="69F0AE"/>
            </a:solidFill>
            <a:prstDash val="solid"/>
          </a:ln>
        </p:spPr>
      </p:sp>
      <p:sp>
        <p:nvSpPr>
          <p:cNvPr id="11" name="Text 9"/>
          <p:cNvSpPr/>
          <p:nvPr/>
        </p:nvSpPr>
        <p:spPr>
          <a:xfrm>
            <a:off x="3602736" y="2926080"/>
            <a:ext cx="1554480" cy="228600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Dynamo</a:t>
            </a:r>
            <a:endParaRPr lang="en-US" sz="1800" dirty="0"/>
          </a:p>
          <a:p>
            <a:pPr algn="ctr" indent="0" marL="0">
              <a:buNone/>
            </a:pPr>
            <a:r>
              <a:rPr lang="en-US" sz="1800" dirty="0">
                <a:solidFill>
                  <a:srgbClr val="FFFFFF"/>
                </a:solidFill>
                <a:latin typeface="Inter" pitchFamily="34" charset="0"/>
                <a:ea typeface="Inter" pitchFamily="34" charset="-122"/>
                <a:cs typeface="Inter" pitchFamily="34" charset="-120"/>
              </a:rPr>
              <a:t>DB</a:t>
            </a:r>
            <a:endParaRPr lang="en-US" sz="1800" dirty="0"/>
          </a:p>
        </p:txBody>
      </p:sp>
      <p:sp>
        <p:nvSpPr>
          <p:cNvPr id="12" name="Shape 10"/>
          <p:cNvSpPr/>
          <p:nvPr/>
        </p:nvSpPr>
        <p:spPr>
          <a:xfrm>
            <a:off x="5312664" y="2011680"/>
            <a:ext cx="1554480" cy="4114800"/>
          </a:xfrm>
          <a:prstGeom prst="roundRect">
            <a:avLst>
              <a:gd name="adj" fmla="val 5882"/>
            </a:avLst>
          </a:prstGeom>
          <a:solidFill>
            <a:srgbClr val="1A1F4E">
              <a:alpha val="70000"/>
            </a:srgbClr>
          </a:solidFill>
          <a:ln w="19050">
            <a:solidFill>
              <a:srgbClr val="CE93D8"/>
            </a:solidFill>
            <a:prstDash val="solid"/>
          </a:ln>
        </p:spPr>
      </p:sp>
      <p:sp>
        <p:nvSpPr>
          <p:cNvPr id="13" name="Text 11"/>
          <p:cNvSpPr/>
          <p:nvPr/>
        </p:nvSpPr>
        <p:spPr>
          <a:xfrm>
            <a:off x="5312664" y="2926080"/>
            <a:ext cx="1554480" cy="228600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Agent</a:t>
            </a:r>
            <a:endParaRPr lang="en-US" sz="1800" dirty="0"/>
          </a:p>
          <a:p>
            <a:pPr algn="ctr" indent="0" marL="0">
              <a:buNone/>
            </a:pPr>
            <a:r>
              <a:rPr lang="en-US" sz="1800" dirty="0">
                <a:solidFill>
                  <a:srgbClr val="FFFFFF"/>
                </a:solidFill>
                <a:latin typeface="Inter" pitchFamily="34" charset="0"/>
                <a:ea typeface="Inter" pitchFamily="34" charset="-122"/>
                <a:cs typeface="Inter" pitchFamily="34" charset="-120"/>
              </a:rPr>
              <a:t>Core</a:t>
            </a:r>
            <a:endParaRPr lang="en-US" sz="1800" dirty="0"/>
          </a:p>
        </p:txBody>
      </p:sp>
      <p:sp>
        <p:nvSpPr>
          <p:cNvPr id="14" name="Shape 12"/>
          <p:cNvSpPr/>
          <p:nvPr/>
        </p:nvSpPr>
        <p:spPr>
          <a:xfrm>
            <a:off x="7022592" y="2011680"/>
            <a:ext cx="1554480" cy="4114800"/>
          </a:xfrm>
          <a:prstGeom prst="roundRect">
            <a:avLst>
              <a:gd name="adj" fmla="val 5882"/>
            </a:avLst>
          </a:prstGeom>
          <a:solidFill>
            <a:srgbClr val="1A1F4E">
              <a:alpha val="70000"/>
            </a:srgbClr>
          </a:solidFill>
          <a:ln w="19050">
            <a:solidFill>
              <a:srgbClr val="4FC3F7"/>
            </a:solidFill>
            <a:prstDash val="solid"/>
          </a:ln>
        </p:spPr>
      </p:sp>
      <p:sp>
        <p:nvSpPr>
          <p:cNvPr id="15" name="Text 13"/>
          <p:cNvSpPr/>
          <p:nvPr/>
        </p:nvSpPr>
        <p:spPr>
          <a:xfrm>
            <a:off x="7022592" y="2926080"/>
            <a:ext cx="1554480" cy="228600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Bedrock</a:t>
            </a:r>
            <a:endParaRPr lang="en-US" sz="1800" dirty="0"/>
          </a:p>
        </p:txBody>
      </p:sp>
      <p:sp>
        <p:nvSpPr>
          <p:cNvPr id="16" name="Shape 14"/>
          <p:cNvSpPr/>
          <p:nvPr/>
        </p:nvSpPr>
        <p:spPr>
          <a:xfrm>
            <a:off x="8732520" y="2011680"/>
            <a:ext cx="1554480" cy="4114800"/>
          </a:xfrm>
          <a:prstGeom prst="roundRect">
            <a:avLst>
              <a:gd name="adj" fmla="val 5882"/>
            </a:avLst>
          </a:prstGeom>
          <a:solidFill>
            <a:srgbClr val="1A1F4E">
              <a:alpha val="70000"/>
            </a:srgbClr>
          </a:solidFill>
          <a:ln w="19050">
            <a:solidFill>
              <a:srgbClr val="FF9900"/>
            </a:solidFill>
            <a:prstDash val="solid"/>
          </a:ln>
        </p:spPr>
      </p:sp>
      <p:sp>
        <p:nvSpPr>
          <p:cNvPr id="17" name="Text 15"/>
          <p:cNvSpPr/>
          <p:nvPr/>
        </p:nvSpPr>
        <p:spPr>
          <a:xfrm>
            <a:off x="8732520" y="2926080"/>
            <a:ext cx="1554480" cy="228600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S3</a:t>
            </a:r>
            <a:endParaRPr lang="en-US" sz="1800" dirty="0"/>
          </a:p>
          <a:p>
            <a:pPr algn="ctr" indent="0" marL="0">
              <a:buNone/>
            </a:pPr>
            <a:r>
              <a:rPr lang="en-US" sz="1800" dirty="0">
                <a:solidFill>
                  <a:srgbClr val="FFFFFF"/>
                </a:solidFill>
                <a:latin typeface="Inter" pitchFamily="34" charset="0"/>
                <a:ea typeface="Inter" pitchFamily="34" charset="-122"/>
                <a:cs typeface="Inter" pitchFamily="34" charset="-120"/>
              </a:rPr>
              <a:t>Persist</a:t>
            </a:r>
            <a:endParaRPr lang="en-US" sz="1800" dirty="0"/>
          </a:p>
        </p:txBody>
      </p:sp>
      <p:sp>
        <p:nvSpPr>
          <p:cNvPr id="18" name="Shape 16"/>
          <p:cNvSpPr/>
          <p:nvPr/>
        </p:nvSpPr>
        <p:spPr>
          <a:xfrm>
            <a:off x="10442448" y="2011680"/>
            <a:ext cx="1554480" cy="4114800"/>
          </a:xfrm>
          <a:prstGeom prst="roundRect">
            <a:avLst>
              <a:gd name="adj" fmla="val 5882"/>
            </a:avLst>
          </a:prstGeom>
          <a:solidFill>
            <a:srgbClr val="1A1F4E">
              <a:alpha val="70000"/>
            </a:srgbClr>
          </a:solidFill>
          <a:ln w="19050">
            <a:solidFill>
              <a:srgbClr val="69F0AE"/>
            </a:solidFill>
            <a:prstDash val="solid"/>
          </a:ln>
        </p:spPr>
      </p:sp>
      <p:sp>
        <p:nvSpPr>
          <p:cNvPr id="19" name="Text 17"/>
          <p:cNvSpPr/>
          <p:nvPr/>
        </p:nvSpPr>
        <p:spPr>
          <a:xfrm>
            <a:off x="10442448" y="2926080"/>
            <a:ext cx="1554480" cy="228600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Event</a:t>
            </a:r>
            <a:endParaRPr lang="en-US" sz="1800" dirty="0"/>
          </a:p>
          <a:p>
            <a:pPr algn="ctr" indent="0" marL="0">
              <a:buNone/>
            </a:pPr>
            <a:r>
              <a:rPr lang="en-US" sz="1800" dirty="0">
                <a:solidFill>
                  <a:srgbClr val="FFFFFF"/>
                </a:solidFill>
                <a:latin typeface="Inter" pitchFamily="34" charset="0"/>
                <a:ea typeface="Inter" pitchFamily="34" charset="-122"/>
                <a:cs typeface="Inter" pitchFamily="34" charset="-120"/>
              </a:rPr>
              <a:t>Bridge</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Text 2"/>
          <p:cNvSpPr/>
          <p:nvPr/>
        </p:nvSpPr>
        <p:spPr>
          <a:xfrm>
            <a:off x="365760" y="137160"/>
            <a:ext cx="9144000" cy="640080"/>
          </a:xfrm>
          <a:prstGeom prst="rect">
            <a:avLst/>
          </a:prstGeom>
          <a:noFill/>
          <a:ln/>
        </p:spPr>
        <p:txBody>
          <a:bodyPr wrap="square" rtlCol="0" anchor="ctr"/>
          <a:lstStyle/>
          <a:p>
            <a:pPr indent="0" marL="0">
              <a:buNone/>
            </a:pPr>
            <a:r>
              <a:rPr lang="en-US" sz="3200" b="1" dirty="0">
                <a:solidFill>
                  <a:srgbClr val="FFFFFF"/>
                </a:solidFill>
                <a:latin typeface="Montserrat" pitchFamily="34" charset="0"/>
                <a:ea typeface="Montserrat" pitchFamily="34" charset="-122"/>
                <a:cs typeface="Montserrat" pitchFamily="34" charset="-120"/>
              </a:rPr>
              <a:t>Architecture: OpenClaw on AgentCore</a:t>
            </a:r>
            <a:endParaRPr lang="en-US" sz="3200" dirty="0"/>
          </a:p>
        </p:txBody>
      </p:sp>
      <p:sp>
        <p:nvSpPr>
          <p:cNvPr id="5" name="Text 3"/>
          <p:cNvSpPr/>
          <p:nvPr/>
        </p:nvSpPr>
        <p:spPr>
          <a:xfrm>
            <a:off x="365760" y="685800"/>
            <a:ext cx="9144000" cy="365760"/>
          </a:xfrm>
          <a:prstGeom prst="rect">
            <a:avLst/>
          </a:prstGeom>
          <a:noFill/>
          <a:ln/>
        </p:spPr>
        <p:txBody>
          <a:bodyPr wrap="square" rtlCol="0" anchor="ctr"/>
          <a:lstStyle/>
          <a:p>
            <a:pPr indent="0" marL="0">
              <a:buNone/>
            </a:pPr>
            <a:r>
              <a:rPr lang="en-US" sz="1800" dirty="0">
                <a:solidFill>
                  <a:srgbClr val="90CAF9"/>
                </a:solidFill>
                <a:latin typeface="Inter" pitchFamily="34" charset="0"/>
                <a:ea typeface="Inter" pitchFamily="34" charset="-122"/>
                <a:cs typeface="Inter" pitchFamily="34" charset="-120"/>
              </a:rPr>
              <a:t>Production deployment with CDK</a:t>
            </a:r>
            <a:endParaRPr lang="en-US" sz="1800" dirty="0"/>
          </a:p>
        </p:txBody>
      </p:sp>
      <p:sp>
        <p:nvSpPr>
          <p:cNvPr id="6" name="Shape 4"/>
          <p:cNvSpPr/>
          <p:nvPr/>
        </p:nvSpPr>
        <p:spPr>
          <a:xfrm>
            <a:off x="274320" y="1371600"/>
            <a:ext cx="1554480" cy="1280160"/>
          </a:xfrm>
          <a:prstGeom prst="roundRect">
            <a:avLst>
              <a:gd name="adj" fmla="val 7143"/>
            </a:avLst>
          </a:prstGeom>
          <a:solidFill>
            <a:srgbClr val="1A1F4E">
              <a:alpha val="70000"/>
            </a:srgbClr>
          </a:solidFill>
          <a:ln w="19050">
            <a:solidFill>
              <a:srgbClr val="4FC3F7"/>
            </a:solidFill>
            <a:prstDash val="solid"/>
          </a:ln>
        </p:spPr>
      </p:sp>
      <p:sp>
        <p:nvSpPr>
          <p:cNvPr id="7" name="Text 5"/>
          <p:cNvSpPr/>
          <p:nvPr/>
        </p:nvSpPr>
        <p:spPr>
          <a:xfrm>
            <a:off x="274320" y="1554480"/>
            <a:ext cx="1554480" cy="640080"/>
          </a:xfrm>
          <a:prstGeom prst="rect">
            <a:avLst/>
          </a:prstGeom>
          <a:noFill/>
          <a:ln/>
        </p:spPr>
        <p:txBody>
          <a:bodyPr wrap="square" rtlCol="0" anchor="ctr"/>
          <a:lstStyle/>
          <a:p>
            <a:pPr algn="ctr" indent="0" marL="0">
              <a:buNone/>
            </a:pPr>
            <a:r>
              <a:rPr lang="en-US" sz="1800" b="1" dirty="0">
                <a:solidFill>
                  <a:srgbClr val="4FC3F7"/>
                </a:solidFill>
                <a:latin typeface="Inter" pitchFamily="34" charset="0"/>
                <a:ea typeface="Inter" pitchFamily="34" charset="-122"/>
                <a:cs typeface="Inter" pitchFamily="34" charset="-120"/>
              </a:rPr>
              <a:t>Telegram</a:t>
            </a:r>
            <a:endParaRPr lang="en-US" sz="1800" dirty="0"/>
          </a:p>
        </p:txBody>
      </p:sp>
      <p:sp>
        <p:nvSpPr>
          <p:cNvPr id="8" name="Text 6"/>
          <p:cNvSpPr/>
          <p:nvPr/>
        </p:nvSpPr>
        <p:spPr>
          <a:xfrm>
            <a:off x="274320" y="2103120"/>
            <a:ext cx="1554480" cy="457200"/>
          </a:xfrm>
          <a:prstGeom prst="rect">
            <a:avLst/>
          </a:prstGeom>
          <a:noFill/>
          <a:ln/>
        </p:spPr>
        <p:txBody>
          <a:bodyPr wrap="square" rtlCol="0" anchor="ctr"/>
          <a:lstStyle/>
          <a:p>
            <a:pPr algn="ctr" indent="0" marL="0">
              <a:buNone/>
            </a:pPr>
            <a:r>
              <a:rPr lang="en-US" sz="1400" dirty="0">
                <a:solidFill>
                  <a:srgbClr val="90CAF9"/>
                </a:solidFill>
                <a:latin typeface="Inter" pitchFamily="34" charset="0"/>
                <a:ea typeface="Inter" pitchFamily="34" charset="-122"/>
                <a:cs typeface="Inter" pitchFamily="34" charset="-120"/>
              </a:rPr>
              <a:t>User message</a:t>
            </a:r>
            <a:endParaRPr lang="en-US" sz="1400" dirty="0"/>
          </a:p>
        </p:txBody>
      </p:sp>
      <p:sp>
        <p:nvSpPr>
          <p:cNvPr id="9" name="Shape 7"/>
          <p:cNvSpPr/>
          <p:nvPr/>
        </p:nvSpPr>
        <p:spPr>
          <a:xfrm>
            <a:off x="2103120" y="1371600"/>
            <a:ext cx="1554480" cy="1280160"/>
          </a:xfrm>
          <a:prstGeom prst="roundRect">
            <a:avLst>
              <a:gd name="adj" fmla="val 7143"/>
            </a:avLst>
          </a:prstGeom>
          <a:solidFill>
            <a:srgbClr val="1A1F4E">
              <a:alpha val="70000"/>
            </a:srgbClr>
          </a:solidFill>
          <a:ln w="19050">
            <a:solidFill>
              <a:srgbClr val="FF9900"/>
            </a:solidFill>
            <a:prstDash val="solid"/>
          </a:ln>
        </p:spPr>
      </p:sp>
      <p:sp>
        <p:nvSpPr>
          <p:cNvPr id="10" name="Text 8"/>
          <p:cNvSpPr/>
          <p:nvPr/>
        </p:nvSpPr>
        <p:spPr>
          <a:xfrm>
            <a:off x="2103120" y="1554480"/>
            <a:ext cx="1554480" cy="640080"/>
          </a:xfrm>
          <a:prstGeom prst="rect">
            <a:avLst/>
          </a:prstGeom>
          <a:noFill/>
          <a:ln/>
        </p:spPr>
        <p:txBody>
          <a:bodyPr wrap="square" rtlCol="0" anchor="ctr"/>
          <a:lstStyle/>
          <a:p>
            <a:pPr algn="ctr" indent="0" marL="0">
              <a:buNone/>
            </a:pPr>
            <a:r>
              <a:rPr lang="en-US" sz="1800" b="1" dirty="0">
                <a:solidFill>
                  <a:srgbClr val="FF9900"/>
                </a:solidFill>
                <a:latin typeface="Inter" pitchFamily="34" charset="0"/>
                <a:ea typeface="Inter" pitchFamily="34" charset="-122"/>
                <a:cs typeface="Inter" pitchFamily="34" charset="-120"/>
              </a:rPr>
              <a:t>API Gateway</a:t>
            </a:r>
            <a:endParaRPr lang="en-US" sz="1800" dirty="0"/>
          </a:p>
        </p:txBody>
      </p:sp>
      <p:sp>
        <p:nvSpPr>
          <p:cNvPr id="11" name="Text 9"/>
          <p:cNvSpPr/>
          <p:nvPr/>
        </p:nvSpPr>
        <p:spPr>
          <a:xfrm>
            <a:off x="2103120" y="2103120"/>
            <a:ext cx="1554480" cy="457200"/>
          </a:xfrm>
          <a:prstGeom prst="rect">
            <a:avLst/>
          </a:prstGeom>
          <a:noFill/>
          <a:ln/>
        </p:spPr>
        <p:txBody>
          <a:bodyPr wrap="square" rtlCol="0" anchor="ctr"/>
          <a:lstStyle/>
          <a:p>
            <a:pPr algn="ctr" indent="0" marL="0">
              <a:buNone/>
            </a:pPr>
            <a:r>
              <a:rPr lang="en-US" sz="1400" dirty="0">
                <a:solidFill>
                  <a:srgbClr val="90CAF9"/>
                </a:solidFill>
                <a:latin typeface="Inter" pitchFamily="34" charset="0"/>
                <a:ea typeface="Inter" pitchFamily="34" charset="-122"/>
                <a:cs typeface="Inter" pitchFamily="34" charset="-120"/>
              </a:rPr>
              <a:t>HTTP API</a:t>
            </a:r>
            <a:endParaRPr lang="en-US" sz="1400" dirty="0"/>
          </a:p>
        </p:txBody>
      </p:sp>
      <p:sp>
        <p:nvSpPr>
          <p:cNvPr id="12" name="Shape 10"/>
          <p:cNvSpPr/>
          <p:nvPr/>
        </p:nvSpPr>
        <p:spPr>
          <a:xfrm>
            <a:off x="3931920" y="1371600"/>
            <a:ext cx="1554480" cy="1280160"/>
          </a:xfrm>
          <a:prstGeom prst="roundRect">
            <a:avLst>
              <a:gd name="adj" fmla="val 7143"/>
            </a:avLst>
          </a:prstGeom>
          <a:solidFill>
            <a:srgbClr val="1A1F4E">
              <a:alpha val="70000"/>
            </a:srgbClr>
          </a:solidFill>
          <a:ln w="19050">
            <a:solidFill>
              <a:srgbClr val="FF9900"/>
            </a:solidFill>
            <a:prstDash val="solid"/>
          </a:ln>
        </p:spPr>
      </p:sp>
      <p:sp>
        <p:nvSpPr>
          <p:cNvPr id="13" name="Text 11"/>
          <p:cNvSpPr/>
          <p:nvPr/>
        </p:nvSpPr>
        <p:spPr>
          <a:xfrm>
            <a:off x="3931920" y="1554480"/>
            <a:ext cx="1554480" cy="640080"/>
          </a:xfrm>
          <a:prstGeom prst="rect">
            <a:avLst/>
          </a:prstGeom>
          <a:noFill/>
          <a:ln/>
        </p:spPr>
        <p:txBody>
          <a:bodyPr wrap="square" rtlCol="0" anchor="ctr"/>
          <a:lstStyle/>
          <a:p>
            <a:pPr algn="ctr" indent="0" marL="0">
              <a:buNone/>
            </a:pPr>
            <a:r>
              <a:rPr lang="en-US" sz="1800" b="1" dirty="0">
                <a:solidFill>
                  <a:srgbClr val="FF9900"/>
                </a:solidFill>
                <a:latin typeface="Inter" pitchFamily="34" charset="0"/>
                <a:ea typeface="Inter" pitchFamily="34" charset="-122"/>
                <a:cs typeface="Inter" pitchFamily="34" charset="-120"/>
              </a:rPr>
              <a:t>Router</a:t>
            </a:r>
            <a:endParaRPr lang="en-US" sz="1800" dirty="0"/>
          </a:p>
        </p:txBody>
      </p:sp>
      <p:sp>
        <p:nvSpPr>
          <p:cNvPr id="14" name="Text 12"/>
          <p:cNvSpPr/>
          <p:nvPr/>
        </p:nvSpPr>
        <p:spPr>
          <a:xfrm>
            <a:off x="3931920" y="2103120"/>
            <a:ext cx="1554480" cy="457200"/>
          </a:xfrm>
          <a:prstGeom prst="rect">
            <a:avLst/>
          </a:prstGeom>
          <a:noFill/>
          <a:ln/>
        </p:spPr>
        <p:txBody>
          <a:bodyPr wrap="square" rtlCol="0" anchor="ctr"/>
          <a:lstStyle/>
          <a:p>
            <a:pPr algn="ctr" indent="0" marL="0">
              <a:buNone/>
            </a:pPr>
            <a:r>
              <a:rPr lang="en-US" sz="1400" dirty="0">
                <a:solidFill>
                  <a:srgbClr val="90CAF9"/>
                </a:solidFill>
                <a:latin typeface="Inter" pitchFamily="34" charset="0"/>
                <a:ea typeface="Inter" pitchFamily="34" charset="-122"/>
                <a:cs typeface="Inter" pitchFamily="34" charset="-120"/>
              </a:rPr>
              <a:t>Lambda</a:t>
            </a:r>
            <a:endParaRPr lang="en-US" sz="1400" dirty="0"/>
          </a:p>
        </p:txBody>
      </p:sp>
      <p:sp>
        <p:nvSpPr>
          <p:cNvPr id="15" name="Shape 13"/>
          <p:cNvSpPr/>
          <p:nvPr/>
        </p:nvSpPr>
        <p:spPr>
          <a:xfrm>
            <a:off x="5760720" y="1371600"/>
            <a:ext cx="1554480" cy="1280160"/>
          </a:xfrm>
          <a:prstGeom prst="roundRect">
            <a:avLst>
              <a:gd name="adj" fmla="val 7143"/>
            </a:avLst>
          </a:prstGeom>
          <a:solidFill>
            <a:srgbClr val="1A1F4E">
              <a:alpha val="70000"/>
            </a:srgbClr>
          </a:solidFill>
          <a:ln w="19050">
            <a:solidFill>
              <a:srgbClr val="4FC3F7"/>
            </a:solidFill>
            <a:prstDash val="solid"/>
          </a:ln>
        </p:spPr>
      </p:sp>
      <p:sp>
        <p:nvSpPr>
          <p:cNvPr id="16" name="Text 14"/>
          <p:cNvSpPr/>
          <p:nvPr/>
        </p:nvSpPr>
        <p:spPr>
          <a:xfrm>
            <a:off x="5760720" y="1554480"/>
            <a:ext cx="1554480" cy="640080"/>
          </a:xfrm>
          <a:prstGeom prst="rect">
            <a:avLst/>
          </a:prstGeom>
          <a:noFill/>
          <a:ln/>
        </p:spPr>
        <p:txBody>
          <a:bodyPr wrap="square" rtlCol="0" anchor="ctr"/>
          <a:lstStyle/>
          <a:p>
            <a:pPr algn="ctr" indent="0" marL="0">
              <a:buNone/>
            </a:pPr>
            <a:r>
              <a:rPr lang="en-US" sz="1800" b="1" dirty="0">
                <a:solidFill>
                  <a:srgbClr val="4FC3F7"/>
                </a:solidFill>
                <a:latin typeface="Inter" pitchFamily="34" charset="0"/>
                <a:ea typeface="Inter" pitchFamily="34" charset="-122"/>
                <a:cs typeface="Inter" pitchFamily="34" charset="-120"/>
              </a:rPr>
              <a:t>DynamoDB</a:t>
            </a:r>
            <a:endParaRPr lang="en-US" sz="1800" dirty="0"/>
          </a:p>
        </p:txBody>
      </p:sp>
      <p:sp>
        <p:nvSpPr>
          <p:cNvPr id="17" name="Text 15"/>
          <p:cNvSpPr/>
          <p:nvPr/>
        </p:nvSpPr>
        <p:spPr>
          <a:xfrm>
            <a:off x="5760720" y="2103120"/>
            <a:ext cx="1554480" cy="457200"/>
          </a:xfrm>
          <a:prstGeom prst="rect">
            <a:avLst/>
          </a:prstGeom>
          <a:noFill/>
          <a:ln/>
        </p:spPr>
        <p:txBody>
          <a:bodyPr wrap="square" rtlCol="0" anchor="ctr"/>
          <a:lstStyle/>
          <a:p>
            <a:pPr algn="ctr" indent="0" marL="0">
              <a:buNone/>
            </a:pPr>
            <a:r>
              <a:rPr lang="en-US" sz="1400" dirty="0">
                <a:solidFill>
                  <a:srgbClr val="90CAF9"/>
                </a:solidFill>
                <a:latin typeface="Inter" pitchFamily="34" charset="0"/>
                <a:ea typeface="Inter" pitchFamily="34" charset="-122"/>
                <a:cs typeface="Inter" pitchFamily="34" charset="-120"/>
              </a:rPr>
              <a:t>Identity</a:t>
            </a:r>
            <a:endParaRPr lang="en-US" sz="1400" dirty="0"/>
          </a:p>
        </p:txBody>
      </p:sp>
      <p:sp>
        <p:nvSpPr>
          <p:cNvPr id="18" name="Shape 16"/>
          <p:cNvSpPr/>
          <p:nvPr/>
        </p:nvSpPr>
        <p:spPr>
          <a:xfrm>
            <a:off x="7589520" y="1371600"/>
            <a:ext cx="2194560" cy="1280160"/>
          </a:xfrm>
          <a:prstGeom prst="roundRect">
            <a:avLst>
              <a:gd name="adj" fmla="val 7143"/>
            </a:avLst>
          </a:prstGeom>
          <a:solidFill>
            <a:srgbClr val="1A1F4E">
              <a:alpha val="70000"/>
            </a:srgbClr>
          </a:solidFill>
          <a:ln w="19050">
            <a:solidFill>
              <a:srgbClr val="69F0AE"/>
            </a:solidFill>
            <a:prstDash val="solid"/>
          </a:ln>
        </p:spPr>
      </p:sp>
      <p:sp>
        <p:nvSpPr>
          <p:cNvPr id="19" name="Text 17"/>
          <p:cNvSpPr/>
          <p:nvPr/>
        </p:nvSpPr>
        <p:spPr>
          <a:xfrm>
            <a:off x="7589520" y="1554480"/>
            <a:ext cx="2194560" cy="640080"/>
          </a:xfrm>
          <a:prstGeom prst="rect">
            <a:avLst/>
          </a:prstGeom>
          <a:noFill/>
          <a:ln/>
        </p:spPr>
        <p:txBody>
          <a:bodyPr wrap="square" rtlCol="0" anchor="ctr"/>
          <a:lstStyle/>
          <a:p>
            <a:pPr algn="ctr" indent="0" marL="0">
              <a:buNone/>
            </a:pPr>
            <a:r>
              <a:rPr lang="en-US" sz="1800" b="1" dirty="0">
                <a:solidFill>
                  <a:srgbClr val="69F0AE"/>
                </a:solidFill>
                <a:latin typeface="Inter" pitchFamily="34" charset="0"/>
                <a:ea typeface="Inter" pitchFamily="34" charset="-122"/>
                <a:cs typeface="Inter" pitchFamily="34" charset="-120"/>
              </a:rPr>
              <a:t>AgentCore</a:t>
            </a:r>
            <a:endParaRPr lang="en-US" sz="1800" dirty="0"/>
          </a:p>
        </p:txBody>
      </p:sp>
      <p:sp>
        <p:nvSpPr>
          <p:cNvPr id="20" name="Text 18"/>
          <p:cNvSpPr/>
          <p:nvPr/>
        </p:nvSpPr>
        <p:spPr>
          <a:xfrm>
            <a:off x="7589520" y="2103120"/>
            <a:ext cx="2194560" cy="457200"/>
          </a:xfrm>
          <a:prstGeom prst="rect">
            <a:avLst/>
          </a:prstGeom>
          <a:noFill/>
          <a:ln/>
        </p:spPr>
        <p:txBody>
          <a:bodyPr wrap="square" rtlCol="0" anchor="ctr"/>
          <a:lstStyle/>
          <a:p>
            <a:pPr algn="ctr" indent="0" marL="0">
              <a:buNone/>
            </a:pPr>
            <a:r>
              <a:rPr lang="en-US" sz="1400" dirty="0">
                <a:solidFill>
                  <a:srgbClr val="90CAF9"/>
                </a:solidFill>
                <a:latin typeface="Inter" pitchFamily="34" charset="0"/>
                <a:ea typeface="Inter" pitchFamily="34" charset="-122"/>
                <a:cs typeface="Inter" pitchFamily="34" charset="-120"/>
              </a:rPr>
              <a:t>Firecracker VM</a:t>
            </a:r>
            <a:endParaRPr lang="en-US" sz="1400" dirty="0"/>
          </a:p>
        </p:txBody>
      </p:sp>
      <p:sp>
        <p:nvSpPr>
          <p:cNvPr id="21" name="Shape 19"/>
          <p:cNvSpPr/>
          <p:nvPr/>
        </p:nvSpPr>
        <p:spPr>
          <a:xfrm>
            <a:off x="10058400" y="1371600"/>
            <a:ext cx="1737360" cy="1280160"/>
          </a:xfrm>
          <a:prstGeom prst="roundRect">
            <a:avLst>
              <a:gd name="adj" fmla="val 7143"/>
            </a:avLst>
          </a:prstGeom>
          <a:solidFill>
            <a:srgbClr val="1A1F4E">
              <a:alpha val="70000"/>
            </a:srgbClr>
          </a:solidFill>
          <a:ln w="19050">
            <a:solidFill>
              <a:srgbClr val="CE93D8"/>
            </a:solidFill>
            <a:prstDash val="solid"/>
          </a:ln>
        </p:spPr>
      </p:sp>
      <p:sp>
        <p:nvSpPr>
          <p:cNvPr id="22" name="Text 20"/>
          <p:cNvSpPr/>
          <p:nvPr/>
        </p:nvSpPr>
        <p:spPr>
          <a:xfrm>
            <a:off x="10058400" y="1554480"/>
            <a:ext cx="1737360" cy="640080"/>
          </a:xfrm>
          <a:prstGeom prst="rect">
            <a:avLst/>
          </a:prstGeom>
          <a:noFill/>
          <a:ln/>
        </p:spPr>
        <p:txBody>
          <a:bodyPr wrap="square" rtlCol="0" anchor="ctr"/>
          <a:lstStyle/>
          <a:p>
            <a:pPr algn="ctr" indent="0" marL="0">
              <a:buNone/>
            </a:pPr>
            <a:r>
              <a:rPr lang="en-US" sz="1800" b="1" dirty="0">
                <a:solidFill>
                  <a:srgbClr val="CE93D8"/>
                </a:solidFill>
                <a:latin typeface="Inter" pitchFamily="34" charset="0"/>
                <a:ea typeface="Inter" pitchFamily="34" charset="-122"/>
                <a:cs typeface="Inter" pitchFamily="34" charset="-120"/>
              </a:rPr>
              <a:t>Bedrock</a:t>
            </a:r>
            <a:endParaRPr lang="en-US" sz="1800" dirty="0"/>
          </a:p>
        </p:txBody>
      </p:sp>
      <p:sp>
        <p:nvSpPr>
          <p:cNvPr id="23" name="Text 21"/>
          <p:cNvSpPr/>
          <p:nvPr/>
        </p:nvSpPr>
        <p:spPr>
          <a:xfrm>
            <a:off x="10058400" y="2103120"/>
            <a:ext cx="1737360" cy="457200"/>
          </a:xfrm>
          <a:prstGeom prst="rect">
            <a:avLst/>
          </a:prstGeom>
          <a:noFill/>
          <a:ln/>
        </p:spPr>
        <p:txBody>
          <a:bodyPr wrap="square" rtlCol="0" anchor="ctr"/>
          <a:lstStyle/>
          <a:p>
            <a:pPr algn="ctr" indent="0" marL="0">
              <a:buNone/>
            </a:pPr>
            <a:r>
              <a:rPr lang="en-US" sz="1400" dirty="0">
                <a:solidFill>
                  <a:srgbClr val="90CAF9"/>
                </a:solidFill>
                <a:latin typeface="Inter" pitchFamily="34" charset="0"/>
                <a:ea typeface="Inter" pitchFamily="34" charset="-122"/>
                <a:cs typeface="Inter" pitchFamily="34" charset="-120"/>
              </a:rPr>
              <a:t>Claude + Guards</a:t>
            </a:r>
            <a:endParaRPr lang="en-US" sz="1400" dirty="0"/>
          </a:p>
        </p:txBody>
      </p:sp>
      <p:sp>
        <p:nvSpPr>
          <p:cNvPr id="24" name="Shape 22"/>
          <p:cNvSpPr/>
          <p:nvPr/>
        </p:nvSpPr>
        <p:spPr>
          <a:xfrm>
            <a:off x="1828800" y="1965960"/>
            <a:ext cx="274320" cy="0"/>
          </a:xfrm>
          <a:prstGeom prst="line">
            <a:avLst/>
          </a:prstGeom>
          <a:noFill/>
          <a:ln w="25400">
            <a:solidFill>
              <a:srgbClr val="90CAF9"/>
            </a:solidFill>
            <a:prstDash val="solid"/>
          </a:ln>
        </p:spPr>
      </p:sp>
      <p:sp>
        <p:nvSpPr>
          <p:cNvPr id="25" name="Shape 23"/>
          <p:cNvSpPr/>
          <p:nvPr/>
        </p:nvSpPr>
        <p:spPr>
          <a:xfrm>
            <a:off x="3657600" y="1965960"/>
            <a:ext cx="274320" cy="0"/>
          </a:xfrm>
          <a:prstGeom prst="line">
            <a:avLst/>
          </a:prstGeom>
          <a:noFill/>
          <a:ln w="25400">
            <a:solidFill>
              <a:srgbClr val="90CAF9"/>
            </a:solidFill>
            <a:prstDash val="solid"/>
          </a:ln>
        </p:spPr>
      </p:sp>
      <p:sp>
        <p:nvSpPr>
          <p:cNvPr id="26" name="Shape 24"/>
          <p:cNvSpPr/>
          <p:nvPr/>
        </p:nvSpPr>
        <p:spPr>
          <a:xfrm>
            <a:off x="5486400" y="1965960"/>
            <a:ext cx="274320" cy="0"/>
          </a:xfrm>
          <a:prstGeom prst="line">
            <a:avLst/>
          </a:prstGeom>
          <a:noFill/>
          <a:ln w="25400">
            <a:solidFill>
              <a:srgbClr val="90CAF9"/>
            </a:solidFill>
            <a:prstDash val="solid"/>
          </a:ln>
        </p:spPr>
      </p:sp>
      <p:sp>
        <p:nvSpPr>
          <p:cNvPr id="27" name="Shape 25"/>
          <p:cNvSpPr/>
          <p:nvPr/>
        </p:nvSpPr>
        <p:spPr>
          <a:xfrm>
            <a:off x="7315200" y="1965960"/>
            <a:ext cx="274320" cy="0"/>
          </a:xfrm>
          <a:prstGeom prst="line">
            <a:avLst/>
          </a:prstGeom>
          <a:noFill/>
          <a:ln w="25400">
            <a:solidFill>
              <a:srgbClr val="90CAF9"/>
            </a:solidFill>
            <a:prstDash val="solid"/>
          </a:ln>
        </p:spPr>
      </p:sp>
      <p:sp>
        <p:nvSpPr>
          <p:cNvPr id="28" name="Shape 26"/>
          <p:cNvSpPr/>
          <p:nvPr/>
        </p:nvSpPr>
        <p:spPr>
          <a:xfrm>
            <a:off x="9784080" y="1965960"/>
            <a:ext cx="274320" cy="0"/>
          </a:xfrm>
          <a:prstGeom prst="line">
            <a:avLst/>
          </a:prstGeom>
          <a:noFill/>
          <a:ln w="25400">
            <a:solidFill>
              <a:srgbClr val="90CAF9"/>
            </a:solidFill>
            <a:prstDash val="solid"/>
          </a:ln>
        </p:spPr>
      </p:sp>
      <p:sp>
        <p:nvSpPr>
          <p:cNvPr id="29" name="Shape 27"/>
          <p:cNvSpPr/>
          <p:nvPr/>
        </p:nvSpPr>
        <p:spPr>
          <a:xfrm>
            <a:off x="274320" y="3108960"/>
            <a:ext cx="1828800" cy="1097280"/>
          </a:xfrm>
          <a:prstGeom prst="roundRect">
            <a:avLst>
              <a:gd name="adj" fmla="val 8333"/>
            </a:avLst>
          </a:prstGeom>
          <a:solidFill>
            <a:srgbClr val="1A1F4E">
              <a:alpha val="70000"/>
            </a:srgbClr>
          </a:solidFill>
          <a:ln w="19050">
            <a:solidFill>
              <a:srgbClr val="69F0AE"/>
            </a:solidFill>
            <a:prstDash val="solid"/>
          </a:ln>
        </p:spPr>
      </p:sp>
      <p:sp>
        <p:nvSpPr>
          <p:cNvPr id="30" name="Text 28"/>
          <p:cNvSpPr/>
          <p:nvPr/>
        </p:nvSpPr>
        <p:spPr>
          <a:xfrm>
            <a:off x="274320" y="3246120"/>
            <a:ext cx="1828800" cy="548640"/>
          </a:xfrm>
          <a:prstGeom prst="rect">
            <a:avLst/>
          </a:prstGeom>
          <a:noFill/>
          <a:ln/>
        </p:spPr>
        <p:txBody>
          <a:bodyPr wrap="square" rtlCol="0" anchor="ctr"/>
          <a:lstStyle/>
          <a:p>
            <a:pPr algn="ctr" indent="0" marL="0">
              <a:buNone/>
            </a:pPr>
            <a:r>
              <a:rPr lang="en-US" sz="1400" b="1" dirty="0">
                <a:solidFill>
                  <a:srgbClr val="69F0AE"/>
                </a:solidFill>
                <a:latin typeface="Inter" pitchFamily="34" charset="0"/>
                <a:ea typeface="Inter" pitchFamily="34" charset="-122"/>
                <a:cs typeface="Inter" pitchFamily="34" charset="-120"/>
              </a:rPr>
              <a:t>S3 Bucket</a:t>
            </a:r>
            <a:endParaRPr lang="en-US" sz="1400" dirty="0"/>
          </a:p>
        </p:txBody>
      </p:sp>
      <p:sp>
        <p:nvSpPr>
          <p:cNvPr id="31" name="Text 29"/>
          <p:cNvSpPr/>
          <p:nvPr/>
        </p:nvSpPr>
        <p:spPr>
          <a:xfrm>
            <a:off x="274320" y="3749040"/>
            <a:ext cx="1828800" cy="365760"/>
          </a:xfrm>
          <a:prstGeom prst="rect">
            <a:avLst/>
          </a:prstGeom>
          <a:noFill/>
          <a:ln/>
        </p:spPr>
        <p:txBody>
          <a:bodyPr wrap="square" rtlCol="0" anchor="ctr"/>
          <a:lstStyle/>
          <a:p>
            <a:pPr algn="ctr" indent="0" marL="0">
              <a:buNone/>
            </a:pPr>
            <a:r>
              <a:rPr lang="en-US" sz="1200" dirty="0">
                <a:solidFill>
                  <a:srgbClr val="90CAF9"/>
                </a:solidFill>
                <a:latin typeface="Inter" pitchFamily="34" charset="0"/>
                <a:ea typeface="Inter" pitchFamily="34" charset="-122"/>
                <a:cs typeface="Inter" pitchFamily="34" charset="-120"/>
              </a:rPr>
              <a:t>Files + workspace</a:t>
            </a:r>
            <a:endParaRPr lang="en-US" sz="1200" dirty="0"/>
          </a:p>
        </p:txBody>
      </p:sp>
      <p:sp>
        <p:nvSpPr>
          <p:cNvPr id="32" name="Shape 30"/>
          <p:cNvSpPr/>
          <p:nvPr/>
        </p:nvSpPr>
        <p:spPr>
          <a:xfrm>
            <a:off x="2377440" y="3108960"/>
            <a:ext cx="1828800" cy="1097280"/>
          </a:xfrm>
          <a:prstGeom prst="roundRect">
            <a:avLst>
              <a:gd name="adj" fmla="val 8333"/>
            </a:avLst>
          </a:prstGeom>
          <a:solidFill>
            <a:srgbClr val="1A1F4E">
              <a:alpha val="70000"/>
            </a:srgbClr>
          </a:solidFill>
          <a:ln w="19050">
            <a:solidFill>
              <a:srgbClr val="FF9900"/>
            </a:solidFill>
            <a:prstDash val="solid"/>
          </a:ln>
        </p:spPr>
      </p:sp>
      <p:sp>
        <p:nvSpPr>
          <p:cNvPr id="33" name="Text 31"/>
          <p:cNvSpPr/>
          <p:nvPr/>
        </p:nvSpPr>
        <p:spPr>
          <a:xfrm>
            <a:off x="2377440" y="3246120"/>
            <a:ext cx="1828800" cy="548640"/>
          </a:xfrm>
          <a:prstGeom prst="rect">
            <a:avLst/>
          </a:prstGeom>
          <a:noFill/>
          <a:ln/>
        </p:spPr>
        <p:txBody>
          <a:bodyPr wrap="square" rtlCol="0" anchor="ctr"/>
          <a:lstStyle/>
          <a:p>
            <a:pPr algn="ctr" indent="0" marL="0">
              <a:buNone/>
            </a:pPr>
            <a:r>
              <a:rPr lang="en-US" sz="1400" b="1" dirty="0">
                <a:solidFill>
                  <a:srgbClr val="FF9900"/>
                </a:solidFill>
                <a:latin typeface="Inter" pitchFamily="34" charset="0"/>
                <a:ea typeface="Inter" pitchFamily="34" charset="-122"/>
                <a:cs typeface="Inter" pitchFamily="34" charset="-120"/>
              </a:rPr>
              <a:t>STS</a:t>
            </a:r>
            <a:endParaRPr lang="en-US" sz="1400" dirty="0"/>
          </a:p>
        </p:txBody>
      </p:sp>
      <p:sp>
        <p:nvSpPr>
          <p:cNvPr id="34" name="Text 32"/>
          <p:cNvSpPr/>
          <p:nvPr/>
        </p:nvSpPr>
        <p:spPr>
          <a:xfrm>
            <a:off x="2377440" y="3749040"/>
            <a:ext cx="1828800" cy="365760"/>
          </a:xfrm>
          <a:prstGeom prst="rect">
            <a:avLst/>
          </a:prstGeom>
          <a:noFill/>
          <a:ln/>
        </p:spPr>
        <p:txBody>
          <a:bodyPr wrap="square" rtlCol="0" anchor="ctr"/>
          <a:lstStyle/>
          <a:p>
            <a:pPr algn="ctr" indent="0" marL="0">
              <a:buNone/>
            </a:pPr>
            <a:r>
              <a:rPr lang="en-US" sz="1200" dirty="0">
                <a:solidFill>
                  <a:srgbClr val="90CAF9"/>
                </a:solidFill>
                <a:latin typeface="Inter" pitchFamily="34" charset="0"/>
                <a:ea typeface="Inter" pitchFamily="34" charset="-122"/>
                <a:cs typeface="Inter" pitchFamily="34" charset="-120"/>
              </a:rPr>
              <a:t>Per-user creds</a:t>
            </a:r>
            <a:endParaRPr lang="en-US" sz="1200" dirty="0"/>
          </a:p>
        </p:txBody>
      </p:sp>
      <p:sp>
        <p:nvSpPr>
          <p:cNvPr id="35" name="Shape 33"/>
          <p:cNvSpPr/>
          <p:nvPr/>
        </p:nvSpPr>
        <p:spPr>
          <a:xfrm>
            <a:off x="4572000" y="3108960"/>
            <a:ext cx="1828800" cy="1097280"/>
          </a:xfrm>
          <a:prstGeom prst="roundRect">
            <a:avLst>
              <a:gd name="adj" fmla="val 8333"/>
            </a:avLst>
          </a:prstGeom>
          <a:solidFill>
            <a:srgbClr val="1A1F4E">
              <a:alpha val="70000"/>
            </a:srgbClr>
          </a:solidFill>
          <a:ln w="19050">
            <a:solidFill>
              <a:srgbClr val="F44336"/>
            </a:solidFill>
            <a:prstDash val="solid"/>
          </a:ln>
        </p:spPr>
      </p:sp>
      <p:sp>
        <p:nvSpPr>
          <p:cNvPr id="36" name="Text 34"/>
          <p:cNvSpPr/>
          <p:nvPr/>
        </p:nvSpPr>
        <p:spPr>
          <a:xfrm>
            <a:off x="4572000" y="3246120"/>
            <a:ext cx="1828800" cy="548640"/>
          </a:xfrm>
          <a:prstGeom prst="rect">
            <a:avLst/>
          </a:prstGeom>
          <a:noFill/>
          <a:ln/>
        </p:spPr>
        <p:txBody>
          <a:bodyPr wrap="square" rtlCol="0" anchor="ctr"/>
          <a:lstStyle/>
          <a:p>
            <a:pPr algn="ctr" indent="0" marL="0">
              <a:buNone/>
            </a:pPr>
            <a:r>
              <a:rPr lang="en-US" sz="1400" b="1" dirty="0">
                <a:solidFill>
                  <a:srgbClr val="F44336"/>
                </a:solidFill>
                <a:latin typeface="Inter" pitchFamily="34" charset="0"/>
                <a:ea typeface="Inter" pitchFamily="34" charset="-122"/>
                <a:cs typeface="Inter" pitchFamily="34" charset="-120"/>
              </a:rPr>
              <a:t>Secrets Mgr</a:t>
            </a:r>
            <a:endParaRPr lang="en-US" sz="1400" dirty="0"/>
          </a:p>
        </p:txBody>
      </p:sp>
      <p:sp>
        <p:nvSpPr>
          <p:cNvPr id="37" name="Text 35"/>
          <p:cNvSpPr/>
          <p:nvPr/>
        </p:nvSpPr>
        <p:spPr>
          <a:xfrm>
            <a:off x="4572000" y="3749040"/>
            <a:ext cx="1828800" cy="365760"/>
          </a:xfrm>
          <a:prstGeom prst="rect">
            <a:avLst/>
          </a:prstGeom>
          <a:noFill/>
          <a:ln/>
        </p:spPr>
        <p:txBody>
          <a:bodyPr wrap="square" rtlCol="0" anchor="ctr"/>
          <a:lstStyle/>
          <a:p>
            <a:pPr algn="ctr" indent="0" marL="0">
              <a:buNone/>
            </a:pPr>
            <a:r>
              <a:rPr lang="en-US" sz="1200" dirty="0">
                <a:solidFill>
                  <a:srgbClr val="90CAF9"/>
                </a:solidFill>
                <a:latin typeface="Inter" pitchFamily="34" charset="0"/>
                <a:ea typeface="Inter" pitchFamily="34" charset="-122"/>
                <a:cs typeface="Inter" pitchFamily="34" charset="-120"/>
              </a:rPr>
              <a:t>API keys</a:t>
            </a:r>
            <a:endParaRPr lang="en-US" sz="1200" dirty="0"/>
          </a:p>
        </p:txBody>
      </p:sp>
      <p:sp>
        <p:nvSpPr>
          <p:cNvPr id="38" name="Shape 36"/>
          <p:cNvSpPr/>
          <p:nvPr/>
        </p:nvSpPr>
        <p:spPr>
          <a:xfrm>
            <a:off x="6675120" y="3108960"/>
            <a:ext cx="1828800" cy="1097280"/>
          </a:xfrm>
          <a:prstGeom prst="roundRect">
            <a:avLst>
              <a:gd name="adj" fmla="val 8333"/>
            </a:avLst>
          </a:prstGeom>
          <a:solidFill>
            <a:srgbClr val="1A1F4E">
              <a:alpha val="70000"/>
            </a:srgbClr>
          </a:solidFill>
          <a:ln w="19050">
            <a:solidFill>
              <a:srgbClr val="4FC3F7"/>
            </a:solidFill>
            <a:prstDash val="solid"/>
          </a:ln>
        </p:spPr>
      </p:sp>
      <p:sp>
        <p:nvSpPr>
          <p:cNvPr id="39" name="Text 37"/>
          <p:cNvSpPr/>
          <p:nvPr/>
        </p:nvSpPr>
        <p:spPr>
          <a:xfrm>
            <a:off x="6675120" y="3246120"/>
            <a:ext cx="1828800" cy="548640"/>
          </a:xfrm>
          <a:prstGeom prst="rect">
            <a:avLst/>
          </a:prstGeom>
          <a:noFill/>
          <a:ln/>
        </p:spPr>
        <p:txBody>
          <a:bodyPr wrap="square" rtlCol="0" anchor="ctr"/>
          <a:lstStyle/>
          <a:p>
            <a:pPr algn="ctr" indent="0" marL="0">
              <a:buNone/>
            </a:pPr>
            <a:r>
              <a:rPr lang="en-US" sz="1400" b="1" dirty="0">
                <a:solidFill>
                  <a:srgbClr val="4FC3F7"/>
                </a:solidFill>
                <a:latin typeface="Inter" pitchFamily="34" charset="0"/>
                <a:ea typeface="Inter" pitchFamily="34" charset="-122"/>
                <a:cs typeface="Inter" pitchFamily="34" charset="-120"/>
              </a:rPr>
              <a:t>CloudWatch</a:t>
            </a:r>
            <a:endParaRPr lang="en-US" sz="1400" dirty="0"/>
          </a:p>
        </p:txBody>
      </p:sp>
      <p:sp>
        <p:nvSpPr>
          <p:cNvPr id="40" name="Text 38"/>
          <p:cNvSpPr/>
          <p:nvPr/>
        </p:nvSpPr>
        <p:spPr>
          <a:xfrm>
            <a:off x="6675120" y="3749040"/>
            <a:ext cx="1828800" cy="365760"/>
          </a:xfrm>
          <a:prstGeom prst="rect">
            <a:avLst/>
          </a:prstGeom>
          <a:noFill/>
          <a:ln/>
        </p:spPr>
        <p:txBody>
          <a:bodyPr wrap="square" rtlCol="0" anchor="ctr"/>
          <a:lstStyle/>
          <a:p>
            <a:pPr algn="ctr" indent="0" marL="0">
              <a:buNone/>
            </a:pPr>
            <a:r>
              <a:rPr lang="en-US" sz="1200" dirty="0">
                <a:solidFill>
                  <a:srgbClr val="90CAF9"/>
                </a:solidFill>
                <a:latin typeface="Inter" pitchFamily="34" charset="0"/>
                <a:ea typeface="Inter" pitchFamily="34" charset="-122"/>
                <a:cs typeface="Inter" pitchFamily="34" charset="-120"/>
              </a:rPr>
              <a:t>Logs + metrics</a:t>
            </a:r>
            <a:endParaRPr lang="en-US" sz="1200" dirty="0"/>
          </a:p>
        </p:txBody>
      </p:sp>
      <p:sp>
        <p:nvSpPr>
          <p:cNvPr id="41" name="Shape 39"/>
          <p:cNvSpPr/>
          <p:nvPr/>
        </p:nvSpPr>
        <p:spPr>
          <a:xfrm>
            <a:off x="8778240" y="3108960"/>
            <a:ext cx="1828800" cy="1097280"/>
          </a:xfrm>
          <a:prstGeom prst="roundRect">
            <a:avLst>
              <a:gd name="adj" fmla="val 8333"/>
            </a:avLst>
          </a:prstGeom>
          <a:solidFill>
            <a:srgbClr val="1A1F4E">
              <a:alpha val="70000"/>
            </a:srgbClr>
          </a:solidFill>
          <a:ln w="19050">
            <a:solidFill>
              <a:srgbClr val="CE93D8"/>
            </a:solidFill>
            <a:prstDash val="solid"/>
          </a:ln>
        </p:spPr>
      </p:sp>
      <p:sp>
        <p:nvSpPr>
          <p:cNvPr id="42" name="Text 40"/>
          <p:cNvSpPr/>
          <p:nvPr/>
        </p:nvSpPr>
        <p:spPr>
          <a:xfrm>
            <a:off x="8778240" y="3246120"/>
            <a:ext cx="1828800" cy="548640"/>
          </a:xfrm>
          <a:prstGeom prst="rect">
            <a:avLst/>
          </a:prstGeom>
          <a:noFill/>
          <a:ln/>
        </p:spPr>
        <p:txBody>
          <a:bodyPr wrap="square" rtlCol="0" anchor="ctr"/>
          <a:lstStyle/>
          <a:p>
            <a:pPr algn="ctr" indent="0" marL="0">
              <a:buNone/>
            </a:pPr>
            <a:r>
              <a:rPr lang="en-US" sz="1400" b="1" dirty="0">
                <a:solidFill>
                  <a:srgbClr val="CE93D8"/>
                </a:solidFill>
                <a:latin typeface="Inter" pitchFamily="34" charset="0"/>
                <a:ea typeface="Inter" pitchFamily="34" charset="-122"/>
                <a:cs typeface="Inter" pitchFamily="34" charset="-120"/>
              </a:rPr>
              <a:t>EventBridge</a:t>
            </a:r>
            <a:endParaRPr lang="en-US" sz="1400" dirty="0"/>
          </a:p>
        </p:txBody>
      </p:sp>
      <p:sp>
        <p:nvSpPr>
          <p:cNvPr id="43" name="Text 41"/>
          <p:cNvSpPr/>
          <p:nvPr/>
        </p:nvSpPr>
        <p:spPr>
          <a:xfrm>
            <a:off x="8778240" y="3749040"/>
            <a:ext cx="1828800" cy="365760"/>
          </a:xfrm>
          <a:prstGeom prst="rect">
            <a:avLst/>
          </a:prstGeom>
          <a:noFill/>
          <a:ln/>
        </p:spPr>
        <p:txBody>
          <a:bodyPr wrap="square" rtlCol="0" anchor="ctr"/>
          <a:lstStyle/>
          <a:p>
            <a:pPr algn="ctr" indent="0" marL="0">
              <a:buNone/>
            </a:pPr>
            <a:r>
              <a:rPr lang="en-US" sz="1200" dirty="0">
                <a:solidFill>
                  <a:srgbClr val="90CAF9"/>
                </a:solidFill>
                <a:latin typeface="Inter" pitchFamily="34" charset="0"/>
                <a:ea typeface="Inter" pitchFamily="34" charset="-122"/>
                <a:cs typeface="Inter" pitchFamily="34" charset="-120"/>
              </a:rPr>
              <a:t>Cron scheduler</a:t>
            </a:r>
            <a:endParaRPr lang="en-US" sz="1200" dirty="0"/>
          </a:p>
        </p:txBody>
      </p:sp>
      <p:sp>
        <p:nvSpPr>
          <p:cNvPr id="44" name="Shape 42"/>
          <p:cNvSpPr/>
          <p:nvPr/>
        </p:nvSpPr>
        <p:spPr>
          <a:xfrm>
            <a:off x="8686800" y="2651760"/>
            <a:ext cx="0" cy="457200"/>
          </a:xfrm>
          <a:prstGeom prst="line">
            <a:avLst/>
          </a:prstGeom>
          <a:noFill/>
          <a:ln w="19050">
            <a:solidFill>
              <a:srgbClr val="90CAF9"/>
            </a:solidFill>
            <a:prstDash val="solid"/>
          </a:ln>
        </p:spPr>
      </p:sp>
      <p:sp>
        <p:nvSpPr>
          <p:cNvPr id="45" name="Shape 43"/>
          <p:cNvSpPr/>
          <p:nvPr/>
        </p:nvSpPr>
        <p:spPr>
          <a:xfrm>
            <a:off x="274320" y="4754880"/>
            <a:ext cx="2286000" cy="1005840"/>
          </a:xfrm>
          <a:prstGeom prst="roundRect">
            <a:avLst>
              <a:gd name="adj" fmla="val 9091"/>
            </a:avLst>
          </a:prstGeom>
          <a:solidFill>
            <a:srgbClr val="1A1F4E">
              <a:alpha val="70000"/>
            </a:srgbClr>
          </a:solidFill>
          <a:ln w="19050">
            <a:solidFill>
              <a:srgbClr val="4FC3F7"/>
            </a:solidFill>
            <a:prstDash val="solid"/>
          </a:ln>
        </p:spPr>
      </p:sp>
      <p:sp>
        <p:nvSpPr>
          <p:cNvPr id="46" name="Text 44"/>
          <p:cNvSpPr/>
          <p:nvPr/>
        </p:nvSpPr>
        <p:spPr>
          <a:xfrm>
            <a:off x="274320" y="4892040"/>
            <a:ext cx="2286000" cy="548640"/>
          </a:xfrm>
          <a:prstGeom prst="rect">
            <a:avLst/>
          </a:prstGeom>
          <a:noFill/>
          <a:ln/>
        </p:spPr>
        <p:txBody>
          <a:bodyPr wrap="square" rtlCol="0" anchor="ctr"/>
          <a:lstStyle/>
          <a:p>
            <a:pPr algn="ctr" indent="0" marL="0">
              <a:buNone/>
            </a:pPr>
            <a:r>
              <a:rPr lang="en-US" sz="1300" b="1" dirty="0">
                <a:solidFill>
                  <a:srgbClr val="4FC3F7"/>
                </a:solidFill>
                <a:latin typeface="Inter" pitchFamily="34" charset="0"/>
                <a:ea typeface="Inter" pitchFamily="34" charset="-122"/>
                <a:cs typeface="Inter" pitchFamily="34" charset="-120"/>
              </a:rPr>
              <a:t>VPC + Private Subnets</a:t>
            </a:r>
            <a:endParaRPr lang="en-US" sz="1300" dirty="0"/>
          </a:p>
        </p:txBody>
      </p:sp>
      <p:sp>
        <p:nvSpPr>
          <p:cNvPr id="47" name="Shape 45"/>
          <p:cNvSpPr/>
          <p:nvPr/>
        </p:nvSpPr>
        <p:spPr>
          <a:xfrm>
            <a:off x="2834640" y="4754880"/>
            <a:ext cx="1828800" cy="1005840"/>
          </a:xfrm>
          <a:prstGeom prst="roundRect">
            <a:avLst>
              <a:gd name="adj" fmla="val 9091"/>
            </a:avLst>
          </a:prstGeom>
          <a:solidFill>
            <a:srgbClr val="1A1F4E">
              <a:alpha val="70000"/>
            </a:srgbClr>
          </a:solidFill>
          <a:ln w="19050">
            <a:solidFill>
              <a:srgbClr val="FF9900"/>
            </a:solidFill>
            <a:prstDash val="solid"/>
          </a:ln>
        </p:spPr>
      </p:sp>
      <p:sp>
        <p:nvSpPr>
          <p:cNvPr id="48" name="Text 46"/>
          <p:cNvSpPr/>
          <p:nvPr/>
        </p:nvSpPr>
        <p:spPr>
          <a:xfrm>
            <a:off x="2834640" y="4892040"/>
            <a:ext cx="1828800" cy="548640"/>
          </a:xfrm>
          <a:prstGeom prst="rect">
            <a:avLst/>
          </a:prstGeom>
          <a:noFill/>
          <a:ln/>
        </p:spPr>
        <p:txBody>
          <a:bodyPr wrap="square" rtlCol="0" anchor="ctr"/>
          <a:lstStyle/>
          <a:p>
            <a:pPr algn="ctr" indent="0" marL="0">
              <a:buNone/>
            </a:pPr>
            <a:r>
              <a:rPr lang="en-US" sz="1300" b="1" dirty="0">
                <a:solidFill>
                  <a:srgbClr val="FF9900"/>
                </a:solidFill>
                <a:latin typeface="Inter" pitchFamily="34" charset="0"/>
                <a:ea typeface="Inter" pitchFamily="34" charset="-122"/>
                <a:cs typeface="Inter" pitchFamily="34" charset="-120"/>
              </a:rPr>
              <a:t>NAT Gateway</a:t>
            </a:r>
            <a:endParaRPr lang="en-US" sz="1300" dirty="0"/>
          </a:p>
        </p:txBody>
      </p:sp>
      <p:sp>
        <p:nvSpPr>
          <p:cNvPr id="49" name="Text 47"/>
          <p:cNvSpPr/>
          <p:nvPr/>
        </p:nvSpPr>
        <p:spPr>
          <a:xfrm>
            <a:off x="2834640" y="5349240"/>
            <a:ext cx="1828800" cy="320040"/>
          </a:xfrm>
          <a:prstGeom prst="rect">
            <a:avLst/>
          </a:prstGeom>
          <a:noFill/>
          <a:ln/>
        </p:spPr>
        <p:txBody>
          <a:bodyPr wrap="square" rtlCol="0" anchor="ctr"/>
          <a:lstStyle/>
          <a:p>
            <a:pPr algn="ctr" indent="0" marL="0">
              <a:buNone/>
            </a:pPr>
            <a:r>
              <a:rPr lang="en-US" sz="1100" dirty="0">
                <a:solidFill>
                  <a:srgbClr val="90CAF9"/>
                </a:solidFill>
                <a:latin typeface="Inter" pitchFamily="34" charset="0"/>
                <a:ea typeface="Inter" pitchFamily="34" charset="-122"/>
                <a:cs typeface="Inter" pitchFamily="34" charset="-120"/>
              </a:rPr>
              <a:t>Outbound</a:t>
            </a:r>
            <a:endParaRPr lang="en-US" sz="1100" dirty="0"/>
          </a:p>
        </p:txBody>
      </p:sp>
      <p:sp>
        <p:nvSpPr>
          <p:cNvPr id="50" name="Shape 48"/>
          <p:cNvSpPr/>
          <p:nvPr/>
        </p:nvSpPr>
        <p:spPr>
          <a:xfrm>
            <a:off x="4937760" y="4754880"/>
            <a:ext cx="1828800" cy="1005840"/>
          </a:xfrm>
          <a:prstGeom prst="roundRect">
            <a:avLst>
              <a:gd name="adj" fmla="val 9091"/>
            </a:avLst>
          </a:prstGeom>
          <a:solidFill>
            <a:srgbClr val="1A1F4E">
              <a:alpha val="70000"/>
            </a:srgbClr>
          </a:solidFill>
          <a:ln w="19050">
            <a:solidFill>
              <a:srgbClr val="F44336"/>
            </a:solidFill>
            <a:prstDash val="solid"/>
          </a:ln>
        </p:spPr>
      </p:sp>
      <p:sp>
        <p:nvSpPr>
          <p:cNvPr id="51" name="Text 49"/>
          <p:cNvSpPr/>
          <p:nvPr/>
        </p:nvSpPr>
        <p:spPr>
          <a:xfrm>
            <a:off x="4937760" y="4892040"/>
            <a:ext cx="1828800" cy="548640"/>
          </a:xfrm>
          <a:prstGeom prst="rect">
            <a:avLst/>
          </a:prstGeom>
          <a:noFill/>
          <a:ln/>
        </p:spPr>
        <p:txBody>
          <a:bodyPr wrap="square" rtlCol="0" anchor="ctr"/>
          <a:lstStyle/>
          <a:p>
            <a:pPr algn="ctr" indent="0" marL="0">
              <a:buNone/>
            </a:pPr>
            <a:r>
              <a:rPr lang="en-US" sz="1300" b="1" dirty="0">
                <a:solidFill>
                  <a:srgbClr val="F44336"/>
                </a:solidFill>
                <a:latin typeface="Inter" pitchFamily="34" charset="0"/>
                <a:ea typeface="Inter" pitchFamily="34" charset="-122"/>
                <a:cs typeface="Inter" pitchFamily="34" charset="-120"/>
              </a:rPr>
              <a:t>KMS</a:t>
            </a:r>
            <a:endParaRPr lang="en-US" sz="1300" dirty="0"/>
          </a:p>
        </p:txBody>
      </p:sp>
      <p:sp>
        <p:nvSpPr>
          <p:cNvPr id="52" name="Text 50"/>
          <p:cNvSpPr/>
          <p:nvPr/>
        </p:nvSpPr>
        <p:spPr>
          <a:xfrm>
            <a:off x="4937760" y="5349240"/>
            <a:ext cx="1828800" cy="320040"/>
          </a:xfrm>
          <a:prstGeom prst="rect">
            <a:avLst/>
          </a:prstGeom>
          <a:noFill/>
          <a:ln/>
        </p:spPr>
        <p:txBody>
          <a:bodyPr wrap="square" rtlCol="0" anchor="ctr"/>
          <a:lstStyle/>
          <a:p>
            <a:pPr algn="ctr" indent="0" marL="0">
              <a:buNone/>
            </a:pPr>
            <a:r>
              <a:rPr lang="en-US" sz="1100" dirty="0">
                <a:solidFill>
                  <a:srgbClr val="90CAF9"/>
                </a:solidFill>
                <a:latin typeface="Inter" pitchFamily="34" charset="0"/>
                <a:ea typeface="Inter" pitchFamily="34" charset="-122"/>
                <a:cs typeface="Inter" pitchFamily="34" charset="-120"/>
              </a:rPr>
              <a:t>Encryption</a:t>
            </a:r>
            <a:endParaRPr lang="en-US" sz="1100" dirty="0"/>
          </a:p>
        </p:txBody>
      </p:sp>
      <p:sp>
        <p:nvSpPr>
          <p:cNvPr id="53" name="Shape 51"/>
          <p:cNvSpPr/>
          <p:nvPr/>
        </p:nvSpPr>
        <p:spPr>
          <a:xfrm>
            <a:off x="7040880" y="4754880"/>
            <a:ext cx="1828800" cy="1005840"/>
          </a:xfrm>
          <a:prstGeom prst="roundRect">
            <a:avLst>
              <a:gd name="adj" fmla="val 9091"/>
            </a:avLst>
          </a:prstGeom>
          <a:solidFill>
            <a:srgbClr val="1A1F4E">
              <a:alpha val="70000"/>
            </a:srgbClr>
          </a:solidFill>
          <a:ln w="19050">
            <a:solidFill>
              <a:srgbClr val="CE93D8"/>
            </a:solidFill>
            <a:prstDash val="solid"/>
          </a:ln>
        </p:spPr>
      </p:sp>
      <p:sp>
        <p:nvSpPr>
          <p:cNvPr id="54" name="Text 52"/>
          <p:cNvSpPr/>
          <p:nvPr/>
        </p:nvSpPr>
        <p:spPr>
          <a:xfrm>
            <a:off x="7040880" y="4892040"/>
            <a:ext cx="1828800" cy="548640"/>
          </a:xfrm>
          <a:prstGeom prst="rect">
            <a:avLst/>
          </a:prstGeom>
          <a:noFill/>
          <a:ln/>
        </p:spPr>
        <p:txBody>
          <a:bodyPr wrap="square" rtlCol="0" anchor="ctr"/>
          <a:lstStyle/>
          <a:p>
            <a:pPr algn="ctr" indent="0" marL="0">
              <a:buNone/>
            </a:pPr>
            <a:r>
              <a:rPr lang="en-US" sz="1300" b="1" dirty="0">
                <a:solidFill>
                  <a:srgbClr val="CE93D8"/>
                </a:solidFill>
                <a:latin typeface="Inter" pitchFamily="34" charset="0"/>
                <a:ea typeface="Inter" pitchFamily="34" charset="-122"/>
                <a:cs typeface="Inter" pitchFamily="34" charset="-120"/>
              </a:rPr>
              <a:t>SNS</a:t>
            </a:r>
            <a:endParaRPr lang="en-US" sz="1300" dirty="0"/>
          </a:p>
        </p:txBody>
      </p:sp>
      <p:sp>
        <p:nvSpPr>
          <p:cNvPr id="55" name="Text 53"/>
          <p:cNvSpPr/>
          <p:nvPr/>
        </p:nvSpPr>
        <p:spPr>
          <a:xfrm>
            <a:off x="7040880" y="5349240"/>
            <a:ext cx="1828800" cy="320040"/>
          </a:xfrm>
          <a:prstGeom prst="rect">
            <a:avLst/>
          </a:prstGeom>
          <a:noFill/>
          <a:ln/>
        </p:spPr>
        <p:txBody>
          <a:bodyPr wrap="square" rtlCol="0" anchor="ctr"/>
          <a:lstStyle/>
          <a:p>
            <a:pPr algn="ctr" indent="0" marL="0">
              <a:buNone/>
            </a:pPr>
            <a:r>
              <a:rPr lang="en-US" sz="1100" dirty="0">
                <a:solidFill>
                  <a:srgbClr val="90CAF9"/>
                </a:solidFill>
                <a:latin typeface="Inter" pitchFamily="34" charset="0"/>
                <a:ea typeface="Inter" pitchFamily="34" charset="-122"/>
                <a:cs typeface="Inter" pitchFamily="34" charset="-120"/>
              </a:rPr>
              <a:t>Alarms</a:t>
            </a:r>
            <a:endParaRPr lang="en-US" sz="1100" dirty="0"/>
          </a:p>
        </p:txBody>
      </p:sp>
      <p:sp>
        <p:nvSpPr>
          <p:cNvPr id="56" name="Shape 54"/>
          <p:cNvSpPr/>
          <p:nvPr/>
        </p:nvSpPr>
        <p:spPr>
          <a:xfrm>
            <a:off x="9144000" y="4754880"/>
            <a:ext cx="2286000" cy="1005840"/>
          </a:xfrm>
          <a:prstGeom prst="roundRect">
            <a:avLst>
              <a:gd name="adj" fmla="val 9091"/>
            </a:avLst>
          </a:prstGeom>
          <a:solidFill>
            <a:srgbClr val="1A1F4E">
              <a:alpha val="70000"/>
            </a:srgbClr>
          </a:solidFill>
          <a:ln w="19050">
            <a:solidFill>
              <a:srgbClr val="69F0AE"/>
            </a:solidFill>
            <a:prstDash val="solid"/>
          </a:ln>
        </p:spPr>
      </p:sp>
      <p:sp>
        <p:nvSpPr>
          <p:cNvPr id="57" name="Text 55"/>
          <p:cNvSpPr/>
          <p:nvPr/>
        </p:nvSpPr>
        <p:spPr>
          <a:xfrm>
            <a:off x="9144000" y="4892040"/>
            <a:ext cx="2286000" cy="548640"/>
          </a:xfrm>
          <a:prstGeom prst="rect">
            <a:avLst/>
          </a:prstGeom>
          <a:noFill/>
          <a:ln/>
        </p:spPr>
        <p:txBody>
          <a:bodyPr wrap="square" rtlCol="0" anchor="ctr"/>
          <a:lstStyle/>
          <a:p>
            <a:pPr algn="ctr" indent="0" marL="0">
              <a:buNone/>
            </a:pPr>
            <a:r>
              <a:rPr lang="en-US" sz="1300" b="1" dirty="0">
                <a:solidFill>
                  <a:srgbClr val="69F0AE"/>
                </a:solidFill>
                <a:latin typeface="Inter" pitchFamily="34" charset="0"/>
                <a:ea typeface="Inter" pitchFamily="34" charset="-122"/>
                <a:cs typeface="Inter" pitchFamily="34" charset="-120"/>
              </a:rPr>
              <a:t>Cognito</a:t>
            </a:r>
            <a:endParaRPr lang="en-US" sz="1300" dirty="0"/>
          </a:p>
        </p:txBody>
      </p:sp>
      <p:sp>
        <p:nvSpPr>
          <p:cNvPr id="58" name="Text 56"/>
          <p:cNvSpPr/>
          <p:nvPr/>
        </p:nvSpPr>
        <p:spPr>
          <a:xfrm>
            <a:off x="9144000" y="5349240"/>
            <a:ext cx="2286000" cy="320040"/>
          </a:xfrm>
          <a:prstGeom prst="rect">
            <a:avLst/>
          </a:prstGeom>
          <a:noFill/>
          <a:ln/>
        </p:spPr>
        <p:txBody>
          <a:bodyPr wrap="square" rtlCol="0" anchor="ctr"/>
          <a:lstStyle/>
          <a:p>
            <a:pPr algn="ctr" indent="0" marL="0">
              <a:buNone/>
            </a:pPr>
            <a:r>
              <a:rPr lang="en-US" sz="1100" dirty="0">
                <a:solidFill>
                  <a:srgbClr val="90CAF9"/>
                </a:solidFill>
                <a:latin typeface="Inter" pitchFamily="34" charset="0"/>
                <a:ea typeface="Inter" pitchFamily="34" charset="-122"/>
                <a:cs typeface="Inter" pitchFamily="34" charset="-120"/>
              </a:rPr>
              <a:t>Service identity</a:t>
            </a:r>
            <a:endParaRPr lang="en-US" sz="1100" dirty="0"/>
          </a:p>
        </p:txBody>
      </p:sp>
      <p:sp>
        <p:nvSpPr>
          <p:cNvPr id="59" name="Text 57"/>
          <p:cNvSpPr/>
          <p:nvPr/>
        </p:nvSpPr>
        <p:spPr>
          <a:xfrm>
            <a:off x="274320" y="1051560"/>
            <a:ext cx="1828800" cy="274320"/>
          </a:xfrm>
          <a:prstGeom prst="rect">
            <a:avLst/>
          </a:prstGeom>
          <a:noFill/>
          <a:ln/>
        </p:spPr>
        <p:txBody>
          <a:bodyPr wrap="square" rtlCol="0" anchor="ctr"/>
          <a:lstStyle/>
          <a:p>
            <a:pPr indent="0" marL="0">
              <a:buNone/>
            </a:pPr>
            <a:r>
              <a:rPr lang="en-US" sz="1000" dirty="0">
                <a:solidFill>
                  <a:srgbClr val="90CAF9"/>
                </a:solidFill>
                <a:latin typeface="Inter" pitchFamily="34" charset="0"/>
                <a:ea typeface="Inter" pitchFamily="34" charset="-122"/>
                <a:cs typeface="Inter" pitchFamily="34" charset="-120"/>
              </a:rPr>
              <a:t>REQUEST FLOW</a:t>
            </a:r>
            <a:endParaRPr lang="en-US" sz="1000" dirty="0"/>
          </a:p>
        </p:txBody>
      </p:sp>
      <p:sp>
        <p:nvSpPr>
          <p:cNvPr id="60" name="Text 58"/>
          <p:cNvSpPr/>
          <p:nvPr/>
        </p:nvSpPr>
        <p:spPr>
          <a:xfrm>
            <a:off x="274320" y="2834640"/>
            <a:ext cx="1828800" cy="274320"/>
          </a:xfrm>
          <a:prstGeom prst="rect">
            <a:avLst/>
          </a:prstGeom>
          <a:noFill/>
          <a:ln/>
        </p:spPr>
        <p:txBody>
          <a:bodyPr wrap="square" rtlCol="0" anchor="ctr"/>
          <a:lstStyle/>
          <a:p>
            <a:pPr indent="0" marL="0">
              <a:buNone/>
            </a:pPr>
            <a:r>
              <a:rPr lang="en-US" sz="1000" dirty="0">
                <a:solidFill>
                  <a:srgbClr val="90CAF9"/>
                </a:solidFill>
                <a:latin typeface="Inter" pitchFamily="34" charset="0"/>
                <a:ea typeface="Inter" pitchFamily="34" charset="-122"/>
                <a:cs typeface="Inter" pitchFamily="34" charset="-120"/>
              </a:rPr>
              <a:t>AGENT SERVICES</a:t>
            </a:r>
            <a:endParaRPr lang="en-US" sz="1000" dirty="0"/>
          </a:p>
        </p:txBody>
      </p:sp>
      <p:sp>
        <p:nvSpPr>
          <p:cNvPr id="61" name="Text 59"/>
          <p:cNvSpPr/>
          <p:nvPr/>
        </p:nvSpPr>
        <p:spPr>
          <a:xfrm>
            <a:off x="274320" y="4480560"/>
            <a:ext cx="1828800" cy="274320"/>
          </a:xfrm>
          <a:prstGeom prst="rect">
            <a:avLst/>
          </a:prstGeom>
          <a:noFill/>
          <a:ln/>
        </p:spPr>
        <p:txBody>
          <a:bodyPr wrap="square" rtlCol="0" anchor="ctr"/>
          <a:lstStyle/>
          <a:p>
            <a:pPr indent="0" marL="0">
              <a:buNone/>
            </a:pPr>
            <a:r>
              <a:rPr lang="en-US" sz="1000" dirty="0">
                <a:solidFill>
                  <a:srgbClr val="90CAF9"/>
                </a:solidFill>
                <a:latin typeface="Inter" pitchFamily="34" charset="0"/>
                <a:ea typeface="Inter" pitchFamily="34" charset="-122"/>
                <a:cs typeface="Inter" pitchFamily="34" charset="-120"/>
              </a:rPr>
              <a:t>INFRASTRUCTURE</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Shape 2"/>
          <p:cNvSpPr/>
          <p:nvPr/>
        </p:nvSpPr>
        <p:spPr>
          <a:xfrm>
            <a:off x="4709160" y="1371600"/>
            <a:ext cx="2743200" cy="2743200"/>
          </a:xfrm>
          <a:prstGeom prst="ellipse">
            <a:avLst/>
          </a:prstGeom>
          <a:solidFill>
            <a:srgbClr val="0A0E27">
              <a:alpha val="0"/>
            </a:srgbClr>
          </a:solidFill>
          <a:ln w="50800">
            <a:solidFill>
              <a:srgbClr val="FF9900"/>
            </a:solidFill>
            <a:prstDash val="solid"/>
          </a:ln>
        </p:spPr>
      </p:sp>
      <p:sp>
        <p:nvSpPr>
          <p:cNvPr id="5" name="Text 3"/>
          <p:cNvSpPr/>
          <p:nvPr/>
        </p:nvSpPr>
        <p:spPr>
          <a:xfrm>
            <a:off x="4709160" y="1371600"/>
            <a:ext cx="2743200" cy="2743200"/>
          </a:xfrm>
          <a:prstGeom prst="rect">
            <a:avLst/>
          </a:prstGeom>
          <a:noFill/>
          <a:ln/>
        </p:spPr>
        <p:txBody>
          <a:bodyPr wrap="square" rtlCol="0" anchor="ctr"/>
          <a:lstStyle/>
          <a:p>
            <a:pPr algn="ctr" indent="0" marL="0">
              <a:buNone/>
            </a:pPr>
            <a:r>
              <a:rPr lang="en-US" sz="7200" dirty="0">
                <a:solidFill>
                  <a:srgbClr val="FF9900"/>
                </a:solidFill>
                <a:latin typeface="Inter" pitchFamily="34" charset="0"/>
                <a:ea typeface="Inter" pitchFamily="34" charset="-122"/>
                <a:cs typeface="Inter" pitchFamily="34" charset="-120"/>
              </a:rPr>
              <a:t>▶</a:t>
            </a:r>
            <a:endParaRPr lang="en-US" sz="7200" dirty="0"/>
          </a:p>
        </p:txBody>
      </p:sp>
      <p:sp>
        <p:nvSpPr>
          <p:cNvPr id="6" name="Text 4"/>
          <p:cNvSpPr/>
          <p:nvPr/>
        </p:nvSpPr>
        <p:spPr>
          <a:xfrm>
            <a:off x="3657600" y="4389120"/>
            <a:ext cx="4846320" cy="914400"/>
          </a:xfrm>
          <a:prstGeom prst="rect">
            <a:avLst/>
          </a:prstGeom>
          <a:noFill/>
          <a:ln/>
        </p:spPr>
        <p:txBody>
          <a:bodyPr wrap="square" rtlCol="0" anchor="ctr"/>
          <a:lstStyle/>
          <a:p>
            <a:pPr algn="ctr" indent="0" marL="0">
              <a:buNone/>
            </a:pPr>
            <a:r>
              <a:rPr lang="en-US" sz="4400" b="1" dirty="0">
                <a:solidFill>
                  <a:srgbClr val="FFFFFF"/>
                </a:solidFill>
                <a:latin typeface="Montserrat" pitchFamily="34" charset="0"/>
                <a:ea typeface="Montserrat" pitchFamily="34" charset="-122"/>
                <a:cs typeface="Montserrat" pitchFamily="34" charset="-120"/>
              </a:rPr>
              <a:t>DEMO</a:t>
            </a:r>
            <a:endParaRPr lang="en-US" sz="4400" dirty="0"/>
          </a:p>
        </p:txBody>
      </p:sp>
      <p:sp>
        <p:nvSpPr>
          <p:cNvPr id="7" name="Text 5"/>
          <p:cNvSpPr/>
          <p:nvPr/>
        </p:nvSpPr>
        <p:spPr>
          <a:xfrm>
            <a:off x="1828800" y="5303520"/>
            <a:ext cx="8503920" cy="731520"/>
          </a:xfrm>
          <a:prstGeom prst="rect">
            <a:avLst/>
          </a:prstGeom>
          <a:noFill/>
          <a:ln/>
        </p:spPr>
        <p:txBody>
          <a:bodyPr wrap="square" rtlCol="0" anchor="ctr"/>
          <a:lstStyle/>
          <a:p>
            <a:pPr algn="ctr" indent="0" marL="0">
              <a:buNone/>
            </a:pPr>
            <a:r>
              <a:rPr lang="en-US" sz="2600" dirty="0">
                <a:solidFill>
                  <a:srgbClr val="90CAF9"/>
                </a:solidFill>
                <a:latin typeface="Inter" pitchFamily="34" charset="0"/>
                <a:ea typeface="Inter" pitchFamily="34" charset="-122"/>
                <a:cs typeface="Inter" pitchFamily="34" charset="-120"/>
              </a:rPr>
              <a:t>Production OpenClaw on AgentCore</a:t>
            </a:r>
            <a:endParaRPr lang="en-US" sz="2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Text 2"/>
          <p:cNvSpPr/>
          <p:nvPr/>
        </p:nvSpPr>
        <p:spPr>
          <a:xfrm>
            <a:off x="365760" y="182880"/>
            <a:ext cx="9144000" cy="640080"/>
          </a:xfrm>
          <a:prstGeom prst="rect">
            <a:avLst/>
          </a:prstGeom>
          <a:noFill/>
          <a:ln/>
        </p:spPr>
        <p:txBody>
          <a:bodyPr wrap="square" rtlCol="0" anchor="ctr"/>
          <a:lstStyle/>
          <a:p>
            <a:pPr indent="0" marL="0">
              <a:buNone/>
            </a:pPr>
            <a:r>
              <a:rPr lang="en-US" sz="3600" b="1" dirty="0">
                <a:solidFill>
                  <a:srgbClr val="FFFFFF"/>
                </a:solidFill>
                <a:latin typeface="Montserrat" pitchFamily="34" charset="0"/>
                <a:ea typeface="Montserrat" pitchFamily="34" charset="-122"/>
                <a:cs typeface="Montserrat" pitchFamily="34" charset="-120"/>
              </a:rPr>
              <a:t>Request Flow</a:t>
            </a:r>
            <a:endParaRPr lang="en-US" sz="3600" dirty="0"/>
          </a:p>
        </p:txBody>
      </p:sp>
      <p:sp>
        <p:nvSpPr>
          <p:cNvPr id="5" name="Text 3"/>
          <p:cNvSpPr/>
          <p:nvPr/>
        </p:nvSpPr>
        <p:spPr>
          <a:xfrm>
            <a:off x="365760" y="731520"/>
            <a:ext cx="9144000" cy="365760"/>
          </a:xfrm>
          <a:prstGeom prst="rect">
            <a:avLst/>
          </a:prstGeom>
          <a:noFill/>
          <a:ln/>
        </p:spPr>
        <p:txBody>
          <a:bodyPr wrap="square" rtlCol="0" anchor="ctr"/>
          <a:lstStyle/>
          <a:p>
            <a:pPr indent="0" marL="0">
              <a:buNone/>
            </a:pPr>
            <a:r>
              <a:rPr lang="en-US" sz="2000" dirty="0">
                <a:solidFill>
                  <a:srgbClr val="90CAF9"/>
                </a:solidFill>
                <a:latin typeface="Inter" pitchFamily="34" charset="0"/>
                <a:ea typeface="Inter" pitchFamily="34" charset="-122"/>
                <a:cs typeface="Inter" pitchFamily="34" charset="-120"/>
              </a:rPr>
              <a:t>How a message travels through the system</a:t>
            </a:r>
            <a:endParaRPr lang="en-US" sz="2000" dirty="0"/>
          </a:p>
        </p:txBody>
      </p:sp>
      <p:sp>
        <p:nvSpPr>
          <p:cNvPr id="6" name="Shape 4"/>
          <p:cNvSpPr/>
          <p:nvPr/>
        </p:nvSpPr>
        <p:spPr>
          <a:xfrm>
            <a:off x="3657600" y="1371600"/>
            <a:ext cx="4846320" cy="685800"/>
          </a:xfrm>
          <a:prstGeom prst="roundRect">
            <a:avLst>
              <a:gd name="adj" fmla="val 13333"/>
            </a:avLst>
          </a:prstGeom>
          <a:solidFill>
            <a:srgbClr val="1A1F4E">
              <a:alpha val="70000"/>
            </a:srgbClr>
          </a:solidFill>
          <a:ln w="19050">
            <a:solidFill>
              <a:srgbClr val="4FC3F7"/>
            </a:solidFill>
            <a:prstDash val="solid"/>
          </a:ln>
        </p:spPr>
      </p:sp>
      <p:sp>
        <p:nvSpPr>
          <p:cNvPr id="7" name="Text 5"/>
          <p:cNvSpPr/>
          <p:nvPr/>
        </p:nvSpPr>
        <p:spPr>
          <a:xfrm>
            <a:off x="3840480" y="1371600"/>
            <a:ext cx="4480560" cy="68580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User sends message via Telegram</a:t>
            </a:r>
            <a:endParaRPr lang="en-US" sz="1800" dirty="0"/>
          </a:p>
        </p:txBody>
      </p:sp>
      <p:sp>
        <p:nvSpPr>
          <p:cNvPr id="8" name="Shape 6"/>
          <p:cNvSpPr/>
          <p:nvPr/>
        </p:nvSpPr>
        <p:spPr>
          <a:xfrm>
            <a:off x="3657600" y="2194560"/>
            <a:ext cx="4846320" cy="685800"/>
          </a:xfrm>
          <a:prstGeom prst="roundRect">
            <a:avLst>
              <a:gd name="adj" fmla="val 13333"/>
            </a:avLst>
          </a:prstGeom>
          <a:solidFill>
            <a:srgbClr val="1A1F4E">
              <a:alpha val="70000"/>
            </a:srgbClr>
          </a:solidFill>
          <a:ln w="19050">
            <a:solidFill>
              <a:srgbClr val="FF9900"/>
            </a:solidFill>
            <a:prstDash val="solid"/>
          </a:ln>
        </p:spPr>
      </p:sp>
      <p:sp>
        <p:nvSpPr>
          <p:cNvPr id="9" name="Text 7"/>
          <p:cNvSpPr/>
          <p:nvPr/>
        </p:nvSpPr>
        <p:spPr>
          <a:xfrm>
            <a:off x="3840480" y="2194560"/>
            <a:ext cx="4480560" cy="68580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API Gateway receives webhook</a:t>
            </a:r>
            <a:endParaRPr lang="en-US" sz="1800" dirty="0"/>
          </a:p>
        </p:txBody>
      </p:sp>
      <p:sp>
        <p:nvSpPr>
          <p:cNvPr id="10" name="Shape 8"/>
          <p:cNvSpPr/>
          <p:nvPr/>
        </p:nvSpPr>
        <p:spPr>
          <a:xfrm>
            <a:off x="3657600" y="3017520"/>
            <a:ext cx="4846320" cy="685800"/>
          </a:xfrm>
          <a:prstGeom prst="roundRect">
            <a:avLst>
              <a:gd name="adj" fmla="val 13333"/>
            </a:avLst>
          </a:prstGeom>
          <a:solidFill>
            <a:srgbClr val="1A1F4E">
              <a:alpha val="70000"/>
            </a:srgbClr>
          </a:solidFill>
          <a:ln w="19050">
            <a:solidFill>
              <a:srgbClr val="FF9900"/>
            </a:solidFill>
            <a:prstDash val="solid"/>
          </a:ln>
        </p:spPr>
      </p:sp>
      <p:sp>
        <p:nvSpPr>
          <p:cNvPr id="11" name="Text 9"/>
          <p:cNvSpPr/>
          <p:nvPr/>
        </p:nvSpPr>
        <p:spPr>
          <a:xfrm>
            <a:off x="3840480" y="3017520"/>
            <a:ext cx="4480560" cy="68580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Router Lambda resolves identity (DynamoDB)</a:t>
            </a:r>
            <a:endParaRPr lang="en-US" sz="1800" dirty="0"/>
          </a:p>
        </p:txBody>
      </p:sp>
      <p:sp>
        <p:nvSpPr>
          <p:cNvPr id="12" name="Shape 10"/>
          <p:cNvSpPr/>
          <p:nvPr/>
        </p:nvSpPr>
        <p:spPr>
          <a:xfrm>
            <a:off x="3657600" y="3840480"/>
            <a:ext cx="4846320" cy="685800"/>
          </a:xfrm>
          <a:prstGeom prst="roundRect">
            <a:avLst>
              <a:gd name="adj" fmla="val 13333"/>
            </a:avLst>
          </a:prstGeom>
          <a:solidFill>
            <a:srgbClr val="1A1F4E">
              <a:alpha val="70000"/>
            </a:srgbClr>
          </a:solidFill>
          <a:ln w="19050">
            <a:solidFill>
              <a:srgbClr val="69F0AE"/>
            </a:solidFill>
            <a:prstDash val="solid"/>
          </a:ln>
        </p:spPr>
      </p:sp>
      <p:sp>
        <p:nvSpPr>
          <p:cNvPr id="13" name="Text 11"/>
          <p:cNvSpPr/>
          <p:nvPr/>
        </p:nvSpPr>
        <p:spPr>
          <a:xfrm>
            <a:off x="3840480" y="3840480"/>
            <a:ext cx="4480560" cy="68580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InvokeAgentRuntime</a:t>
            </a:r>
            <a:endParaRPr lang="en-US" sz="1800" dirty="0"/>
          </a:p>
        </p:txBody>
      </p:sp>
      <p:sp>
        <p:nvSpPr>
          <p:cNvPr id="14" name="Shape 12"/>
          <p:cNvSpPr/>
          <p:nvPr/>
        </p:nvSpPr>
        <p:spPr>
          <a:xfrm>
            <a:off x="3657600" y="4663440"/>
            <a:ext cx="4846320" cy="685800"/>
          </a:xfrm>
          <a:prstGeom prst="roundRect">
            <a:avLst>
              <a:gd name="adj" fmla="val 13333"/>
            </a:avLst>
          </a:prstGeom>
          <a:solidFill>
            <a:srgbClr val="1A1F4E">
              <a:alpha val="70000"/>
            </a:srgbClr>
          </a:solidFill>
          <a:ln w="19050">
            <a:solidFill>
              <a:srgbClr val="69F0AE"/>
            </a:solidFill>
            <a:prstDash val="solid"/>
          </a:ln>
        </p:spPr>
      </p:sp>
      <p:sp>
        <p:nvSpPr>
          <p:cNvPr id="15" name="Text 13"/>
          <p:cNvSpPr/>
          <p:nvPr/>
        </p:nvSpPr>
        <p:spPr>
          <a:xfrm>
            <a:off x="3840480" y="4663440"/>
            <a:ext cx="4480560" cy="68580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AgentCore microVM (per-user Firecracker)</a:t>
            </a:r>
            <a:endParaRPr lang="en-US" sz="1800" dirty="0"/>
          </a:p>
        </p:txBody>
      </p:sp>
      <p:sp>
        <p:nvSpPr>
          <p:cNvPr id="16" name="Shape 14"/>
          <p:cNvSpPr/>
          <p:nvPr/>
        </p:nvSpPr>
        <p:spPr>
          <a:xfrm>
            <a:off x="3657600" y="5486400"/>
            <a:ext cx="4846320" cy="685800"/>
          </a:xfrm>
          <a:prstGeom prst="roundRect">
            <a:avLst>
              <a:gd name="adj" fmla="val 13333"/>
            </a:avLst>
          </a:prstGeom>
          <a:solidFill>
            <a:srgbClr val="1A1F4E">
              <a:alpha val="70000"/>
            </a:srgbClr>
          </a:solidFill>
          <a:ln w="19050">
            <a:solidFill>
              <a:srgbClr val="CE93D8"/>
            </a:solidFill>
            <a:prstDash val="solid"/>
          </a:ln>
        </p:spPr>
      </p:sp>
      <p:sp>
        <p:nvSpPr>
          <p:cNvPr id="17" name="Text 15"/>
          <p:cNvSpPr/>
          <p:nvPr/>
        </p:nvSpPr>
        <p:spPr>
          <a:xfrm>
            <a:off x="3840480" y="5486400"/>
            <a:ext cx="4480560" cy="685800"/>
          </a:xfrm>
          <a:prstGeom prst="rect">
            <a:avLst/>
          </a:prstGeom>
          <a:noFill/>
          <a:ln/>
        </p:spPr>
        <p:txBody>
          <a:bodyPr wrap="square" rtlCol="0" anchor="ctr"/>
          <a:lstStyle/>
          <a:p>
            <a:pPr algn="ctr" indent="0" marL="0">
              <a:buNone/>
            </a:pPr>
            <a:r>
              <a:rPr lang="en-US" sz="1800" dirty="0">
                <a:solidFill>
                  <a:srgbClr val="FFFFFF"/>
                </a:solidFill>
                <a:latin typeface="Inter" pitchFamily="34" charset="0"/>
                <a:ea typeface="Inter" pitchFamily="34" charset="-122"/>
                <a:cs typeface="Inter" pitchFamily="34" charset="-120"/>
              </a:rPr>
              <a:t>Contract Server → Proxy → Bedrock (Claude)</a:t>
            </a:r>
            <a:endParaRPr lang="en-US" sz="1800" dirty="0"/>
          </a:p>
        </p:txBody>
      </p:sp>
      <p:sp>
        <p:nvSpPr>
          <p:cNvPr id="18" name="Text 16"/>
          <p:cNvSpPr/>
          <p:nvPr/>
        </p:nvSpPr>
        <p:spPr>
          <a:xfrm>
            <a:off x="5852160" y="1965960"/>
            <a:ext cx="457200" cy="320040"/>
          </a:xfrm>
          <a:prstGeom prst="rect">
            <a:avLst/>
          </a:prstGeom>
          <a:noFill/>
          <a:ln/>
        </p:spPr>
        <p:txBody>
          <a:bodyPr wrap="square" rtlCol="0" anchor="ctr"/>
          <a:lstStyle/>
          <a:p>
            <a:pPr algn="ctr" indent="0" marL="0">
              <a:buNone/>
            </a:pPr>
            <a:r>
              <a:rPr lang="en-US" sz="2000" dirty="0">
                <a:solidFill>
                  <a:srgbClr val="90CAF9"/>
                </a:solidFill>
                <a:latin typeface="Inter" pitchFamily="34" charset="0"/>
                <a:ea typeface="Inter" pitchFamily="34" charset="-122"/>
                <a:cs typeface="Inter" pitchFamily="34" charset="-120"/>
              </a:rPr>
              <a:t>↓</a:t>
            </a:r>
            <a:endParaRPr lang="en-US" sz="2000" dirty="0"/>
          </a:p>
        </p:txBody>
      </p:sp>
      <p:sp>
        <p:nvSpPr>
          <p:cNvPr id="19" name="Text 17"/>
          <p:cNvSpPr/>
          <p:nvPr/>
        </p:nvSpPr>
        <p:spPr>
          <a:xfrm>
            <a:off x="5852160" y="2788920"/>
            <a:ext cx="457200" cy="320040"/>
          </a:xfrm>
          <a:prstGeom prst="rect">
            <a:avLst/>
          </a:prstGeom>
          <a:noFill/>
          <a:ln/>
        </p:spPr>
        <p:txBody>
          <a:bodyPr wrap="square" rtlCol="0" anchor="ctr"/>
          <a:lstStyle/>
          <a:p>
            <a:pPr algn="ctr" indent="0" marL="0">
              <a:buNone/>
            </a:pPr>
            <a:r>
              <a:rPr lang="en-US" sz="2000" dirty="0">
                <a:solidFill>
                  <a:srgbClr val="90CAF9"/>
                </a:solidFill>
                <a:latin typeface="Inter" pitchFamily="34" charset="0"/>
                <a:ea typeface="Inter" pitchFamily="34" charset="-122"/>
                <a:cs typeface="Inter" pitchFamily="34" charset="-120"/>
              </a:rPr>
              <a:t>↓</a:t>
            </a:r>
            <a:endParaRPr lang="en-US" sz="2000" dirty="0"/>
          </a:p>
        </p:txBody>
      </p:sp>
      <p:sp>
        <p:nvSpPr>
          <p:cNvPr id="20" name="Text 18"/>
          <p:cNvSpPr/>
          <p:nvPr/>
        </p:nvSpPr>
        <p:spPr>
          <a:xfrm>
            <a:off x="5852160" y="3611880"/>
            <a:ext cx="457200" cy="320040"/>
          </a:xfrm>
          <a:prstGeom prst="rect">
            <a:avLst/>
          </a:prstGeom>
          <a:noFill/>
          <a:ln/>
        </p:spPr>
        <p:txBody>
          <a:bodyPr wrap="square" rtlCol="0" anchor="ctr"/>
          <a:lstStyle/>
          <a:p>
            <a:pPr algn="ctr" indent="0" marL="0">
              <a:buNone/>
            </a:pPr>
            <a:r>
              <a:rPr lang="en-US" sz="2000" dirty="0">
                <a:solidFill>
                  <a:srgbClr val="90CAF9"/>
                </a:solidFill>
                <a:latin typeface="Inter" pitchFamily="34" charset="0"/>
                <a:ea typeface="Inter" pitchFamily="34" charset="-122"/>
                <a:cs typeface="Inter" pitchFamily="34" charset="-120"/>
              </a:rPr>
              <a:t>↓</a:t>
            </a:r>
            <a:endParaRPr lang="en-US" sz="2000" dirty="0"/>
          </a:p>
        </p:txBody>
      </p:sp>
      <p:sp>
        <p:nvSpPr>
          <p:cNvPr id="21" name="Text 19"/>
          <p:cNvSpPr/>
          <p:nvPr/>
        </p:nvSpPr>
        <p:spPr>
          <a:xfrm>
            <a:off x="5852160" y="4434840"/>
            <a:ext cx="457200" cy="320040"/>
          </a:xfrm>
          <a:prstGeom prst="rect">
            <a:avLst/>
          </a:prstGeom>
          <a:noFill/>
          <a:ln/>
        </p:spPr>
        <p:txBody>
          <a:bodyPr wrap="square" rtlCol="0" anchor="ctr"/>
          <a:lstStyle/>
          <a:p>
            <a:pPr algn="ctr" indent="0" marL="0">
              <a:buNone/>
            </a:pPr>
            <a:r>
              <a:rPr lang="en-US" sz="2000" dirty="0">
                <a:solidFill>
                  <a:srgbClr val="90CAF9"/>
                </a:solidFill>
                <a:latin typeface="Inter" pitchFamily="34" charset="0"/>
                <a:ea typeface="Inter" pitchFamily="34" charset="-122"/>
                <a:cs typeface="Inter" pitchFamily="34" charset="-120"/>
              </a:rPr>
              <a:t>↓</a:t>
            </a:r>
            <a:endParaRPr lang="en-US" sz="2000" dirty="0"/>
          </a:p>
        </p:txBody>
      </p:sp>
      <p:sp>
        <p:nvSpPr>
          <p:cNvPr id="22" name="Text 20"/>
          <p:cNvSpPr/>
          <p:nvPr/>
        </p:nvSpPr>
        <p:spPr>
          <a:xfrm>
            <a:off x="5852160" y="5257800"/>
            <a:ext cx="457200" cy="320040"/>
          </a:xfrm>
          <a:prstGeom prst="rect">
            <a:avLst/>
          </a:prstGeom>
          <a:noFill/>
          <a:ln/>
        </p:spPr>
        <p:txBody>
          <a:bodyPr wrap="square" rtlCol="0" anchor="ctr"/>
          <a:lstStyle/>
          <a:p>
            <a:pPr algn="ctr" indent="0" marL="0">
              <a:buNone/>
            </a:pPr>
            <a:r>
              <a:rPr lang="en-US" sz="2000" dirty="0">
                <a:solidFill>
                  <a:srgbClr val="90CAF9"/>
                </a:solidFill>
                <a:latin typeface="Inter" pitchFamily="34" charset="0"/>
                <a:ea typeface="Inter" pitchFamily="34" charset="-122"/>
                <a:cs typeface="Inter" pitchFamily="34" charset="-120"/>
              </a:rPr>
              <a:t>↓</a:t>
            </a:r>
            <a:endParaRPr lang="en-US" sz="2000" dirty="0"/>
          </a:p>
        </p:txBody>
      </p:sp>
      <p:sp>
        <p:nvSpPr>
          <p:cNvPr id="23" name="Text 21"/>
          <p:cNvSpPr/>
          <p:nvPr/>
        </p:nvSpPr>
        <p:spPr>
          <a:xfrm>
            <a:off x="9144000" y="3200400"/>
            <a:ext cx="2286000" cy="457200"/>
          </a:xfrm>
          <a:prstGeom prst="rect">
            <a:avLst/>
          </a:prstGeom>
          <a:noFill/>
          <a:ln/>
        </p:spPr>
        <p:txBody>
          <a:bodyPr wrap="square" rtlCol="0" anchor="ctr"/>
          <a:lstStyle/>
          <a:p>
            <a:pPr algn="ctr" indent="0" marL="0">
              <a:buNone/>
            </a:pPr>
            <a:r>
              <a:rPr lang="en-US" sz="1800" dirty="0">
                <a:solidFill>
                  <a:srgbClr val="90CAF9"/>
                </a:solidFill>
                <a:latin typeface="Inter" pitchFamily="34" charset="0"/>
                <a:ea typeface="Inter" pitchFamily="34" charset="-122"/>
                <a:cs typeface="Inter" pitchFamily="34" charset="-120"/>
              </a:rPr>
              <a:t>Response</a:t>
            </a:r>
            <a:endParaRPr lang="en-US" sz="1800" dirty="0"/>
          </a:p>
        </p:txBody>
      </p:sp>
      <p:sp>
        <p:nvSpPr>
          <p:cNvPr id="24" name="Shape 22"/>
          <p:cNvSpPr/>
          <p:nvPr/>
        </p:nvSpPr>
        <p:spPr>
          <a:xfrm>
            <a:off x="9601200" y="3657600"/>
            <a:ext cx="0" cy="1828800"/>
          </a:xfrm>
          <a:prstGeom prst="line">
            <a:avLst/>
          </a:prstGeom>
          <a:noFill/>
          <a:ln w="19050">
            <a:solidFill>
              <a:srgbClr val="90CAF9"/>
            </a:solidFill>
            <a:prstDash val="dash"/>
          </a:ln>
        </p:spPr>
      </p:sp>
      <p:sp>
        <p:nvSpPr>
          <p:cNvPr id="25" name="Text 23"/>
          <p:cNvSpPr/>
          <p:nvPr/>
        </p:nvSpPr>
        <p:spPr>
          <a:xfrm>
            <a:off x="9144000" y="2286000"/>
            <a:ext cx="2286000" cy="457200"/>
          </a:xfrm>
          <a:prstGeom prst="rect">
            <a:avLst/>
          </a:prstGeom>
          <a:noFill/>
          <a:ln/>
        </p:spPr>
        <p:txBody>
          <a:bodyPr wrap="square" rtlCol="0" anchor="ctr"/>
          <a:lstStyle/>
          <a:p>
            <a:pPr algn="ctr" indent="0" marL="0">
              <a:buNone/>
            </a:pPr>
            <a:r>
              <a:rPr lang="en-US" sz="1600" dirty="0">
                <a:solidFill>
                  <a:srgbClr val="90CAF9"/>
                </a:solidFill>
                <a:latin typeface="Inter" pitchFamily="34" charset="0"/>
                <a:ea typeface="Inter" pitchFamily="34" charset="-122"/>
                <a:cs typeface="Inter" pitchFamily="34" charset="-120"/>
              </a:rPr>
              <a:t>↑ back to User</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Text 2"/>
          <p:cNvSpPr/>
          <p:nvPr/>
        </p:nvSpPr>
        <p:spPr>
          <a:xfrm>
            <a:off x="731520" y="274320"/>
            <a:ext cx="8229600" cy="914400"/>
          </a:xfrm>
          <a:prstGeom prst="rect">
            <a:avLst/>
          </a:prstGeom>
          <a:noFill/>
          <a:ln/>
        </p:spPr>
        <p:txBody>
          <a:bodyPr wrap="square" rtlCol="0" anchor="ctr"/>
          <a:lstStyle/>
          <a:p>
            <a:pPr indent="0" marL="0">
              <a:buNone/>
            </a:pPr>
            <a:r>
              <a:rPr lang="en-US" sz="4000" b="1" dirty="0">
                <a:solidFill>
                  <a:srgbClr val="FFFFFF"/>
                </a:solidFill>
                <a:latin typeface="Montserrat" pitchFamily="34" charset="0"/>
                <a:ea typeface="Montserrat" pitchFamily="34" charset="-122"/>
                <a:cs typeface="Montserrat" pitchFamily="34" charset="-120"/>
              </a:rPr>
              <a:t>What Just Happened</a:t>
            </a:r>
            <a:endParaRPr lang="en-US" sz="4000" dirty="0"/>
          </a:p>
        </p:txBody>
      </p:sp>
      <p:sp>
        <p:nvSpPr>
          <p:cNvPr id="5" name="Text 3"/>
          <p:cNvSpPr/>
          <p:nvPr/>
        </p:nvSpPr>
        <p:spPr>
          <a:xfrm>
            <a:off x="8229600" y="457200"/>
            <a:ext cx="3200400" cy="640080"/>
          </a:xfrm>
          <a:prstGeom prst="rect">
            <a:avLst/>
          </a:prstGeom>
          <a:noFill/>
          <a:ln/>
        </p:spPr>
        <p:txBody>
          <a:bodyPr wrap="square" rtlCol="0" anchor="ctr"/>
          <a:lstStyle/>
          <a:p>
            <a:pPr algn="r" indent="0" marL="0">
              <a:buNone/>
            </a:pPr>
            <a:r>
              <a:rPr lang="en-US" sz="2000" dirty="0">
                <a:solidFill>
                  <a:srgbClr val="FF9900"/>
                </a:solidFill>
                <a:latin typeface="Inter" pitchFamily="34" charset="0"/>
                <a:ea typeface="Inter" pitchFamily="34" charset="-122"/>
                <a:cs typeface="Inter" pitchFamily="34" charset="-120"/>
              </a:rPr>
              <a:t>AGENTCORE</a:t>
            </a:r>
            <a:endParaRPr lang="en-US" sz="2000" dirty="0"/>
          </a:p>
        </p:txBody>
      </p:sp>
      <p:sp>
        <p:nvSpPr>
          <p:cNvPr id="6" name="Shape 4"/>
          <p:cNvSpPr/>
          <p:nvPr/>
        </p:nvSpPr>
        <p:spPr>
          <a:xfrm>
            <a:off x="731520" y="1645920"/>
            <a:ext cx="10515600" cy="1005840"/>
          </a:xfrm>
          <a:prstGeom prst="roundRect">
            <a:avLst>
              <a:gd name="adj" fmla="val 9091"/>
            </a:avLst>
          </a:prstGeom>
          <a:solidFill>
            <a:srgbClr val="1A1F4E">
              <a:alpha val="70000"/>
            </a:srgbClr>
          </a:solidFill>
          <a:ln w="19050">
            <a:solidFill>
              <a:srgbClr val="69F0AE"/>
            </a:solidFill>
            <a:prstDash val="solid"/>
          </a:ln>
        </p:spPr>
      </p:sp>
      <p:sp>
        <p:nvSpPr>
          <p:cNvPr id="7" name="Text 5"/>
          <p:cNvSpPr/>
          <p:nvPr/>
        </p:nvSpPr>
        <p:spPr>
          <a:xfrm>
            <a:off x="1371600" y="1645920"/>
            <a:ext cx="9601200" cy="1005840"/>
          </a:xfrm>
          <a:prstGeom prst="rect">
            <a:avLst/>
          </a:prstGeom>
          <a:noFill/>
          <a:ln/>
        </p:spPr>
        <p:txBody>
          <a:bodyPr wrap="square" rtlCol="0" anchor="ctr"/>
          <a:lstStyle/>
          <a:p>
            <a:pPr indent="0" marL="0">
              <a:buNone/>
            </a:pPr>
            <a:r>
              <a:rPr lang="en-US" sz="2400" dirty="0">
                <a:solidFill>
                  <a:srgbClr val="FFFFFF"/>
                </a:solidFill>
                <a:latin typeface="Inter" pitchFamily="34" charset="0"/>
                <a:ea typeface="Inter" pitchFamily="34" charset="-122"/>
                <a:cs typeface="Inter" pitchFamily="34" charset="-120"/>
              </a:rPr>
              <a:t>✓  15+ resources deployed</a:t>
            </a:r>
            <a:endParaRPr lang="en-US" sz="2400" dirty="0"/>
          </a:p>
        </p:txBody>
      </p:sp>
      <p:sp>
        <p:nvSpPr>
          <p:cNvPr id="8" name="Shape 6"/>
          <p:cNvSpPr/>
          <p:nvPr/>
        </p:nvSpPr>
        <p:spPr>
          <a:xfrm>
            <a:off x="731520" y="2880360"/>
            <a:ext cx="10515600" cy="1005840"/>
          </a:xfrm>
          <a:prstGeom prst="roundRect">
            <a:avLst>
              <a:gd name="adj" fmla="val 9091"/>
            </a:avLst>
          </a:prstGeom>
          <a:solidFill>
            <a:srgbClr val="1A1F4E">
              <a:alpha val="70000"/>
            </a:srgbClr>
          </a:solidFill>
          <a:ln w="19050">
            <a:solidFill>
              <a:srgbClr val="69F0AE"/>
            </a:solidFill>
            <a:prstDash val="solid"/>
          </a:ln>
        </p:spPr>
      </p:sp>
      <p:sp>
        <p:nvSpPr>
          <p:cNvPr id="9" name="Text 7"/>
          <p:cNvSpPr/>
          <p:nvPr/>
        </p:nvSpPr>
        <p:spPr>
          <a:xfrm>
            <a:off x="1371600" y="2880360"/>
            <a:ext cx="9601200" cy="1005840"/>
          </a:xfrm>
          <a:prstGeom prst="rect">
            <a:avLst/>
          </a:prstGeom>
          <a:noFill/>
          <a:ln/>
        </p:spPr>
        <p:txBody>
          <a:bodyPr wrap="square" rtlCol="0" anchor="ctr"/>
          <a:lstStyle/>
          <a:p>
            <a:pPr indent="0" marL="0">
              <a:buNone/>
            </a:pPr>
            <a:r>
              <a:rPr lang="en-US" sz="2400" dirty="0">
                <a:solidFill>
                  <a:srgbClr val="FFFFFF"/>
                </a:solidFill>
                <a:latin typeface="Inter" pitchFamily="34" charset="0"/>
                <a:ea typeface="Inter" pitchFamily="34" charset="-122"/>
                <a:cs typeface="Inter" pitchFamily="34" charset="-120"/>
              </a:rPr>
              <a:t>✓  Per-user Firecracker microVM</a:t>
            </a:r>
            <a:endParaRPr lang="en-US" sz="2400" dirty="0"/>
          </a:p>
        </p:txBody>
      </p:sp>
      <p:sp>
        <p:nvSpPr>
          <p:cNvPr id="10" name="Shape 8"/>
          <p:cNvSpPr/>
          <p:nvPr/>
        </p:nvSpPr>
        <p:spPr>
          <a:xfrm>
            <a:off x="731520" y="4114800"/>
            <a:ext cx="10515600" cy="1005840"/>
          </a:xfrm>
          <a:prstGeom prst="roundRect">
            <a:avLst>
              <a:gd name="adj" fmla="val 9091"/>
            </a:avLst>
          </a:prstGeom>
          <a:solidFill>
            <a:srgbClr val="1A1F4E">
              <a:alpha val="70000"/>
            </a:srgbClr>
          </a:solidFill>
          <a:ln w="19050">
            <a:solidFill>
              <a:srgbClr val="69F0AE"/>
            </a:solidFill>
            <a:prstDash val="solid"/>
          </a:ln>
        </p:spPr>
      </p:sp>
      <p:sp>
        <p:nvSpPr>
          <p:cNvPr id="11" name="Text 9"/>
          <p:cNvSpPr/>
          <p:nvPr/>
        </p:nvSpPr>
        <p:spPr>
          <a:xfrm>
            <a:off x="1371600" y="4114800"/>
            <a:ext cx="9601200" cy="1005840"/>
          </a:xfrm>
          <a:prstGeom prst="rect">
            <a:avLst/>
          </a:prstGeom>
          <a:noFill/>
          <a:ln/>
        </p:spPr>
        <p:txBody>
          <a:bodyPr wrap="square" rtlCol="0" anchor="ctr"/>
          <a:lstStyle/>
          <a:p>
            <a:pPr indent="0" marL="0">
              <a:buNone/>
            </a:pPr>
            <a:r>
              <a:rPr lang="en-US" sz="2400" dirty="0">
                <a:solidFill>
                  <a:srgbClr val="FFFFFF"/>
                </a:solidFill>
                <a:latin typeface="Inter" pitchFamily="34" charset="0"/>
                <a:ea typeface="Inter" pitchFamily="34" charset="-122"/>
                <a:cs typeface="Inter" pitchFamily="34" charset="-120"/>
              </a:rPr>
              <a:t>✓  STS scoped credentials</a:t>
            </a:r>
            <a:endParaRPr lang="en-US" sz="2400" dirty="0"/>
          </a:p>
        </p:txBody>
      </p:sp>
      <p:sp>
        <p:nvSpPr>
          <p:cNvPr id="12" name="Shape 10"/>
          <p:cNvSpPr/>
          <p:nvPr/>
        </p:nvSpPr>
        <p:spPr>
          <a:xfrm>
            <a:off x="731520" y="5349240"/>
            <a:ext cx="10515600" cy="1005840"/>
          </a:xfrm>
          <a:prstGeom prst="roundRect">
            <a:avLst>
              <a:gd name="adj" fmla="val 9091"/>
            </a:avLst>
          </a:prstGeom>
          <a:solidFill>
            <a:srgbClr val="1A1F4E">
              <a:alpha val="70000"/>
            </a:srgbClr>
          </a:solidFill>
          <a:ln w="19050">
            <a:solidFill>
              <a:srgbClr val="69F0AE"/>
            </a:solidFill>
            <a:prstDash val="solid"/>
          </a:ln>
        </p:spPr>
      </p:sp>
      <p:sp>
        <p:nvSpPr>
          <p:cNvPr id="13" name="Text 11"/>
          <p:cNvSpPr/>
          <p:nvPr/>
        </p:nvSpPr>
        <p:spPr>
          <a:xfrm>
            <a:off x="1371600" y="5349240"/>
            <a:ext cx="9601200" cy="1005840"/>
          </a:xfrm>
          <a:prstGeom prst="rect">
            <a:avLst/>
          </a:prstGeom>
          <a:noFill/>
          <a:ln/>
        </p:spPr>
        <p:txBody>
          <a:bodyPr wrap="square" rtlCol="0" anchor="ctr"/>
          <a:lstStyle/>
          <a:p>
            <a:pPr indent="0" marL="0">
              <a:buNone/>
            </a:pPr>
            <a:r>
              <a:rPr lang="en-US" sz="2400" dirty="0">
                <a:solidFill>
                  <a:srgbClr val="FFFFFF"/>
                </a:solidFill>
                <a:latin typeface="Inter" pitchFamily="34" charset="0"/>
                <a:ea typeface="Inter" pitchFamily="34" charset="-122"/>
                <a:cs typeface="Inter" pitchFamily="34" charset="-120"/>
              </a:rPr>
              <a:t>✓  S3 workspace persistence</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Text 2"/>
          <p:cNvSpPr/>
          <p:nvPr/>
        </p:nvSpPr>
        <p:spPr>
          <a:xfrm>
            <a:off x="731520" y="274320"/>
            <a:ext cx="10972800" cy="914400"/>
          </a:xfrm>
          <a:prstGeom prst="rect">
            <a:avLst/>
          </a:prstGeom>
          <a:noFill/>
          <a:ln/>
        </p:spPr>
        <p:txBody>
          <a:bodyPr wrap="square" rtlCol="0" anchor="ctr"/>
          <a:lstStyle/>
          <a:p>
            <a:pPr indent="0" marL="0">
              <a:buNone/>
            </a:pPr>
            <a:r>
              <a:rPr lang="en-US" sz="4000" b="1" dirty="0">
                <a:solidFill>
                  <a:srgbClr val="FFFFFF"/>
                </a:solidFill>
                <a:latin typeface="Montserrat" pitchFamily="34" charset="0"/>
                <a:ea typeface="Montserrat" pitchFamily="34" charset="-122"/>
                <a:cs typeface="Montserrat" pitchFamily="34" charset="-120"/>
              </a:rPr>
              <a:t>AgentCore = Production-Ready</a:t>
            </a:r>
            <a:endParaRPr lang="en-US" sz="4000" dirty="0"/>
          </a:p>
        </p:txBody>
      </p:sp>
      <p:sp>
        <p:nvSpPr>
          <p:cNvPr id="5" name="Text 3"/>
          <p:cNvSpPr/>
          <p:nvPr/>
        </p:nvSpPr>
        <p:spPr>
          <a:xfrm>
            <a:off x="731520" y="1188720"/>
            <a:ext cx="10972800" cy="731520"/>
          </a:xfrm>
          <a:prstGeom prst="rect">
            <a:avLst/>
          </a:prstGeom>
          <a:noFill/>
          <a:ln/>
        </p:spPr>
        <p:txBody>
          <a:bodyPr wrap="square" rtlCol="0" anchor="ctr"/>
          <a:lstStyle/>
          <a:p>
            <a:pPr indent="0" marL="0">
              <a:buNone/>
            </a:pPr>
            <a:r>
              <a:rPr lang="en-US" sz="2600" dirty="0">
                <a:solidFill>
                  <a:srgbClr val="FF9900"/>
                </a:solidFill>
                <a:latin typeface="Inter" pitchFamily="34" charset="0"/>
                <a:ea typeface="Inter" pitchFamily="34" charset="-122"/>
                <a:cs typeface="Inter" pitchFamily="34" charset="-120"/>
              </a:rPr>
              <a:t>vs. 3-5 engineers × months to build yourself</a:t>
            </a:r>
            <a:endParaRPr lang="en-US" sz="2600" dirty="0"/>
          </a:p>
        </p:txBody>
      </p:sp>
      <p:sp>
        <p:nvSpPr>
          <p:cNvPr id="6" name="Shape 4"/>
          <p:cNvSpPr/>
          <p:nvPr/>
        </p:nvSpPr>
        <p:spPr>
          <a:xfrm>
            <a:off x="914400" y="2286000"/>
            <a:ext cx="10332720" cy="3200400"/>
          </a:xfrm>
          <a:prstGeom prst="roundRect">
            <a:avLst>
              <a:gd name="adj" fmla="val 2857"/>
            </a:avLst>
          </a:prstGeom>
          <a:solidFill>
            <a:srgbClr val="1A1F4E">
              <a:alpha val="70000"/>
            </a:srgbClr>
          </a:solidFill>
          <a:ln w="19050">
            <a:solidFill>
              <a:srgbClr val="4FC3F7"/>
            </a:solidFill>
            <a:prstDash val="solid"/>
          </a:ln>
        </p:spPr>
      </p:sp>
      <p:sp>
        <p:nvSpPr>
          <p:cNvPr id="7" name="Text 5"/>
          <p:cNvSpPr/>
          <p:nvPr/>
        </p:nvSpPr>
        <p:spPr>
          <a:xfrm>
            <a:off x="914400" y="2560320"/>
            <a:ext cx="10332720" cy="1828800"/>
          </a:xfrm>
          <a:prstGeom prst="rect">
            <a:avLst/>
          </a:prstGeom>
          <a:noFill/>
          <a:ln/>
        </p:spPr>
        <p:txBody>
          <a:bodyPr wrap="square" rtlCol="0" anchor="ctr"/>
          <a:lstStyle/>
          <a:p>
            <a:pPr algn="ctr" indent="0" marL="0">
              <a:buNone/>
            </a:pPr>
            <a:r>
              <a:rPr lang="en-US" sz="3200" b="1" dirty="0">
                <a:solidFill>
                  <a:srgbClr val="FFFFFF"/>
                </a:solidFill>
                <a:latin typeface="Inter" pitchFamily="34" charset="0"/>
                <a:ea typeface="Inter" pitchFamily="34" charset="-122"/>
                <a:cs typeface="Inter" pitchFamily="34" charset="-120"/>
              </a:rPr>
              <a:t>Isolation + Security + Observability + Cost</a:t>
            </a:r>
            <a:endParaRPr lang="en-US" sz="3200" dirty="0"/>
          </a:p>
        </p:txBody>
      </p:sp>
      <p:sp>
        <p:nvSpPr>
          <p:cNvPr id="8" name="Text 6"/>
          <p:cNvSpPr/>
          <p:nvPr/>
        </p:nvSpPr>
        <p:spPr>
          <a:xfrm>
            <a:off x="914400" y="4572000"/>
            <a:ext cx="10332720" cy="914400"/>
          </a:xfrm>
          <a:prstGeom prst="rect">
            <a:avLst/>
          </a:prstGeom>
          <a:noFill/>
          <a:ln/>
        </p:spPr>
        <p:txBody>
          <a:bodyPr wrap="square" rtlCol="0" anchor="ctr"/>
          <a:lstStyle/>
          <a:p>
            <a:pPr algn="ctr" indent="0" marL="0">
              <a:buNone/>
            </a:pPr>
            <a:r>
              <a:rPr lang="en-US" sz="2800" dirty="0">
                <a:solidFill>
                  <a:srgbClr val="69F0AE"/>
                </a:solidFill>
                <a:latin typeface="Inter" pitchFamily="34" charset="0"/>
                <a:ea typeface="Inter" pitchFamily="34" charset="-122"/>
                <a:cs typeface="Inter" pitchFamily="34" charset="-120"/>
              </a:rPr>
              <a:t>All built-in. All managed.</a:t>
            </a:r>
            <a:endParaRPr lang="en-US" sz="2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Shape 2"/>
          <p:cNvSpPr/>
          <p:nvPr/>
        </p:nvSpPr>
        <p:spPr>
          <a:xfrm>
            <a:off x="914400" y="2286000"/>
            <a:ext cx="10332720" cy="2743200"/>
          </a:xfrm>
          <a:prstGeom prst="roundRect">
            <a:avLst>
              <a:gd name="adj" fmla="val 3333"/>
            </a:avLst>
          </a:prstGeom>
          <a:solidFill>
            <a:srgbClr val="1A1F4E">
              <a:alpha val="70000"/>
            </a:srgbClr>
          </a:solidFill>
          <a:ln w="19050">
            <a:solidFill>
              <a:srgbClr val="4FC3F7"/>
            </a:solidFill>
            <a:prstDash val="solid"/>
          </a:ln>
        </p:spPr>
      </p:sp>
      <p:sp>
        <p:nvSpPr>
          <p:cNvPr id="5" name="Text 3"/>
          <p:cNvSpPr/>
          <p:nvPr/>
        </p:nvSpPr>
        <p:spPr>
          <a:xfrm>
            <a:off x="1371600" y="2560320"/>
            <a:ext cx="9601200" cy="1371600"/>
          </a:xfrm>
          <a:prstGeom prst="rect">
            <a:avLst/>
          </a:prstGeom>
          <a:noFill/>
          <a:ln/>
        </p:spPr>
        <p:txBody>
          <a:bodyPr wrap="square" rtlCol="0" anchor="ctr"/>
          <a:lstStyle/>
          <a:p>
            <a:pPr indent="0" marL="0">
              <a:buNone/>
            </a:pPr>
            <a:r>
              <a:rPr lang="en-US" sz="3600" dirty="0">
                <a:solidFill>
                  <a:srgbClr val="FFFFFF"/>
                </a:solidFill>
                <a:latin typeface="Inter" pitchFamily="34" charset="0"/>
                <a:ea typeface="Inter" pitchFamily="34" charset="-122"/>
                <a:cs typeface="Inter" pitchFamily="34" charset="-120"/>
              </a:rPr>
              <a:t>✅  Hardware-level isolation</a:t>
            </a:r>
            <a:endParaRPr lang="en-US" sz="3600" dirty="0"/>
          </a:p>
        </p:txBody>
      </p:sp>
      <p:sp>
        <p:nvSpPr>
          <p:cNvPr id="6" name="Text 4"/>
          <p:cNvSpPr/>
          <p:nvPr/>
        </p:nvSpPr>
        <p:spPr>
          <a:xfrm>
            <a:off x="1371600" y="3931920"/>
            <a:ext cx="9601200" cy="914400"/>
          </a:xfrm>
          <a:prstGeom prst="rect">
            <a:avLst/>
          </a:prstGeom>
          <a:noFill/>
          <a:ln/>
        </p:spPr>
        <p:txBody>
          <a:bodyPr wrap="square" rtlCol="0" anchor="ctr"/>
          <a:lstStyle/>
          <a:p>
            <a:pPr indent="0" marL="0">
              <a:buNone/>
            </a:pPr>
            <a:r>
              <a:rPr lang="en-US" sz="2400" dirty="0">
                <a:solidFill>
                  <a:srgbClr val="90CAF9"/>
                </a:solidFill>
                <a:latin typeface="Inter" pitchFamily="34" charset="0"/>
                <a:ea typeface="Inter" pitchFamily="34" charset="-122"/>
                <a:cs typeface="Inter" pitchFamily="34" charset="-120"/>
              </a:rPr>
              <a:t>Firecracker microVMs — not containers</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Shape 2"/>
          <p:cNvSpPr/>
          <p:nvPr/>
        </p:nvSpPr>
        <p:spPr>
          <a:xfrm>
            <a:off x="914400" y="2286000"/>
            <a:ext cx="10332720" cy="2743200"/>
          </a:xfrm>
          <a:prstGeom prst="roundRect">
            <a:avLst>
              <a:gd name="adj" fmla="val 3333"/>
            </a:avLst>
          </a:prstGeom>
          <a:solidFill>
            <a:srgbClr val="1A1F4E">
              <a:alpha val="70000"/>
            </a:srgbClr>
          </a:solidFill>
          <a:ln w="19050">
            <a:solidFill>
              <a:srgbClr val="FF9900"/>
            </a:solidFill>
            <a:prstDash val="solid"/>
          </a:ln>
        </p:spPr>
      </p:sp>
      <p:sp>
        <p:nvSpPr>
          <p:cNvPr id="5" name="Text 3"/>
          <p:cNvSpPr/>
          <p:nvPr/>
        </p:nvSpPr>
        <p:spPr>
          <a:xfrm>
            <a:off x="1371600" y="2560320"/>
            <a:ext cx="9601200" cy="1371600"/>
          </a:xfrm>
          <a:prstGeom prst="rect">
            <a:avLst/>
          </a:prstGeom>
          <a:noFill/>
          <a:ln/>
        </p:spPr>
        <p:txBody>
          <a:bodyPr wrap="square" rtlCol="0" anchor="ctr"/>
          <a:lstStyle/>
          <a:p>
            <a:pPr indent="0" marL="0">
              <a:buNone/>
            </a:pPr>
            <a:r>
              <a:rPr lang="en-US" sz="3600" dirty="0">
                <a:solidFill>
                  <a:srgbClr val="FFFFFF"/>
                </a:solidFill>
                <a:latin typeface="Inter" pitchFamily="34" charset="0"/>
                <a:ea typeface="Inter" pitchFamily="34" charset="-122"/>
                <a:cs typeface="Inter" pitchFamily="34" charset="-120"/>
              </a:rPr>
              <a:t>✅  Identity + Policy + Gateway</a:t>
            </a:r>
            <a:endParaRPr lang="en-US" sz="3600" dirty="0"/>
          </a:p>
        </p:txBody>
      </p:sp>
      <p:sp>
        <p:nvSpPr>
          <p:cNvPr id="6" name="Text 4"/>
          <p:cNvSpPr/>
          <p:nvPr/>
        </p:nvSpPr>
        <p:spPr>
          <a:xfrm>
            <a:off x="1371600" y="3931920"/>
            <a:ext cx="9601200" cy="914400"/>
          </a:xfrm>
          <a:prstGeom prst="rect">
            <a:avLst/>
          </a:prstGeom>
          <a:noFill/>
          <a:ln/>
        </p:spPr>
        <p:txBody>
          <a:bodyPr wrap="square" rtlCol="0" anchor="ctr"/>
          <a:lstStyle/>
          <a:p>
            <a:pPr indent="0" marL="0">
              <a:buNone/>
            </a:pPr>
            <a:r>
              <a:rPr lang="en-US" sz="2400" dirty="0">
                <a:solidFill>
                  <a:srgbClr val="90CAF9"/>
                </a:solidFill>
                <a:latin typeface="Inter" pitchFamily="34" charset="0"/>
                <a:ea typeface="Inter" pitchFamily="34" charset="-122"/>
                <a:cs typeface="Inter" pitchFamily="34" charset="-120"/>
              </a:rPr>
              <a:t>Cedar · STS · Guardrails</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Shape 2"/>
          <p:cNvSpPr/>
          <p:nvPr/>
        </p:nvSpPr>
        <p:spPr>
          <a:xfrm>
            <a:off x="914400" y="2286000"/>
            <a:ext cx="10332720" cy="2743200"/>
          </a:xfrm>
          <a:prstGeom prst="roundRect">
            <a:avLst>
              <a:gd name="adj" fmla="val 3333"/>
            </a:avLst>
          </a:prstGeom>
          <a:solidFill>
            <a:srgbClr val="1A1F4E">
              <a:alpha val="70000"/>
            </a:srgbClr>
          </a:solidFill>
          <a:ln w="19050">
            <a:solidFill>
              <a:srgbClr val="69F0AE"/>
            </a:solidFill>
            <a:prstDash val="solid"/>
          </a:ln>
        </p:spPr>
      </p:sp>
      <p:sp>
        <p:nvSpPr>
          <p:cNvPr id="5" name="Text 3"/>
          <p:cNvSpPr/>
          <p:nvPr/>
        </p:nvSpPr>
        <p:spPr>
          <a:xfrm>
            <a:off x="1371600" y="2560320"/>
            <a:ext cx="9601200" cy="1371600"/>
          </a:xfrm>
          <a:prstGeom prst="rect">
            <a:avLst/>
          </a:prstGeom>
          <a:noFill/>
          <a:ln/>
        </p:spPr>
        <p:txBody>
          <a:bodyPr wrap="square" rtlCol="0" anchor="ctr"/>
          <a:lstStyle/>
          <a:p>
            <a:pPr indent="0" marL="0">
              <a:buNone/>
            </a:pPr>
            <a:r>
              <a:rPr lang="en-US" sz="3600" dirty="0">
                <a:solidFill>
                  <a:srgbClr val="FFFFFF"/>
                </a:solidFill>
                <a:latin typeface="Inter" pitchFamily="34" charset="0"/>
                <a:ea typeface="Inter" pitchFamily="34" charset="-122"/>
                <a:cs typeface="Inter" pitchFamily="34" charset="-120"/>
              </a:rPr>
              <a:t>✅  Pay-per-use, up to 83% savings</a:t>
            </a:r>
            <a:endParaRPr lang="en-US" sz="3600" dirty="0"/>
          </a:p>
        </p:txBody>
      </p:sp>
      <p:sp>
        <p:nvSpPr>
          <p:cNvPr id="6" name="Text 4"/>
          <p:cNvSpPr/>
          <p:nvPr/>
        </p:nvSpPr>
        <p:spPr>
          <a:xfrm>
            <a:off x="1371600" y="3931920"/>
            <a:ext cx="9601200" cy="914400"/>
          </a:xfrm>
          <a:prstGeom prst="rect">
            <a:avLst/>
          </a:prstGeom>
          <a:noFill/>
          <a:ln/>
        </p:spPr>
        <p:txBody>
          <a:bodyPr wrap="square" rtlCol="0" anchor="ctr"/>
          <a:lstStyle/>
          <a:p>
            <a:pPr indent="0" marL="0">
              <a:buNone/>
            </a:pPr>
            <a:r>
              <a:rPr lang="en-US" sz="2400" dirty="0">
                <a:solidFill>
                  <a:srgbClr val="90CAF9"/>
                </a:solidFill>
                <a:latin typeface="Inter" pitchFamily="34" charset="0"/>
                <a:ea typeface="Inter" pitchFamily="34" charset="-122"/>
                <a:cs typeface="Inter" pitchFamily="34" charset="-120"/>
              </a:rPr>
              <a:t>No idle compute · CPU + memory hours</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Shape 2"/>
          <p:cNvSpPr/>
          <p:nvPr/>
        </p:nvSpPr>
        <p:spPr>
          <a:xfrm>
            <a:off x="914400" y="2286000"/>
            <a:ext cx="10332720" cy="2743200"/>
          </a:xfrm>
          <a:prstGeom prst="roundRect">
            <a:avLst>
              <a:gd name="adj" fmla="val 3333"/>
            </a:avLst>
          </a:prstGeom>
          <a:solidFill>
            <a:srgbClr val="1A1F4E">
              <a:alpha val="70000"/>
            </a:srgbClr>
          </a:solidFill>
          <a:ln w="19050">
            <a:solidFill>
              <a:srgbClr val="CE93D8"/>
            </a:solidFill>
            <a:prstDash val="solid"/>
          </a:ln>
        </p:spPr>
      </p:sp>
      <p:sp>
        <p:nvSpPr>
          <p:cNvPr id="5" name="Text 3"/>
          <p:cNvSpPr/>
          <p:nvPr/>
        </p:nvSpPr>
        <p:spPr>
          <a:xfrm>
            <a:off x="1371600" y="2560320"/>
            <a:ext cx="9601200" cy="1371600"/>
          </a:xfrm>
          <a:prstGeom prst="rect">
            <a:avLst/>
          </a:prstGeom>
          <a:noFill/>
          <a:ln/>
        </p:spPr>
        <p:txBody>
          <a:bodyPr wrap="square" rtlCol="0" anchor="ctr"/>
          <a:lstStyle/>
          <a:p>
            <a:pPr indent="0" marL="0">
              <a:buNone/>
            </a:pPr>
            <a:r>
              <a:rPr lang="en-US" sz="3600" dirty="0">
                <a:solidFill>
                  <a:srgbClr val="FFFFFF"/>
                </a:solidFill>
                <a:latin typeface="Inter" pitchFamily="34" charset="0"/>
                <a:ea typeface="Inter" pitchFamily="34" charset="-122"/>
                <a:cs typeface="Inter" pitchFamily="34" charset="-120"/>
              </a:rPr>
              <a:t>✅  Native observability</a:t>
            </a:r>
            <a:endParaRPr lang="en-US" sz="3600" dirty="0"/>
          </a:p>
        </p:txBody>
      </p:sp>
      <p:sp>
        <p:nvSpPr>
          <p:cNvPr id="6" name="Text 4"/>
          <p:cNvSpPr/>
          <p:nvPr/>
        </p:nvSpPr>
        <p:spPr>
          <a:xfrm>
            <a:off x="1371600" y="3931920"/>
            <a:ext cx="9601200" cy="914400"/>
          </a:xfrm>
          <a:prstGeom prst="rect">
            <a:avLst/>
          </a:prstGeom>
          <a:noFill/>
          <a:ln/>
        </p:spPr>
        <p:txBody>
          <a:bodyPr wrap="square" rtlCol="0" anchor="ctr"/>
          <a:lstStyle/>
          <a:p>
            <a:pPr indent="0" marL="0">
              <a:buNone/>
            </a:pPr>
            <a:r>
              <a:rPr lang="en-US" sz="2400" dirty="0">
                <a:solidFill>
                  <a:srgbClr val="90CAF9"/>
                </a:solidFill>
                <a:latin typeface="Inter" pitchFamily="34" charset="0"/>
                <a:ea typeface="Inter" pitchFamily="34" charset="-122"/>
                <a:cs typeface="Inter" pitchFamily="34" charset="-120"/>
              </a:rPr>
              <a:t>End-to-end tracing · Evaluation · Real-time</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Text 2"/>
          <p:cNvSpPr/>
          <p:nvPr/>
        </p:nvSpPr>
        <p:spPr>
          <a:xfrm>
            <a:off x="457200" y="274320"/>
            <a:ext cx="10972800" cy="914400"/>
          </a:xfrm>
          <a:prstGeom prst="rect">
            <a:avLst/>
          </a:prstGeom>
          <a:noFill/>
          <a:ln/>
        </p:spPr>
        <p:txBody>
          <a:bodyPr wrap="square" rtlCol="0" anchor="ctr"/>
          <a:lstStyle/>
          <a:p>
            <a:pPr indent="0" marL="0">
              <a:buNone/>
            </a:pPr>
            <a:r>
              <a:rPr lang="en-US" sz="4000" b="1" dirty="0">
                <a:solidFill>
                  <a:srgbClr val="FFFFFF"/>
                </a:solidFill>
                <a:latin typeface="Montserrat" pitchFamily="34" charset="0"/>
                <a:ea typeface="Montserrat" pitchFamily="34" charset="-122"/>
                <a:cs typeface="Montserrat" pitchFamily="34" charset="-120"/>
              </a:rPr>
              <a:t>What is Next: Multi-Agent Systems</a:t>
            </a:r>
            <a:endParaRPr lang="en-US" sz="4000" dirty="0"/>
          </a:p>
        </p:txBody>
      </p:sp>
      <p:sp>
        <p:nvSpPr>
          <p:cNvPr id="5" name="Shape 3"/>
          <p:cNvSpPr/>
          <p:nvPr/>
        </p:nvSpPr>
        <p:spPr>
          <a:xfrm>
            <a:off x="4114800" y="1371600"/>
            <a:ext cx="3931920" cy="1645920"/>
          </a:xfrm>
          <a:prstGeom prst="roundRect">
            <a:avLst>
              <a:gd name="adj" fmla="val 5556"/>
            </a:avLst>
          </a:prstGeom>
          <a:solidFill>
            <a:srgbClr val="1A1F4E">
              <a:alpha val="70000"/>
            </a:srgbClr>
          </a:solidFill>
          <a:ln w="19050">
            <a:solidFill>
              <a:srgbClr val="FF9900"/>
            </a:solidFill>
            <a:prstDash val="solid"/>
          </a:ln>
        </p:spPr>
      </p:sp>
      <p:sp>
        <p:nvSpPr>
          <p:cNvPr id="6" name="Text 4"/>
          <p:cNvSpPr/>
          <p:nvPr/>
        </p:nvSpPr>
        <p:spPr>
          <a:xfrm>
            <a:off x="4114800" y="1371600"/>
            <a:ext cx="3931920" cy="1645920"/>
          </a:xfrm>
          <a:prstGeom prst="rect">
            <a:avLst/>
          </a:prstGeom>
          <a:noFill/>
          <a:ln/>
        </p:spPr>
        <p:txBody>
          <a:bodyPr wrap="square" rtlCol="0" anchor="ctr"/>
          <a:lstStyle/>
          <a:p>
            <a:pPr algn="ctr" indent="0" marL="0">
              <a:buNone/>
            </a:pPr>
            <a:r>
              <a:rPr lang="en-US" sz="2600" b="1" dirty="0">
                <a:solidFill>
                  <a:srgbClr val="FF9900"/>
                </a:solidFill>
                <a:latin typeface="Inter" pitchFamily="34" charset="0"/>
                <a:ea typeface="Inter" pitchFamily="34" charset="-122"/>
                <a:cs typeface="Inter" pitchFamily="34" charset="-120"/>
              </a:rPr>
              <a:t>Orchestrator</a:t>
            </a:r>
            <a:endParaRPr lang="en-US" sz="2600" dirty="0"/>
          </a:p>
        </p:txBody>
      </p:sp>
      <p:sp>
        <p:nvSpPr>
          <p:cNvPr id="7" name="Shape 5"/>
          <p:cNvSpPr/>
          <p:nvPr/>
        </p:nvSpPr>
        <p:spPr>
          <a:xfrm>
            <a:off x="914400" y="4114800"/>
            <a:ext cx="3200400" cy="1645920"/>
          </a:xfrm>
          <a:prstGeom prst="roundRect">
            <a:avLst>
              <a:gd name="adj" fmla="val 5556"/>
            </a:avLst>
          </a:prstGeom>
          <a:solidFill>
            <a:srgbClr val="1A1F4E">
              <a:alpha val="70000"/>
            </a:srgbClr>
          </a:solidFill>
          <a:ln w="19050">
            <a:solidFill>
              <a:srgbClr val="4FC3F7"/>
            </a:solidFill>
            <a:prstDash val="solid"/>
          </a:ln>
        </p:spPr>
      </p:sp>
      <p:sp>
        <p:nvSpPr>
          <p:cNvPr id="8" name="Text 6"/>
          <p:cNvSpPr/>
          <p:nvPr/>
        </p:nvSpPr>
        <p:spPr>
          <a:xfrm>
            <a:off x="914400" y="4114800"/>
            <a:ext cx="3200400" cy="1645920"/>
          </a:xfrm>
          <a:prstGeom prst="rect">
            <a:avLst/>
          </a:prstGeom>
          <a:noFill/>
          <a:ln/>
        </p:spPr>
        <p:txBody>
          <a:bodyPr wrap="square" rtlCol="0" anchor="ctr"/>
          <a:lstStyle/>
          <a:p>
            <a:pPr algn="ctr" indent="0" marL="0">
              <a:buNone/>
            </a:pPr>
            <a:r>
              <a:rPr lang="en-US" sz="2000" dirty="0">
                <a:solidFill>
                  <a:srgbClr val="FFFFFF"/>
                </a:solidFill>
                <a:latin typeface="Inter" pitchFamily="34" charset="0"/>
                <a:ea typeface="Inter" pitchFamily="34" charset="-122"/>
                <a:cs typeface="Inter" pitchFamily="34" charset="-120"/>
              </a:rPr>
              <a:t>Email</a:t>
            </a:r>
            <a:endParaRPr lang="en-US" sz="2000" dirty="0"/>
          </a:p>
          <a:p>
            <a:pPr algn="ctr" indent="0" marL="0">
              <a:buNone/>
            </a:pPr>
            <a:r>
              <a:rPr lang="en-US" sz="2000" dirty="0">
                <a:solidFill>
                  <a:srgbClr val="FFFFFF"/>
                </a:solidFill>
                <a:latin typeface="Inter" pitchFamily="34" charset="0"/>
                <a:ea typeface="Inter" pitchFamily="34" charset="-122"/>
                <a:cs typeface="Inter" pitchFamily="34" charset="-120"/>
              </a:rPr>
              <a:t>Agent</a:t>
            </a:r>
            <a:endParaRPr lang="en-US" sz="2000" dirty="0"/>
          </a:p>
        </p:txBody>
      </p:sp>
      <p:sp>
        <p:nvSpPr>
          <p:cNvPr id="9" name="Shape 7"/>
          <p:cNvSpPr/>
          <p:nvPr/>
        </p:nvSpPr>
        <p:spPr>
          <a:xfrm>
            <a:off x="4663440" y="4114800"/>
            <a:ext cx="3200400" cy="1645920"/>
          </a:xfrm>
          <a:prstGeom prst="roundRect">
            <a:avLst>
              <a:gd name="adj" fmla="val 5556"/>
            </a:avLst>
          </a:prstGeom>
          <a:solidFill>
            <a:srgbClr val="1A1F4E">
              <a:alpha val="70000"/>
            </a:srgbClr>
          </a:solidFill>
          <a:ln w="19050">
            <a:solidFill>
              <a:srgbClr val="4FC3F7"/>
            </a:solidFill>
            <a:prstDash val="solid"/>
          </a:ln>
        </p:spPr>
      </p:sp>
      <p:sp>
        <p:nvSpPr>
          <p:cNvPr id="10" name="Text 8"/>
          <p:cNvSpPr/>
          <p:nvPr/>
        </p:nvSpPr>
        <p:spPr>
          <a:xfrm>
            <a:off x="4663440" y="4114800"/>
            <a:ext cx="3200400" cy="1645920"/>
          </a:xfrm>
          <a:prstGeom prst="rect">
            <a:avLst/>
          </a:prstGeom>
          <a:noFill/>
          <a:ln/>
        </p:spPr>
        <p:txBody>
          <a:bodyPr wrap="square" rtlCol="0" anchor="ctr"/>
          <a:lstStyle/>
          <a:p>
            <a:pPr algn="ctr" indent="0" marL="0">
              <a:buNone/>
            </a:pPr>
            <a:r>
              <a:rPr lang="en-US" sz="2000" dirty="0">
                <a:solidFill>
                  <a:srgbClr val="FFFFFF"/>
                </a:solidFill>
                <a:latin typeface="Inter" pitchFamily="34" charset="0"/>
                <a:ea typeface="Inter" pitchFamily="34" charset="-122"/>
                <a:cs typeface="Inter" pitchFamily="34" charset="-120"/>
              </a:rPr>
              <a:t>DB Monitor</a:t>
            </a:r>
            <a:endParaRPr lang="en-US" sz="2000" dirty="0"/>
          </a:p>
          <a:p>
            <a:pPr algn="ctr" indent="0" marL="0">
              <a:buNone/>
            </a:pPr>
            <a:r>
              <a:rPr lang="en-US" sz="2000" dirty="0">
                <a:solidFill>
                  <a:srgbClr val="FFFFFF"/>
                </a:solidFill>
                <a:latin typeface="Inter" pitchFamily="34" charset="0"/>
                <a:ea typeface="Inter" pitchFamily="34" charset="-122"/>
                <a:cs typeface="Inter" pitchFamily="34" charset="-120"/>
              </a:rPr>
              <a:t>Agent</a:t>
            </a:r>
            <a:endParaRPr lang="en-US" sz="2000" dirty="0"/>
          </a:p>
        </p:txBody>
      </p:sp>
      <p:sp>
        <p:nvSpPr>
          <p:cNvPr id="11" name="Shape 9"/>
          <p:cNvSpPr/>
          <p:nvPr/>
        </p:nvSpPr>
        <p:spPr>
          <a:xfrm>
            <a:off x="8412480" y="4114800"/>
            <a:ext cx="3200400" cy="1645920"/>
          </a:xfrm>
          <a:prstGeom prst="roundRect">
            <a:avLst>
              <a:gd name="adj" fmla="val 5556"/>
            </a:avLst>
          </a:prstGeom>
          <a:solidFill>
            <a:srgbClr val="1A1F4E">
              <a:alpha val="70000"/>
            </a:srgbClr>
          </a:solidFill>
          <a:ln w="19050">
            <a:solidFill>
              <a:srgbClr val="4FC3F7"/>
            </a:solidFill>
            <a:prstDash val="solid"/>
          </a:ln>
        </p:spPr>
      </p:sp>
      <p:sp>
        <p:nvSpPr>
          <p:cNvPr id="12" name="Text 10"/>
          <p:cNvSpPr/>
          <p:nvPr/>
        </p:nvSpPr>
        <p:spPr>
          <a:xfrm>
            <a:off x="8412480" y="4114800"/>
            <a:ext cx="3200400" cy="1645920"/>
          </a:xfrm>
          <a:prstGeom prst="rect">
            <a:avLst/>
          </a:prstGeom>
          <a:noFill/>
          <a:ln/>
        </p:spPr>
        <p:txBody>
          <a:bodyPr wrap="square" rtlCol="0" anchor="ctr"/>
          <a:lstStyle/>
          <a:p>
            <a:pPr algn="ctr" indent="0" marL="0">
              <a:buNone/>
            </a:pPr>
            <a:r>
              <a:rPr lang="en-US" sz="2000" dirty="0">
                <a:solidFill>
                  <a:srgbClr val="FFFFFF"/>
                </a:solidFill>
                <a:latin typeface="Inter" pitchFamily="34" charset="0"/>
                <a:ea typeface="Inter" pitchFamily="34" charset="-122"/>
                <a:cs typeface="Inter" pitchFamily="34" charset="-120"/>
              </a:rPr>
              <a:t>Report Gen</a:t>
            </a:r>
            <a:endParaRPr lang="en-US" sz="2000" dirty="0"/>
          </a:p>
          <a:p>
            <a:pPr algn="ctr" indent="0" marL="0">
              <a:buNone/>
            </a:pPr>
            <a:r>
              <a:rPr lang="en-US" sz="2000" dirty="0">
                <a:solidFill>
                  <a:srgbClr val="FFFFFF"/>
                </a:solidFill>
                <a:latin typeface="Inter" pitchFamily="34" charset="0"/>
                <a:ea typeface="Inter" pitchFamily="34" charset="-122"/>
                <a:cs typeface="Inter" pitchFamily="34" charset="-120"/>
              </a:rPr>
              <a:t>Agent</a:t>
            </a:r>
            <a:endParaRPr lang="en-US" sz="2000" dirty="0"/>
          </a:p>
        </p:txBody>
      </p:sp>
      <p:sp>
        <p:nvSpPr>
          <p:cNvPr id="13" name="Shape 11"/>
          <p:cNvSpPr/>
          <p:nvPr/>
        </p:nvSpPr>
        <p:spPr>
          <a:xfrm flipH="1">
            <a:off x="2514600" y="3017520"/>
            <a:ext cx="3566160" cy="1097280"/>
          </a:xfrm>
          <a:prstGeom prst="line">
            <a:avLst/>
          </a:prstGeom>
          <a:noFill/>
          <a:ln w="25400">
            <a:solidFill>
              <a:srgbClr val="90CAF9"/>
            </a:solidFill>
            <a:prstDash val="solid"/>
          </a:ln>
        </p:spPr>
      </p:sp>
      <p:sp>
        <p:nvSpPr>
          <p:cNvPr id="14" name="Shape 12"/>
          <p:cNvSpPr/>
          <p:nvPr/>
        </p:nvSpPr>
        <p:spPr>
          <a:xfrm>
            <a:off x="6080760" y="3017520"/>
            <a:ext cx="182880" cy="1097280"/>
          </a:xfrm>
          <a:prstGeom prst="line">
            <a:avLst/>
          </a:prstGeom>
          <a:noFill/>
          <a:ln w="25400">
            <a:solidFill>
              <a:srgbClr val="90CAF9"/>
            </a:solidFill>
            <a:prstDash val="solid"/>
          </a:ln>
        </p:spPr>
      </p:sp>
      <p:sp>
        <p:nvSpPr>
          <p:cNvPr id="15" name="Shape 13"/>
          <p:cNvSpPr/>
          <p:nvPr/>
        </p:nvSpPr>
        <p:spPr>
          <a:xfrm>
            <a:off x="6080760" y="3017520"/>
            <a:ext cx="3931920" cy="1097280"/>
          </a:xfrm>
          <a:prstGeom prst="line">
            <a:avLst/>
          </a:prstGeom>
          <a:noFill/>
          <a:ln w="25400">
            <a:solidFill>
              <a:srgbClr val="90CAF9"/>
            </a:solidFill>
            <a:prstDash val="solid"/>
          </a:ln>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Text 2"/>
          <p:cNvSpPr/>
          <p:nvPr/>
        </p:nvSpPr>
        <p:spPr>
          <a:xfrm>
            <a:off x="457200" y="274320"/>
            <a:ext cx="10972800" cy="914400"/>
          </a:xfrm>
          <a:prstGeom prst="rect">
            <a:avLst/>
          </a:prstGeom>
          <a:noFill/>
          <a:ln/>
        </p:spPr>
        <p:txBody>
          <a:bodyPr wrap="square" rtlCol="0" anchor="ctr"/>
          <a:lstStyle/>
          <a:p>
            <a:pPr indent="0" marL="0">
              <a:buNone/>
            </a:pPr>
            <a:r>
              <a:rPr lang="en-US" sz="4400" b="1" dirty="0">
                <a:solidFill>
                  <a:srgbClr val="FFFFFF"/>
                </a:solidFill>
                <a:latin typeface="Montserrat" pitchFamily="34" charset="0"/>
                <a:ea typeface="Montserrat" pitchFamily="34" charset="-122"/>
                <a:cs typeface="Montserrat" pitchFamily="34" charset="-120"/>
              </a:rPr>
              <a:t>Multi-Agent on AWS</a:t>
            </a:r>
            <a:endParaRPr lang="en-US" sz="4400" dirty="0"/>
          </a:p>
        </p:txBody>
      </p:sp>
      <p:sp>
        <p:nvSpPr>
          <p:cNvPr id="5" name="Text 3"/>
          <p:cNvSpPr/>
          <p:nvPr/>
        </p:nvSpPr>
        <p:spPr>
          <a:xfrm>
            <a:off x="457200" y="1188720"/>
            <a:ext cx="10972800" cy="640080"/>
          </a:xfrm>
          <a:prstGeom prst="rect">
            <a:avLst/>
          </a:prstGeom>
          <a:noFill/>
          <a:ln/>
        </p:spPr>
        <p:txBody>
          <a:bodyPr wrap="square" rtlCol="0" anchor="ctr"/>
          <a:lstStyle/>
          <a:p>
            <a:pPr indent="0" marL="0">
              <a:buNone/>
            </a:pPr>
            <a:r>
              <a:rPr lang="en-US" sz="2600" dirty="0">
                <a:solidFill>
                  <a:srgbClr val="FF9900"/>
                </a:solidFill>
                <a:latin typeface="Inter" pitchFamily="34" charset="0"/>
                <a:ea typeface="Inter" pitchFamily="34" charset="-122"/>
                <a:cs typeface="Inter" pitchFamily="34" charset="-120"/>
              </a:rPr>
              <a:t>Available today</a:t>
            </a:r>
            <a:endParaRPr lang="en-US" sz="2600" dirty="0"/>
          </a:p>
        </p:txBody>
      </p:sp>
      <p:sp>
        <p:nvSpPr>
          <p:cNvPr id="6" name="Shape 4"/>
          <p:cNvSpPr/>
          <p:nvPr/>
        </p:nvSpPr>
        <p:spPr>
          <a:xfrm>
            <a:off x="731520" y="2286000"/>
            <a:ext cx="10515600" cy="1188720"/>
          </a:xfrm>
          <a:prstGeom prst="roundRect">
            <a:avLst>
              <a:gd name="adj" fmla="val 7692"/>
            </a:avLst>
          </a:prstGeom>
          <a:solidFill>
            <a:srgbClr val="1A1F4E">
              <a:alpha val="70000"/>
            </a:srgbClr>
          </a:solidFill>
          <a:ln w="19050">
            <a:solidFill>
              <a:srgbClr val="4FC3F7"/>
            </a:solidFill>
            <a:prstDash val="solid"/>
          </a:ln>
        </p:spPr>
      </p:sp>
      <p:sp>
        <p:nvSpPr>
          <p:cNvPr id="7" name="Text 5"/>
          <p:cNvSpPr/>
          <p:nvPr/>
        </p:nvSpPr>
        <p:spPr>
          <a:xfrm>
            <a:off x="1371600" y="2286000"/>
            <a:ext cx="9601200" cy="1188720"/>
          </a:xfrm>
          <a:prstGeom prst="rect">
            <a:avLst/>
          </a:prstGeom>
          <a:noFill/>
          <a:ln/>
        </p:spPr>
        <p:txBody>
          <a:bodyPr wrap="square" rtlCol="0" anchor="ctr"/>
          <a:lstStyle/>
          <a:p>
            <a:pPr indent="0" marL="0">
              <a:buNone/>
            </a:pPr>
            <a:r>
              <a:rPr lang="en-US" sz="2600" dirty="0">
                <a:solidFill>
                  <a:srgbClr val="FFFFFF"/>
                </a:solidFill>
                <a:latin typeface="Inter" pitchFamily="34" charset="0"/>
                <a:ea typeface="Inter" pitchFamily="34" charset="-122"/>
                <a:cs typeface="Inter" pitchFamily="34" charset="-120"/>
              </a:rPr>
              <a:t>OpenClaw: sessions_spawn()</a:t>
            </a:r>
            <a:endParaRPr lang="en-US" sz="2600" dirty="0"/>
          </a:p>
        </p:txBody>
      </p:sp>
      <p:sp>
        <p:nvSpPr>
          <p:cNvPr id="8" name="Shape 6"/>
          <p:cNvSpPr/>
          <p:nvPr/>
        </p:nvSpPr>
        <p:spPr>
          <a:xfrm>
            <a:off x="731520" y="3749040"/>
            <a:ext cx="10515600" cy="1188720"/>
          </a:xfrm>
          <a:prstGeom prst="roundRect">
            <a:avLst>
              <a:gd name="adj" fmla="val 7692"/>
            </a:avLst>
          </a:prstGeom>
          <a:solidFill>
            <a:srgbClr val="1A1F4E">
              <a:alpha val="70000"/>
            </a:srgbClr>
          </a:solidFill>
          <a:ln w="19050">
            <a:solidFill>
              <a:srgbClr val="FF9900"/>
            </a:solidFill>
            <a:prstDash val="solid"/>
          </a:ln>
        </p:spPr>
      </p:sp>
      <p:sp>
        <p:nvSpPr>
          <p:cNvPr id="9" name="Text 7"/>
          <p:cNvSpPr/>
          <p:nvPr/>
        </p:nvSpPr>
        <p:spPr>
          <a:xfrm>
            <a:off x="1371600" y="3749040"/>
            <a:ext cx="9601200" cy="1188720"/>
          </a:xfrm>
          <a:prstGeom prst="rect">
            <a:avLst/>
          </a:prstGeom>
          <a:noFill/>
          <a:ln/>
        </p:spPr>
        <p:txBody>
          <a:bodyPr wrap="square" rtlCol="0" anchor="ctr"/>
          <a:lstStyle/>
          <a:p>
            <a:pPr indent="0" marL="0">
              <a:buNone/>
            </a:pPr>
            <a:r>
              <a:rPr lang="en-US" sz="2600" dirty="0">
                <a:solidFill>
                  <a:srgbClr val="FFFFFF"/>
                </a:solidFill>
                <a:latin typeface="Inter" pitchFamily="34" charset="0"/>
                <a:ea typeface="Inter" pitchFamily="34" charset="-122"/>
                <a:cs typeface="Inter" pitchFamily="34" charset="-120"/>
              </a:rPr>
              <a:t>AgentCore: Supervisor → sub-agents</a:t>
            </a:r>
            <a:endParaRPr lang="en-US" sz="2600" dirty="0"/>
          </a:p>
        </p:txBody>
      </p:sp>
      <p:sp>
        <p:nvSpPr>
          <p:cNvPr id="10" name="Shape 8"/>
          <p:cNvSpPr/>
          <p:nvPr/>
        </p:nvSpPr>
        <p:spPr>
          <a:xfrm>
            <a:off x="731520" y="5212080"/>
            <a:ext cx="10515600" cy="1188720"/>
          </a:xfrm>
          <a:prstGeom prst="roundRect">
            <a:avLst>
              <a:gd name="adj" fmla="val 7692"/>
            </a:avLst>
          </a:prstGeom>
          <a:solidFill>
            <a:srgbClr val="1A1F4E">
              <a:alpha val="70000"/>
            </a:srgbClr>
          </a:solidFill>
          <a:ln w="19050">
            <a:solidFill>
              <a:srgbClr val="69F0AE"/>
            </a:solidFill>
            <a:prstDash val="solid"/>
          </a:ln>
        </p:spPr>
      </p:sp>
      <p:sp>
        <p:nvSpPr>
          <p:cNvPr id="11" name="Text 9"/>
          <p:cNvSpPr/>
          <p:nvPr/>
        </p:nvSpPr>
        <p:spPr>
          <a:xfrm>
            <a:off x="1371600" y="5212080"/>
            <a:ext cx="9601200" cy="1188720"/>
          </a:xfrm>
          <a:prstGeom prst="rect">
            <a:avLst/>
          </a:prstGeom>
          <a:noFill/>
          <a:ln/>
        </p:spPr>
        <p:txBody>
          <a:bodyPr wrap="square" rtlCol="0" anchor="ctr"/>
          <a:lstStyle/>
          <a:p>
            <a:pPr indent="0" marL="0">
              <a:buNone/>
            </a:pPr>
            <a:r>
              <a:rPr lang="en-US" sz="2600" dirty="0">
                <a:solidFill>
                  <a:srgbClr val="FFFFFF"/>
                </a:solidFill>
                <a:latin typeface="Inter" pitchFamily="34" charset="0"/>
                <a:ea typeface="Inter" pitchFamily="34" charset="-122"/>
                <a:cs typeface="Inter" pitchFamily="34" charset="-120"/>
              </a:rPr>
              <a:t>Strands SDK: Python decorators</a:t>
            </a:r>
            <a:endParaRPr lang="en-US" sz="2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Text 2"/>
          <p:cNvSpPr/>
          <p:nvPr/>
        </p:nvSpPr>
        <p:spPr>
          <a:xfrm>
            <a:off x="731520" y="274320"/>
            <a:ext cx="8229600" cy="914400"/>
          </a:xfrm>
          <a:prstGeom prst="rect">
            <a:avLst/>
          </a:prstGeom>
          <a:noFill/>
          <a:ln/>
        </p:spPr>
        <p:txBody>
          <a:bodyPr wrap="square" rtlCol="0" anchor="ctr"/>
          <a:lstStyle/>
          <a:p>
            <a:pPr indent="0" marL="0">
              <a:buNone/>
            </a:pPr>
            <a:r>
              <a:rPr lang="en-US" sz="4000" b="1" dirty="0">
                <a:solidFill>
                  <a:srgbClr val="FFFFFF"/>
                </a:solidFill>
                <a:latin typeface="Montserrat" pitchFamily="34" charset="0"/>
                <a:ea typeface="Montserrat" pitchFamily="34" charset="-122"/>
                <a:cs typeface="Montserrat" pitchFamily="34" charset="-120"/>
              </a:rPr>
              <a:t>Resources &amp; Next Steps</a:t>
            </a:r>
            <a:endParaRPr lang="en-US" sz="4000" dirty="0"/>
          </a:p>
        </p:txBody>
      </p:sp>
      <p:pic>
        <p:nvPicPr>
          <p:cNvPr id="5" name="Image 0" descr="/Users/jatimeh/.quickwork/profiles/federate-prod/sessions/c39c4166-83a9-487d-8762-1c00c7669296/workspace/artifacts/qr_ec2_repo.png">    </p:cNvPr>
          <p:cNvPicPr>
            <a:picLocks noChangeAspect="1"/>
          </p:cNvPicPr>
          <p:nvPr/>
        </p:nvPicPr>
        <p:blipFill>
          <a:blip r:embed="rId1"/>
          <a:stretch>
            <a:fillRect/>
          </a:stretch>
        </p:blipFill>
        <p:spPr>
          <a:xfrm>
            <a:off x="9601200" y="1371600"/>
            <a:ext cx="1828800" cy="1828800"/>
          </a:xfrm>
          <a:prstGeom prst="rect">
            <a:avLst/>
          </a:prstGeom>
        </p:spPr>
      </p:pic>
      <p:sp>
        <p:nvSpPr>
          <p:cNvPr id="6" name="Text 3"/>
          <p:cNvSpPr/>
          <p:nvPr/>
        </p:nvSpPr>
        <p:spPr>
          <a:xfrm>
            <a:off x="9601200" y="1005840"/>
            <a:ext cx="1828800" cy="365760"/>
          </a:xfrm>
          <a:prstGeom prst="rect">
            <a:avLst/>
          </a:prstGeom>
          <a:noFill/>
          <a:ln/>
        </p:spPr>
        <p:txBody>
          <a:bodyPr wrap="square" rtlCol="0" anchor="ctr"/>
          <a:lstStyle/>
          <a:p>
            <a:pPr algn="ctr" indent="0" marL="0">
              <a:buNone/>
            </a:pPr>
            <a:r>
              <a:rPr lang="en-US" sz="1400" dirty="0">
                <a:solidFill>
                  <a:srgbClr val="90CAF9"/>
                </a:solidFill>
                <a:latin typeface="Inter" pitchFamily="34" charset="0"/>
                <a:ea typeface="Inter" pitchFamily="34" charset="-122"/>
                <a:cs typeface="Inter" pitchFamily="34" charset="-120"/>
              </a:rPr>
              <a:t>EC2 repo</a:t>
            </a:r>
            <a:endParaRPr lang="en-US" sz="1400" dirty="0"/>
          </a:p>
        </p:txBody>
      </p:sp>
      <p:sp>
        <p:nvSpPr>
          <p:cNvPr id="7" name="Text 4"/>
          <p:cNvSpPr/>
          <p:nvPr/>
        </p:nvSpPr>
        <p:spPr>
          <a:xfrm>
            <a:off x="1097280" y="1645920"/>
            <a:ext cx="7772400" cy="1097280"/>
          </a:xfrm>
          <a:prstGeom prst="rect">
            <a:avLst/>
          </a:prstGeom>
          <a:noFill/>
          <a:ln/>
        </p:spPr>
        <p:txBody>
          <a:bodyPr wrap="square" rtlCol="0" anchor="ctr"/>
          <a:lstStyle/>
          <a:p>
            <a:pPr indent="0" marL="0">
              <a:lnSpc>
                <a:spcPts val="3200"/>
              </a:lnSpc>
              <a:buNone/>
            </a:pPr>
            <a:r>
              <a:rPr lang="en-US" sz="2200" dirty="0">
                <a:solidFill>
                  <a:srgbClr val="FF9900"/>
                </a:solidFill>
                <a:latin typeface="Inter" pitchFamily="34" charset="0"/>
                <a:ea typeface="Inter" pitchFamily="34" charset="-122"/>
                <a:cs typeface="Inter" pitchFamily="34" charset="-120"/>
              </a:rPr>
              <a:t>github.com/aws-samples/</a:t>
            </a:r>
            <a:endParaRPr lang="en-US" sz="2200" dirty="0"/>
          </a:p>
          <a:p>
            <a:pPr indent="0" marL="0">
              <a:lnSpc>
                <a:spcPts val="3200"/>
              </a:lnSpc>
              <a:buNone/>
            </a:pPr>
            <a:r>
              <a:rPr lang="en-US" sz="2200" dirty="0">
                <a:solidFill>
                  <a:srgbClr val="FF9900"/>
                </a:solidFill>
                <a:latin typeface="Inter" pitchFamily="34" charset="0"/>
                <a:ea typeface="Inter" pitchFamily="34" charset="-122"/>
                <a:cs typeface="Inter" pitchFamily="34" charset="-120"/>
              </a:rPr>
              <a:t>sample-OpenClaw-on-AWS-with-Bedrock</a:t>
            </a:r>
            <a:endParaRPr lang="en-US" sz="2200" dirty="0"/>
          </a:p>
        </p:txBody>
      </p:sp>
      <p:sp>
        <p:nvSpPr>
          <p:cNvPr id="8" name="Text 5"/>
          <p:cNvSpPr/>
          <p:nvPr/>
        </p:nvSpPr>
        <p:spPr>
          <a:xfrm>
            <a:off x="1097280" y="4114800"/>
            <a:ext cx="7772400" cy="1097280"/>
          </a:xfrm>
          <a:prstGeom prst="rect">
            <a:avLst/>
          </a:prstGeom>
          <a:noFill/>
          <a:ln/>
        </p:spPr>
        <p:txBody>
          <a:bodyPr wrap="square" rtlCol="0" anchor="ctr"/>
          <a:lstStyle/>
          <a:p>
            <a:pPr indent="0" marL="0">
              <a:lnSpc>
                <a:spcPts val="3200"/>
              </a:lnSpc>
              <a:buNone/>
            </a:pPr>
            <a:r>
              <a:rPr lang="en-US" sz="2200" dirty="0">
                <a:solidFill>
                  <a:srgbClr val="FF9900"/>
                </a:solidFill>
                <a:latin typeface="Inter" pitchFamily="34" charset="0"/>
                <a:ea typeface="Inter" pitchFamily="34" charset="-122"/>
                <a:cs typeface="Inter" pitchFamily="34" charset="-120"/>
              </a:rPr>
              <a:t>github.com/aws-samples/</a:t>
            </a:r>
            <a:endParaRPr lang="en-US" sz="2200" dirty="0"/>
          </a:p>
          <a:p>
            <a:pPr indent="0" marL="0">
              <a:lnSpc>
                <a:spcPts val="3200"/>
              </a:lnSpc>
              <a:buNone/>
            </a:pPr>
            <a:r>
              <a:rPr lang="en-US" sz="2200" dirty="0">
                <a:solidFill>
                  <a:srgbClr val="FF9900"/>
                </a:solidFill>
                <a:latin typeface="Inter" pitchFamily="34" charset="0"/>
                <a:ea typeface="Inter" pitchFamily="34" charset="-122"/>
                <a:cs typeface="Inter" pitchFamily="34" charset="-120"/>
              </a:rPr>
              <a:t>sample-host-openclaw-on-amazon-bedrock-agentcore</a:t>
            </a:r>
            <a:endParaRPr lang="en-US" sz="2200" dirty="0"/>
          </a:p>
        </p:txBody>
      </p:sp>
      <p:sp>
        <p:nvSpPr>
          <p:cNvPr id="9" name="Text 6"/>
          <p:cNvSpPr/>
          <p:nvPr/>
        </p:nvSpPr>
        <p:spPr>
          <a:xfrm>
            <a:off x="9601200" y="4023360"/>
            <a:ext cx="1828800" cy="365760"/>
          </a:xfrm>
          <a:prstGeom prst="rect">
            <a:avLst/>
          </a:prstGeom>
          <a:noFill/>
          <a:ln/>
        </p:spPr>
        <p:txBody>
          <a:bodyPr wrap="square" rtlCol="0" anchor="ctr"/>
          <a:lstStyle/>
          <a:p>
            <a:pPr algn="ctr" indent="0" marL="0">
              <a:buNone/>
            </a:pPr>
            <a:r>
              <a:rPr lang="en-US" sz="1400" dirty="0">
                <a:solidFill>
                  <a:srgbClr val="90CAF9"/>
                </a:solidFill>
                <a:latin typeface="Inter" pitchFamily="34" charset="0"/>
                <a:ea typeface="Inter" pitchFamily="34" charset="-122"/>
                <a:cs typeface="Inter" pitchFamily="34" charset="-120"/>
              </a:rPr>
              <a:t>AgentCore repo</a:t>
            </a:r>
            <a:endParaRPr lang="en-US" sz="1400" dirty="0"/>
          </a:p>
        </p:txBody>
      </p:sp>
      <p:pic>
        <p:nvPicPr>
          <p:cNvPr id="10" name="Image 1" descr="/Users/jatimeh/.quickwork/profiles/federate-prod/sessions/c39c4166-83a9-487d-8762-1c00c7669296/workspace/artifacts/qr_agentcore_repo.png">    </p:cNvPr>
          <p:cNvPicPr>
            <a:picLocks noChangeAspect="1"/>
          </p:cNvPicPr>
          <p:nvPr/>
        </p:nvPicPr>
        <p:blipFill>
          <a:blip r:embed="rId2"/>
          <a:stretch>
            <a:fillRect/>
          </a:stretch>
        </p:blipFill>
        <p:spPr>
          <a:xfrm>
            <a:off x="9601200" y="4389120"/>
            <a:ext cx="1828800" cy="18288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0E27"/>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1A237E">
              <a:alpha val="40000"/>
            </a:srgbClr>
          </a:solidFill>
          <a:ln/>
        </p:spPr>
      </p:sp>
      <p:sp>
        <p:nvSpPr>
          <p:cNvPr id="3" name="Shape 1"/>
          <p:cNvSpPr/>
          <p:nvPr/>
        </p:nvSpPr>
        <p:spPr>
          <a:xfrm>
            <a:off x="7315200" y="2743200"/>
            <a:ext cx="7315200" cy="7315200"/>
          </a:xfrm>
          <a:prstGeom prst="ellipse">
            <a:avLst/>
          </a:prstGeom>
          <a:solidFill>
            <a:srgbClr val="4A148C">
              <a:alpha val="30000"/>
            </a:srgbClr>
          </a:solidFill>
          <a:ln/>
        </p:spPr>
      </p:sp>
      <p:sp>
        <p:nvSpPr>
          <p:cNvPr id="4" name="Shape 2"/>
          <p:cNvSpPr/>
          <p:nvPr/>
        </p:nvSpPr>
        <p:spPr>
          <a:xfrm>
            <a:off x="4251960" y="914400"/>
            <a:ext cx="3657600" cy="3657600"/>
          </a:xfrm>
          <a:prstGeom prst="ellipse">
            <a:avLst/>
          </a:prstGeom>
          <a:solidFill>
            <a:srgbClr val="0A0E27">
              <a:alpha val="0"/>
            </a:srgbClr>
          </a:solidFill>
          <a:ln w="50800">
            <a:solidFill>
              <a:srgbClr val="FF9900"/>
            </a:solidFill>
            <a:prstDash val="solid"/>
          </a:ln>
        </p:spPr>
      </p:sp>
      <p:sp>
        <p:nvSpPr>
          <p:cNvPr id="5" name="Text 3"/>
          <p:cNvSpPr/>
          <p:nvPr/>
        </p:nvSpPr>
        <p:spPr>
          <a:xfrm>
            <a:off x="4251960" y="914400"/>
            <a:ext cx="3657600" cy="3657600"/>
          </a:xfrm>
          <a:prstGeom prst="rect">
            <a:avLst/>
          </a:prstGeom>
          <a:noFill/>
          <a:ln/>
        </p:spPr>
        <p:txBody>
          <a:bodyPr wrap="square" rtlCol="0" anchor="ctr"/>
          <a:lstStyle/>
          <a:p>
            <a:pPr algn="ctr" indent="0" marL="0">
              <a:buNone/>
            </a:pPr>
            <a:r>
              <a:rPr lang="en-US" sz="7200" b="1" dirty="0">
                <a:solidFill>
                  <a:srgbClr val="FFFFFF"/>
                </a:solidFill>
                <a:latin typeface="Montserrat" pitchFamily="34" charset="0"/>
                <a:ea typeface="Montserrat" pitchFamily="34" charset="-122"/>
                <a:cs typeface="Montserrat" pitchFamily="34" charset="-120"/>
              </a:rPr>
              <a:t>Q&amp;A</a:t>
            </a:r>
            <a:endParaRPr lang="en-US" sz="7200" dirty="0"/>
          </a:p>
        </p:txBody>
      </p:sp>
      <p:sp>
        <p:nvSpPr>
          <p:cNvPr id="6" name="Text 4"/>
          <p:cNvSpPr/>
          <p:nvPr/>
        </p:nvSpPr>
        <p:spPr>
          <a:xfrm>
            <a:off x="2743200" y="4846320"/>
            <a:ext cx="6675120" cy="731520"/>
          </a:xfrm>
          <a:prstGeom prst="rect">
            <a:avLst/>
          </a:prstGeom>
          <a:noFill/>
          <a:ln/>
        </p:spPr>
        <p:txBody>
          <a:bodyPr wrap="square" rtlCol="0" anchor="ctr"/>
          <a:lstStyle/>
          <a:p>
            <a:pPr algn="ctr" indent="0" marL="0">
              <a:buNone/>
            </a:pPr>
            <a:r>
              <a:rPr lang="en-US" sz="2800" dirty="0">
                <a:solidFill>
                  <a:srgbClr val="90CAF9"/>
                </a:solidFill>
                <a:latin typeface="Inter" pitchFamily="34" charset="0"/>
                <a:ea typeface="Inter" pitchFamily="34" charset="-122"/>
                <a:cs typeface="Inter" pitchFamily="34" charset="-120"/>
              </a:rPr>
              <a:t>Let's discuss!</a:t>
            </a:r>
            <a:endParaRPr lang="en-US" sz="2800" dirty="0"/>
          </a:p>
        </p:txBody>
      </p:sp>
      <p:sp>
        <p:nvSpPr>
          <p:cNvPr id="7" name="Shape 5"/>
          <p:cNvSpPr/>
          <p:nvPr/>
        </p:nvSpPr>
        <p:spPr>
          <a:xfrm>
            <a:off x="0" y="6217920"/>
            <a:ext cx="12161520" cy="640080"/>
          </a:xfrm>
          <a:prstGeom prst="rect">
            <a:avLst/>
          </a:prstGeom>
          <a:solidFill>
            <a:srgbClr val="FF9900"/>
          </a:solidFill>
          <a:ln/>
        </p:spPr>
      </p:sp>
      <p:sp>
        <p:nvSpPr>
          <p:cNvPr id="8" name="Text 6"/>
          <p:cNvSpPr/>
          <p:nvPr/>
        </p:nvSpPr>
        <p:spPr>
          <a:xfrm>
            <a:off x="2286000" y="6263640"/>
            <a:ext cx="7589520" cy="502920"/>
          </a:xfrm>
          <a:prstGeom prst="rect">
            <a:avLst/>
          </a:prstGeom>
          <a:noFill/>
          <a:ln/>
        </p:spPr>
        <p:txBody>
          <a:bodyPr wrap="square" rtlCol="0" anchor="ctr"/>
          <a:lstStyle/>
          <a:p>
            <a:pPr algn="ctr" indent="0" marL="0">
              <a:buNone/>
            </a:pPr>
            <a:r>
              <a:rPr lang="en-US" sz="1800" dirty="0">
                <a:solidFill>
                  <a:srgbClr val="0A0E27"/>
                </a:solidFill>
                <a:latin typeface="Inter" pitchFamily="34" charset="0"/>
                <a:ea typeface="Inter" pitchFamily="34" charset="-122"/>
                <a:cs typeface="Inter" pitchFamily="34" charset="-120"/>
              </a:rPr>
              <a:t>Developer Advocate, AWS</a:t>
            </a:r>
            <a:endParaRPr lang="en-US" sz="1800" dirty="0"/>
          </a:p>
        </p:txBody>
      </p:sp>
      <p:sp>
        <p:nvSpPr>
          <p:cNvPr id="9" name="Text 7"/>
          <p:cNvSpPr/>
          <p:nvPr/>
        </p:nvSpPr>
        <p:spPr>
          <a:xfrm>
            <a:off x="9418320" y="3749040"/>
            <a:ext cx="2011680" cy="365760"/>
          </a:xfrm>
          <a:prstGeom prst="rect">
            <a:avLst/>
          </a:prstGeom>
          <a:noFill/>
          <a:ln/>
        </p:spPr>
        <p:txBody>
          <a:bodyPr wrap="square" rtlCol="0" anchor="ctr"/>
          <a:lstStyle/>
          <a:p>
            <a:pPr algn="ctr" indent="0" marL="0">
              <a:buNone/>
            </a:pPr>
            <a:r>
              <a:rPr lang="en-US" sz="1600" dirty="0">
                <a:solidFill>
                  <a:srgbClr val="90CAF9"/>
                </a:solidFill>
                <a:latin typeface="Inter" pitchFamily="34" charset="0"/>
                <a:ea typeface="Inter" pitchFamily="34" charset="-122"/>
                <a:cs typeface="Inter" pitchFamily="34" charset="-120"/>
              </a:rPr>
              <a:t>LinkedIn</a:t>
            </a:r>
            <a:endParaRPr lang="en-US" sz="1600" dirty="0"/>
          </a:p>
        </p:txBody>
      </p:sp>
      <p:pic>
        <p:nvPicPr>
          <p:cNvPr id="10" name="Image 0" descr="/Users/jatimeh/.quickwork/profiles/federate-prod/sessions/c39c4166-83a9-487d-8762-1c00c7669296/workspace/artifacts/qr_linkedin.png">    </p:cNvPr>
          <p:cNvPicPr>
            <a:picLocks noChangeAspect="1"/>
          </p:cNvPicPr>
          <p:nvPr/>
        </p:nvPicPr>
        <p:blipFill>
          <a:blip r:embed="rId1"/>
          <a:stretch>
            <a:fillRect/>
          </a:stretch>
        </p:blipFill>
        <p:spPr>
          <a:xfrm>
            <a:off x="9418320" y="4114800"/>
            <a:ext cx="2011680" cy="20116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and Building Production-Ready Agents with OpenClaw on AWS</dc:title>
  <dc:subject>PptxGenJS Presentation</dc:subject>
  <dc:creator>Jatin Mehrotra</dc:creator>
  <cp:lastModifiedBy>Jatin Mehrotra</cp:lastModifiedBy>
  <cp:revision>1</cp:revision>
  <dcterms:created xsi:type="dcterms:W3CDTF">2026-06-07T05:49:08Z</dcterms:created>
  <dcterms:modified xsi:type="dcterms:W3CDTF">2026-06-07T05:49:08Z</dcterms:modified>
</cp:coreProperties>
</file>