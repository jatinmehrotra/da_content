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4389120"/>
            <a:ext cx="9034272" cy="0"/>
          </a:xfrm>
          <a:prstGeom prst="line">
            <a:avLst/>
          </a:prstGeom>
          <a:noFill/>
          <a:ln w="6350">
            <a:solidFill>
              <a:srgbClr val="1A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Built an MCP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What?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Path from Prototype to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Jatin Mehrotra &amp; Varsha 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Developer Advocates, AWS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663440" y="640080"/>
            <a:ext cx="4114800" cy="3931920"/>
          </a:xfrm>
          <a:prstGeom prst="roundRect">
            <a:avLst>
              <a:gd name="adj" fmla="val 1395"/>
            </a:avLst>
          </a:prstGeom>
          <a:solidFill>
            <a:srgbClr val="0A1219"/>
          </a:solidFill>
          <a:ln w="12700">
            <a:solidFill>
              <a:srgbClr val="1A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777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Magic Moment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first MCP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just works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decorators, stdio transport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Cursor / Claude / Kiro sees your tools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Show of hands: who has built one?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74904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mcp.server import FastMCP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= FastMCP('my-tools')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@mcp.tool()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search_docs(query: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"""Search docs."""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results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45920"/>
            <a:ext cx="36576" cy="1828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keep your hand up if it's running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production, serving your team...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 That gap is what we'll bridge today.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Changes When You Leave localhost?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" cy="16459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6" name="Image 0" descr="icon_sw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stdio → Streamable HTTP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097280"/>
            <a:ext cx="36576" cy="16459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1" name="Image 1" descr="icon_sec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trust-everyone → verify-everything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15" name="Shape 11"/>
          <p:cNvSpPr/>
          <p:nvPr/>
        </p:nvSpPr>
        <p:spPr>
          <a:xfrm>
            <a:off x="365760" y="3017520"/>
            <a:ext cx="36576" cy="16459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6" name="Image 2" descr="icon_peopl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Concurrency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single-user → multi-session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20" name="Shape 15"/>
          <p:cNvSpPr/>
          <p:nvPr/>
        </p:nvSpPr>
        <p:spPr>
          <a:xfrm>
            <a:off x="4663440" y="3017520"/>
            <a:ext cx="36576" cy="16459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1" name="Image 3" descr="icon_vi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776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print() → distributed traces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Transport: From stdio to Remote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128016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1A2A3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468880"/>
            <a:ext cx="822960" cy="54864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stdio transport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machine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Just you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Streamable HTTP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Remote network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is elsewhere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Many callers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Identity: Who's Calling Your Server?</a:t>
            </a:r>
            <a:endParaRPr lang="en-US" sz="1800" dirty="0"/>
          </a:p>
        </p:txBody>
      </p:sp>
      <p:pic>
        <p:nvPicPr>
          <p:cNvPr id="4" name="Image 0" descr="icon_lo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6240" y="18288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1A2A38"/>
          </a:solidFill>
          <a:ln/>
        </p:spPr>
      </p:sp>
      <p:sp>
        <p:nvSpPr>
          <p:cNvPr id="6" name="Shape 3"/>
          <p:cNvSpPr/>
          <p:nvPr/>
        </p:nvSpPr>
        <p:spPr>
          <a:xfrm>
            <a:off x="3383280" y="182880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1A2A38"/>
          </a:solidFill>
          <a:ln/>
        </p:spPr>
      </p:sp>
      <p:sp>
        <p:nvSpPr>
          <p:cNvPr id="7" name="Shape 4"/>
          <p:cNvSpPr/>
          <p:nvPr/>
        </p:nvSpPr>
        <p:spPr>
          <a:xfrm>
            <a:off x="6126480" y="182880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1A2A38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28600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9" name="Shape 6"/>
          <p:cNvSpPr/>
          <p:nvPr/>
        </p:nvSpPr>
        <p:spPr>
          <a:xfrm>
            <a:off x="5577840" y="228600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11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Agent/User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OAuth / IAM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2011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verified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Sessions: Many Users, One Server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377440" cy="3291840"/>
          </a:xfrm>
          <a:prstGeom prst="roundRect">
            <a:avLst>
              <a:gd name="adj" fmla="val 2308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280160"/>
            <a:ext cx="2377440" cy="3291840"/>
          </a:xfrm>
          <a:prstGeom prst="roundRect">
            <a:avLst>
              <a:gd name="adj" fmla="val 2308"/>
            </a:avLst>
          </a:prstGeom>
          <a:solidFill>
            <a:srgbClr val="1A2A38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280160"/>
            <a:ext cx="2377440" cy="3291840"/>
          </a:xfrm>
          <a:prstGeom prst="roundRect">
            <a:avLst>
              <a:gd name="adj" fmla="val 2308"/>
            </a:avLst>
          </a:prstGeom>
          <a:solidFill>
            <a:srgbClr val="1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23774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280160"/>
            <a:ext cx="237744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1280160"/>
            <a:ext cx="23774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session_a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96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session_b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session_c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isolation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data leaks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between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boundary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Observability: When Things Go Wrong at 2 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12801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371600"/>
            <a:ext cx="5486400" cy="320040"/>
          </a:xfrm>
          <a:prstGeom prst="roundRect">
            <a:avLst>
              <a:gd name="adj" fmla="val 11429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agent_invoke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1A2A38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103120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search_docs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74320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1A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283464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get_oncall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1A2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0240" y="356616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F4433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create_inc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traces &gt; print()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Paths to Production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oundRect">
            <a:avLst>
              <a:gd name="adj" fmla="val 1579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1579"/>
            </a:avLst>
          </a:prstGeom>
          <a:solidFill>
            <a:srgbClr val="1A2A38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PATH_A: self_host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Containers &amp; Dockerfiles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Kubernetes / ECS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Load Balancers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DIY Auth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DIY tracing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Scaling policies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PATH_B: managed_runtime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Deploy your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auth: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scaling: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tracing: handled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sessions: handled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we walk this path today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 Managed Runtime?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82880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82880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237744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237744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your_code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auth|scale|trace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auto-discovers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MCP protocol handles discovery — no manual schemas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2A38"/>
            </a:solidFill>
            <a:prstDash val="solid"/>
          </a:ln>
        </p:spPr>
      </p:sp>
      <p:pic>
        <p:nvPicPr>
          <p:cNvPr id="4" name="Image 0" descr="icon_term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TIME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deploy --from localhost --to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Step 1: The Server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931920"/>
          </a:xfrm>
          <a:prstGeom prst="roundRect">
            <a:avLst>
              <a:gd name="adj" fmla="val 1395"/>
            </a:avLst>
          </a:prstGeom>
          <a:solidFill>
            <a:srgbClr val="0A1219"/>
          </a:solidFill>
          <a:ln w="10160">
            <a:solidFill>
              <a:srgbClr val="1A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mcp.server.fastmcp import FastMCP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= FastMCP('team-tools')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search_docs(query: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"""Search team docs."""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fake_search(query)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get_oncall(team: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"""Find on-call."""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lookup_oncall(team)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@mcp.tool()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create_incident(title, sev):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"""Create incident."""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create_ticket(title, sev)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3 tools | ~30 lines | pure MCP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Step 2: Package &amp; Deploy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560320"/>
          </a:xfrm>
          <a:prstGeom prst="roundRect">
            <a:avLst>
              <a:gd name="adj" fmla="val 2143"/>
            </a:avLst>
          </a:prstGeom>
          <a:solidFill>
            <a:srgbClr val="0A1219"/>
          </a:solidFill>
          <a:ln w="10160">
            <a:solidFill>
              <a:srgbClr val="1A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zip mcp-server.zip server.py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aws s3 cp mcp-server.zip s3://my-bucket/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aws bedrock-agentcore create-tool-runtime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--name "team-tools" --protocol MCP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--source-uri s3://my-bucket/mcp-server.zip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3657600"/>
            <a:ext cx="3291840" cy="548640"/>
          </a:xfrm>
          <a:prstGeom prst="roundRect">
            <a:avLst>
              <a:gd name="adj" fmla="val 6667"/>
            </a:avLst>
          </a:prstGeom>
          <a:solidFill>
            <a:srgbClr val="1A2A3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status: ACTIVE 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no Dockerfile | no K8s | no LB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Step 3: Agent Discovers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645920"/>
            <a:ext cx="237744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645920"/>
            <a:ext cx="2377440" cy="1645920"/>
          </a:xfrm>
          <a:prstGeom prst="roundRect">
            <a:avLst>
              <a:gd name="adj" fmla="val 3333"/>
            </a:avLst>
          </a:prstGeom>
          <a:solidFill>
            <a:srgbClr val="1A2A3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219456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2194560"/>
            <a:ext cx="548640" cy="365760"/>
          </a:xfrm>
          <a:prstGeom prst="rightArrow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tools/list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discovered!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tools ready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zero manual schema | add tool → redeploy → auto-discovered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Step 4: Multi-Tool in Action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663440" cy="3931920"/>
          </a:xfrm>
          <a:prstGeom prst="roundRect">
            <a:avLst>
              <a:gd name="adj" fmla="val 1395"/>
            </a:avLst>
          </a:prstGeom>
          <a:solidFill>
            <a:srgbClr val="1A2A38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822960"/>
            <a:ext cx="3749040" cy="3931920"/>
          </a:xfrm>
          <a:prstGeom prst="roundRect">
            <a:avLst>
              <a:gd name="adj" fmla="val 1463"/>
            </a:avLst>
          </a:prstGeom>
          <a:solidFill>
            <a:srgbClr val="0A1219"/>
          </a:solidFill>
          <a:ln w="10160">
            <a:solidFill>
              <a:srgbClr val="1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29768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user: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"Payment service erroring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 docs, check on-call, create incident"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agent: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search_docs()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get_oncall()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create_incident()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=&gt; INC-4521 created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1280160"/>
            <a:ext cx="3200400" cy="36576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82880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237744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81C78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292608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A5D6A7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invoke 254ms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 120ms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oncall 45ms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incident 89ms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3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Step 5: The Safety Net</a:t>
            </a:r>
            <a:endParaRPr lang="en-US" sz="1600" dirty="0"/>
          </a:p>
        </p:txBody>
      </p:sp>
      <p:pic>
        <p:nvPicPr>
          <p:cNvPr id="4" name="Image 0" descr="icon_b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0" y="64008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21031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A2A38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03120" y="2286000"/>
            <a:ext cx="493776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user: "Delete all incidents"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43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[BLOCKED] guardrail: destructive_ops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policy: deny write without approval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= boundaries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Just Did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3200400"/>
          </a:xfrm>
          <a:prstGeom prst="roundRect">
            <a:avLst>
              <a:gd name="adj" fmla="val 2727"/>
            </a:avLst>
          </a:prstGeom>
          <a:solidFill>
            <a:srgbClr val="1A2A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20116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know this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011680" cy="3200400"/>
          </a:xfrm>
          <a:prstGeom prst="roundRect">
            <a:avLst>
              <a:gd name="adj" fmla="val 2727"/>
            </a:avLst>
          </a:prstGeom>
          <a:solidFill>
            <a:srgbClr val="1A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371600"/>
            <a:ext cx="20116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commands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2011680" cy="3200400"/>
          </a:xfrm>
          <a:prstGeom prst="roundRect">
            <a:avLst>
              <a:gd name="adj" fmla="val 2727"/>
            </a:avLst>
          </a:prstGeom>
          <a:solidFill>
            <a:srgbClr val="1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371600"/>
            <a:ext cx="20116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protocol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2011680" cy="3200400"/>
          </a:xfrm>
          <a:prstGeom prst="roundRect">
            <a:avLst>
              <a:gd name="adj" fmla="val 2727"/>
            </a:avLst>
          </a:prstGeom>
          <a:solidFill>
            <a:srgbClr val="1A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1371600"/>
            <a:ext cx="20116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auth+trace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free, built-in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Readiness Checklist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914400"/>
            <a:ext cx="6949440" cy="3931920"/>
          </a:xfrm>
          <a:prstGeom prst="roundRect">
            <a:avLst>
              <a:gd name="adj" fmla="val 1395"/>
            </a:avLst>
          </a:prstGeom>
          <a:solidFill>
            <a:srgbClr val="1A2A3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88720"/>
            <a:ext cx="6217920" cy="3474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transport: stdio → streamable_http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auth: oauth_2.1 || iam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sessions: multi_user_isolation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guardrails: define_blocked_ops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observability: trace_all_calls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scaling: handle_concurrency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 versioning: no_breaking_changes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36576" cy="219456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icon_rocke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365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Next Step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 that MCP server on your laptop.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 it this week.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team deserves those tools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just you.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4389120"/>
            <a:ext cx="9034272" cy="0"/>
          </a:xfrm>
          <a:prstGeom prst="line">
            <a:avLst/>
          </a:prstGeom>
          <a:noFill/>
          <a:ln w="6350">
            <a:solidFill>
              <a:srgbClr val="1A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Jatin Mehrotra &amp; Varsha 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Developer Advocates, AWS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repo: github.com/...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Dev Summit Bengaluru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Built an MCP Server - Now What?</dc:title>
  <dc:subject>PptxGenJS Presentation</dc:subject>
  <dc:creator>Jatin Mehrotra &amp; Varsha Das</dc:creator>
  <cp:lastModifiedBy>Jatin Mehrotra &amp; Varsha Das</cp:lastModifiedBy>
  <cp:revision>1</cp:revision>
  <dcterms:created xsi:type="dcterms:W3CDTF">2026-06-04T08:54:05Z</dcterms:created>
  <dcterms:modified xsi:type="dcterms:W3CDTF">2026-06-04T08:54:05Z</dcterms:modified>
</cp:coreProperties>
</file>