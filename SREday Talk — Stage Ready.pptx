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7" d="100"/>
          <a:sy n="127" d="100"/>
        </p:scale>
        <p:origin x="52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04304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Hey everyone, welcome. I’m Jatin Mehrotra, I’m a Developer Advocate at AWS and I spend most of my time building with Kubernetes, observability tools, and increasingly… AI. Today I want to show you something that genuinely changed how I think about on-call. Not a pitch. Not a product demo. A live, working system that fixes your cluster while you sleep. Let’s get into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show you anything… quick show of hands. Who got paged at 2 AM this month? [pause, look around] Keep those hands up. Now… who spent MORE time diagnosing the issue than actually fixing it? [pause] Yeah. And my favorite… who has runbooks that nobody reads? [laughter] Look, we all live this. Every single one of us in this room has had that moment—phone buzzes, heart rate spikes, you open your laptop half-asleep, stare at Grafana for 20 minutes, and then run a one-liner that takes 5 seconds. The diagnosis takes 20 minutes. The fix takes 5 seconds. What if we could automate the diagnosis AND the fix?</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thing—this workflow has NOT fundamentally changed in a decade. The tools got fancier. We went from Nagios to PagerDuty. We got centralized logging, distributed tracing, beautiful Grafana dashboards. But the WORKFLOW is the same. Alert fires. Human wakes up. Opens dashboards. Finds a runbook. Manually fixes. The machine breaks. The human fixes. Every. Single. Time. And look—we’ve been building better and better fire trucks. But what if the building could put out its own fire?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2026, we’re seeing the first real shift. We’re moving from Automated Ops—scripts that do exactly what you tell them—to Agentic Ops—systems that can observe, reason, decide, and act. The key difference? The human moves from IN the loop to ON the loop. You’re not awakened at 3 AM. You’re notified at 8 AM. The system already fixed itself. It sends you the postmortem with your morning coffee. That’s not science fiction. I’m going to show you this working. Live. Right now.</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what you’re going to see in the next 25 minutes. Three live demos on a real EKS cluster. First—an AI agent that detects a failure and auto-fixes it. No human intervention. Second—a policy that BLOCKS the AI from touching critical workloads. Because we’re not crazy—we don’t trust AI blindly in production. And third—a more complex failure where the AI investigates, builds a root cause analysis, and posts it to Slack. All open source. All running live. No pre-recorded videos.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what’s actually running. We have a 2-node EKS cluster in us-east-1. Three namespaces. The demo namespace—where AI is allowed to fix things. The critical namespace—where AI is blocked. And the tooling namespaces running K8sGPT, HolmesGPT, and Kyverno. K8sGPT continuously scans the cluster and calls Amazon Bedrock—Claude Sonnet—for intelligence. Kyverno sits as an admission webhook on the critical namespace. HolmesGPT runs scheduled health checks and posts to Slack. All authentication happens through EKS Pod Identity—zero credentials stored in the cluster.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it as three complementary layers. Layer 1: K8sGPT. This is your auto-fixer. It handles the simple, well-understood issues—OOMKills, bad image tags, misconfigured resources. Things where the fix is a single patch. Layer 2: Kyverno. This is your guardrail. It controls WHERE the AI can act. Because auto-fixing your payment service at 3 AM without human review? That’s a career-ending decision. And Layer 3: HolmesGPT. This is your detective. For complex, multi-resource failures where you need investigation, not just a patch. It doesn’t fix—it investigates and tells YOU what happened.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go deeper on K8sGPT. Every 30 seconds, it scans your cluster using built-in analyzers—Pod, Deployment, Service, Ingress. When it finds something unhealthy, it calls Amazon Bedrock with the broken YAML and asks: explain this issue and generate a fixed version. Bedrock returns the explanation AND a corrected manifest. Then—and this is the clever part—K8sGPT computes a similarity score. How different is the proposed fix from the original? If it’s above 40%—meaning the fix is structurally similar, not a hallucinated rewrite—it applies the patch automatically. Everything is stored as native Kubernetes Custom Resources. You can kubectl get results, kubectl get mutations. Full audit trail.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[Energy shift—stand up straighter, move toward the laptop] Alright. Enough slides. Let’s break something. I have a deployment called memory-hog. It requests 128 megabytes of memory but I’ve set the limit to 64 megabytes. This pod is GOING to get OOMKilled. Let’s deploy it and watch what happens. [Switch to terminal]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did we just see? Let me walk you through the timeline. At time zero, the pod OOMKills. Kubernetes restarts it, it OOMKills again. K8sGPT’s next scan picks it up—about 30 seconds. It calls Bedrock—takes about 10 seconds to get the response. Bedrock says: increase memory limit to 256Mi. K8sGPT computes the similarity score—76%—well above our 40% threshold. It applies the patch. New pod rolls out. Running. Total time: roughly 45 seconds from failure to fix. And no human touched kubectl. No human even knew it happened until the Slack notification arrived.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Let the slide sink in. Lower your voice slightly.] Now… I know what you’re thinking. This is cool for a demo. But should AI auto-patch your payment service? Your database? Your auth system? [Longer pause] The honest answer is: probably not. Not yet. Not without guardrails. And THAT is actually the harder engineering problem. Not the AI. The guardrails. Let me show you.</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Enter Kyverno. Kyverno is a Kubernetes-native policy engine—it’s a CNCF Graduated project. It works as an admission webhook. Every single API request to your cluster passes through Kyverno BEFORE it’s persisted. Our policy is simple but powerful: WHO is making the request? If it’s the K8sGPT service account. WHERE is it targeting? The critical namespace. ACTION: deny. The AI can still detect issues everywhere. It still generates the fix. But when it tries to APPLY the fix in a critical namespace? Kyverno says no. Denied. The human has to review and apply manually.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to terminal again] Now let’s see this in action. Same exact failure—memory-hog, 64Mi limit, 128M demand. But this time I’m deploying it in the critical namespace. K8sGPT will detect it. It will generate the same fix. But watch what happens when it tries to apply… [Switch to terminal]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where does this leave us? I think of it as a spectrum of autonomy. On the left: full auto-fix. K8sGPT in the demo namespace. Fire and forget. On the middle: gated fix. K8sGPT detects, Kyverno blocks, human reviews. On the right: investigate only. HolmesGPT looks at complex failures and tells you what happened—but never touches anything. My recommendation? Start on the right. Start with investigation only. Build trust. Watch the AI get it right 50 times. Then move to gated fixes. Then—maybe—for well-understood failure patterns in non-critical services—graduate to full auto-fix.</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me introduce the third tool: HolmesGPT. This is fundamentally different from K8sGPT. K8sGPT is a scanner—it checks resources and flags issues. HolmesGPT is an AGENT. It has an agentic investigation loop. It asks the LLM: what should I check? The LLM says: run kubectl describe on this pod. Holmes runs it. Sends the output back. The LLM says: now check the events. Holmes checks. The LLM says: I see a missing ConfigMap referenced in the events. Let me verify. And it keeps going until it has enough evidence to conclude: here’s what happened, here’s why, here’s what to do. Then it posts the full investigation trail to Slack.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demo—bring the energy back up] Last demo. This one’s my favorite because it’s the closest to real life. I have an order-service that depends on a ConfigMap for its database URL. I’m going to delete that ConfigMap. The pods will crash. And HolmesGPT will investigate and tell us what happened—without any human running kubectl. Watch your Slack. [Switch to terminal, then Slack]</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how all three tools work together as a system. Issue detected. Is it simple—like a single resource misconfiguration? If yes, K8sGPT handles it. Is it in an allowed namespace? Auto-fix. Critical namespace? Kyverno blocks, alert goes to Slack. Is it complex—cascading failure, multiple resources, unclear root cause? HolmesGPT investigates and posts the full RCA. Together, you have a spectrum from full autonomy to full human control.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share four things I learned building this. One: the guardrails are harder than the AI. Setting up K8sGPT with Bedrock took 20 minutes. Writing a Kyverno policy that correctly identifies the K8sGPT service account and blocks only the right namespaces? That took an afternoon of debugging RBAC. Two: LLM latency matters. Bedrock takes 5 to 15 seconds to respond. During that time, your cluster is still broken. For critical services, that window matters. Three: AI is non-deterministic. I ran the same OOMKill scenario five times. Got five different similarity scores—ranging from 68% to 82%. Same issue, different YAML each time. Your threshold has to account for this variance. Four: start conservative. Graduate trust. Don’t go from zero to auto-fixing production on day one.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 tools I showed today are open source. K8sGPT—CNCF Sandbox project. HolmesGPT—CNCF Sandbox, built by the Robusta team. Kyverno—CNCF Graduated, battle-tested in production at scale. I used Amazon Bedrock as the LLM backend, but the architecture is vendor-neutral. You can swap in OpenAI, Anthropic direct, a local Ollama instance—whatever works for your environment. The pattern matters more than the specific vendor.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your Monday morning action plan. Step 1: deploy K8sGPT Operator with your LLM backend of choice. Step 2: enable auto-remediation in a non-production namespace. Watch it work for a week. Step 3: add Kyverno policies that block AI in your critical namespaces. Step 4: layer in HolmesGPT for deeper investigation of complex failures. Step 5: as you build trust—and you will—gradually expand which namespaces allow auto-fix. Total setup time: about 30 minutes with Helm charts. The hardest part isn’t the setup. It’s building the trust.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Let the room breathe. This is your mic-drop moment.] Imagine this. It’s 3:02 AM. An alert fires. But your phone doesn’t buzz. The system detects the issue. Calls the AI. Gets the fix. Applies it. Verifies the pod is running. Posts the RCA to Slack. At 3:03 AM—one minute later—it’s resolved. You wake up at 8 AM. Open Slack. See the message: issue detected, auto-fixed, here’s what happened. And you drink your coffee in peace. That’s the new 3 AM.</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I’m Jatin Mehrotra. The entire demo—all the code, all the configs, all the Helm values—is in a GitHub repo. Scan the QR code or find me on LinkedIn. I’d love to hear if you try this in your environment. Questions?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slide. Say: Before you head out, I would really appreciate your feedback. Takes 30 seconds. Scan the QR code. It helps me know what worked and what I should improve for next time. Thank you again!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6035040"/>
            <a:ext cx="12161520" cy="822960"/>
          </a:xfrm>
          <a:prstGeom prst="rect">
            <a:avLst/>
          </a:prstGeom>
          <a:solidFill>
            <a:srgbClr val="00BFA5">
              <a:alpha val="30000"/>
            </a:srgbClr>
          </a:solidFill>
          <a:ln/>
        </p:spPr>
        <p:txBody>
          <a:bodyPr/>
          <a:lstStyle/>
          <a:p>
            <a:endParaRPr lang="en-US"/>
          </a:p>
        </p:txBody>
      </p:sp>
      <p:sp>
        <p:nvSpPr>
          <p:cNvPr id="3" name="Shape 1"/>
          <p:cNvSpPr/>
          <p:nvPr/>
        </p:nvSpPr>
        <p:spPr>
          <a:xfrm>
            <a:off x="0" y="6126480"/>
            <a:ext cx="7315200" cy="731520"/>
          </a:xfrm>
          <a:prstGeom prst="rect">
            <a:avLst/>
          </a:prstGeom>
          <a:solidFill>
            <a:srgbClr val="00BFA5">
              <a:alpha val="50000"/>
            </a:srgbClr>
          </a:solidFill>
          <a:ln/>
        </p:spPr>
        <p:txBody>
          <a:bodyPr/>
          <a:lstStyle/>
          <a:p>
            <a:endParaRPr lang="en-US"/>
          </a:p>
        </p:txBody>
      </p:sp>
      <p:sp>
        <p:nvSpPr>
          <p:cNvPr id="4" name="Shape 2"/>
          <p:cNvSpPr/>
          <p:nvPr/>
        </p:nvSpPr>
        <p:spPr>
          <a:xfrm>
            <a:off x="4572000" y="6080760"/>
            <a:ext cx="7589520" cy="777240"/>
          </a:xfrm>
          <a:prstGeom prst="rect">
            <a:avLst/>
          </a:prstGeom>
          <a:solidFill>
            <a:srgbClr val="7C3AED">
              <a:alpha val="40000"/>
            </a:srgbClr>
          </a:solidFill>
          <a:ln/>
        </p:spPr>
        <p:txBody>
          <a:bodyPr/>
          <a:lstStyle/>
          <a:p>
            <a:endParaRPr lang="en-US"/>
          </a:p>
        </p:txBody>
      </p:sp>
      <p:sp>
        <p:nvSpPr>
          <p:cNvPr id="5" name="Text 3"/>
          <p:cNvSpPr/>
          <p:nvPr/>
        </p:nvSpPr>
        <p:spPr>
          <a:xfrm>
            <a:off x="1097280" y="1645920"/>
            <a:ext cx="10058400" cy="137160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From Alert to Auto-Fix</a:t>
            </a:r>
            <a:endParaRPr lang="en-US" sz="4400" dirty="0"/>
          </a:p>
        </p:txBody>
      </p:sp>
      <p:sp>
        <p:nvSpPr>
          <p:cNvPr id="6" name="Text 4"/>
          <p:cNvSpPr/>
          <p:nvPr/>
        </p:nvSpPr>
        <p:spPr>
          <a:xfrm>
            <a:off x="1097280" y="3200400"/>
            <a:ext cx="10058400" cy="1280160"/>
          </a:xfrm>
          <a:prstGeom prst="rect">
            <a:avLst/>
          </a:prstGeom>
          <a:noFill/>
          <a:ln/>
        </p:spPr>
        <p:txBody>
          <a:bodyPr wrap="square" lIns="0" tIns="0" rIns="0" bIns="0" rtlCol="0" anchor="ctr"/>
          <a:lstStyle/>
          <a:p>
            <a:pPr marL="0" indent="0">
              <a:buNone/>
            </a:pPr>
            <a:r>
              <a:rPr lang="en-US" sz="2400" dirty="0">
                <a:solidFill>
                  <a:srgbClr val="99BBCC"/>
                </a:solidFill>
                <a:latin typeface="Calibri" pitchFamily="34" charset="0"/>
                <a:ea typeface="Calibri" pitchFamily="34" charset="-122"/>
                <a:cs typeface="Calibri" pitchFamily="34" charset="-120"/>
              </a:rPr>
              <a:t>Open-Source AI Agents That Heal</a:t>
            </a:r>
            <a:endParaRPr lang="en-US" sz="2400" dirty="0"/>
          </a:p>
          <a:p>
            <a:pPr marL="0" indent="0">
              <a:buNone/>
            </a:pPr>
            <a:r>
              <a:rPr lang="en-US" sz="2400" dirty="0">
                <a:solidFill>
                  <a:srgbClr val="99BBCC"/>
                </a:solidFill>
                <a:latin typeface="Calibri" pitchFamily="34" charset="0"/>
                <a:ea typeface="Calibri" pitchFamily="34" charset="-122"/>
                <a:cs typeface="Calibri" pitchFamily="34" charset="-120"/>
              </a:rPr>
              <a:t>Your Kubernetes Cluster</a:t>
            </a:r>
            <a:endParaRPr lang="en-US" sz="2400" dirty="0"/>
          </a:p>
        </p:txBody>
      </p:sp>
      <p:sp>
        <p:nvSpPr>
          <p:cNvPr id="7" name="Text 5"/>
          <p:cNvSpPr/>
          <p:nvPr/>
        </p:nvSpPr>
        <p:spPr>
          <a:xfrm>
            <a:off x="1097280" y="5029200"/>
            <a:ext cx="5486400" cy="548640"/>
          </a:xfrm>
          <a:prstGeom prst="rect">
            <a:avLst/>
          </a:prstGeom>
          <a:noFill/>
          <a:ln/>
        </p:spPr>
        <p:txBody>
          <a:bodyPr wrap="square" lIns="0" tIns="0" rIns="0" bIns="0" rtlCol="0" anchor="ctr"/>
          <a:lstStyle/>
          <a:p>
            <a:pPr marL="0" indent="0">
              <a:buNone/>
            </a:pPr>
            <a:r>
              <a:rPr lang="en-US" sz="2000" dirty="0">
                <a:solidFill>
                  <a:srgbClr val="7799AA"/>
                </a:solidFill>
                <a:latin typeface="Calibri" pitchFamily="34" charset="0"/>
                <a:ea typeface="Calibri" pitchFamily="34" charset="-122"/>
                <a:cs typeface="Calibri" pitchFamily="34" charset="-120"/>
              </a:rPr>
              <a:t>Jatin Mehrotra  |  Developer Advocate, AWS</a:t>
            </a:r>
            <a:endParaRPr lang="en-US" sz="2000" dirty="0"/>
          </a:p>
        </p:txBody>
      </p:sp>
      <p:sp>
        <p:nvSpPr>
          <p:cNvPr id="8" name="Text 6"/>
          <p:cNvSpPr/>
          <p:nvPr/>
        </p:nvSpPr>
        <p:spPr>
          <a:xfrm>
            <a:off x="1097280" y="5577840"/>
            <a:ext cx="5486400" cy="457200"/>
          </a:xfrm>
          <a:prstGeom prst="rect">
            <a:avLst/>
          </a:prstGeom>
          <a:noFill/>
          <a:ln/>
        </p:spPr>
        <p:txBody>
          <a:bodyPr wrap="square" lIns="0" tIns="0" rIns="0" bIns="0" rtlCol="0" anchor="ctr"/>
          <a:lstStyle/>
          <a:p>
            <a:pPr marL="0" indent="0">
              <a:buNone/>
            </a:pPr>
            <a:r>
              <a:rPr lang="en-US" sz="1800" dirty="0">
                <a:solidFill>
                  <a:srgbClr val="556677"/>
                </a:solidFill>
                <a:latin typeface="Calibri" pitchFamily="34" charset="0"/>
                <a:ea typeface="Calibri" pitchFamily="34" charset="-122"/>
                <a:cs typeface="Calibri" pitchFamily="34" charset="-120"/>
              </a:rPr>
              <a:t>SREday Bangalore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BFA5"/>
          </a:solidFill>
          <a:ln/>
        </p:spPr>
        <p:txBody>
          <a:bodyPr/>
          <a:lstStyle/>
          <a:p>
            <a:endParaRPr lang="en-US"/>
          </a:p>
        </p:txBody>
      </p:sp>
      <p:sp>
        <p:nvSpPr>
          <p:cNvPr id="3" name="Text 1"/>
          <p:cNvSpPr/>
          <p:nvPr/>
        </p:nvSpPr>
        <p:spPr>
          <a:xfrm>
            <a:off x="1371600" y="731520"/>
            <a:ext cx="9144000" cy="548640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Who got paged at 2 AM</a:t>
            </a:r>
            <a:endParaRPr lang="en-US" sz="3200" dirty="0"/>
          </a:p>
          <a:p>
            <a:pPr marL="0" indent="0">
              <a:buNone/>
            </a:pPr>
            <a:r>
              <a:rPr lang="en-US" sz="3200" b="1" dirty="0">
                <a:solidFill>
                  <a:srgbClr val="FFFFFF"/>
                </a:solidFill>
                <a:latin typeface="Calibri" pitchFamily="34" charset="0"/>
                <a:ea typeface="Calibri" pitchFamily="34" charset="-122"/>
                <a:cs typeface="Calibri" pitchFamily="34" charset="-120"/>
              </a:rPr>
              <a:t>this month?</a:t>
            </a:r>
            <a:endParaRPr lang="en-US" sz="3200" dirty="0"/>
          </a:p>
          <a:p>
            <a:pPr marL="0" indent="0">
              <a:buNone/>
            </a:pPr>
            <a:r>
              <a:rPr lang="en-US" sz="2000" dirty="0">
                <a:solidFill>
                  <a:srgbClr val="000000"/>
                </a:solidFill>
                <a:latin typeface="Calibri" pitchFamily="34" charset="0"/>
                <a:ea typeface="Calibri" pitchFamily="34" charset="-122"/>
                <a:cs typeface="Calibri" pitchFamily="34" charset="-120"/>
              </a:rPr>
              <a:t>
</a:t>
            </a:r>
            <a:endParaRPr lang="en-US" sz="3200" dirty="0"/>
          </a:p>
          <a:p>
            <a:pPr marL="0" indent="0">
              <a:buNone/>
            </a:pPr>
            <a:r>
              <a:rPr lang="en-US" sz="3200" b="1" dirty="0">
                <a:solidFill>
                  <a:srgbClr val="FFFFFF"/>
                </a:solidFill>
                <a:latin typeface="Calibri" pitchFamily="34" charset="0"/>
                <a:ea typeface="Calibri" pitchFamily="34" charset="-122"/>
                <a:cs typeface="Calibri" pitchFamily="34" charset="-120"/>
              </a:rPr>
              <a:t>Who spent more time diagnosing</a:t>
            </a:r>
            <a:endParaRPr lang="en-US" sz="3200" dirty="0"/>
          </a:p>
          <a:p>
            <a:pPr marL="0" indent="0">
              <a:buNone/>
            </a:pPr>
            <a:r>
              <a:rPr lang="en-US" sz="3200" b="1" dirty="0">
                <a:solidFill>
                  <a:srgbClr val="FFFFFF"/>
                </a:solidFill>
                <a:latin typeface="Calibri" pitchFamily="34" charset="0"/>
                <a:ea typeface="Calibri" pitchFamily="34" charset="-122"/>
                <a:cs typeface="Calibri" pitchFamily="34" charset="-120"/>
              </a:rPr>
              <a:t>than fixing?</a:t>
            </a:r>
            <a:endParaRPr lang="en-US" sz="3200" dirty="0"/>
          </a:p>
          <a:p>
            <a:pPr marL="0" indent="0">
              <a:buNone/>
            </a:pPr>
            <a:r>
              <a:rPr lang="en-US" sz="2000" dirty="0">
                <a:solidFill>
                  <a:srgbClr val="000000"/>
                </a:solidFill>
                <a:latin typeface="Calibri" pitchFamily="34" charset="0"/>
                <a:ea typeface="Calibri" pitchFamily="34" charset="-122"/>
                <a:cs typeface="Calibri" pitchFamily="34" charset="-120"/>
              </a:rPr>
              <a:t>
</a:t>
            </a:r>
            <a:endParaRPr lang="en-US" sz="3200" dirty="0"/>
          </a:p>
          <a:p>
            <a:pPr marL="0" indent="0">
              <a:buNone/>
            </a:pPr>
            <a:r>
              <a:rPr lang="en-US" sz="3200" b="1" dirty="0">
                <a:solidFill>
                  <a:srgbClr val="FFFFFF"/>
                </a:solidFill>
                <a:latin typeface="Calibri" pitchFamily="34" charset="0"/>
                <a:ea typeface="Calibri" pitchFamily="34" charset="-122"/>
                <a:cs typeface="Calibri" pitchFamily="34" charset="-120"/>
              </a:rPr>
              <a:t>Who has runbooks</a:t>
            </a:r>
            <a:endParaRPr lang="en-US" sz="3200" dirty="0"/>
          </a:p>
          <a:p>
            <a:pPr marL="0" indent="0">
              <a:buNone/>
            </a:pPr>
            <a:r>
              <a:rPr lang="en-US" sz="3200" b="1" dirty="0">
                <a:solidFill>
                  <a:srgbClr val="FFFFFF"/>
                </a:solidFill>
                <a:latin typeface="Calibri" pitchFamily="34" charset="0"/>
                <a:ea typeface="Calibri" pitchFamily="34" charset="-122"/>
                <a:cs typeface="Calibri" pitchFamily="34" charset="-120"/>
              </a:rPr>
              <a:t>nobody reads?</a:t>
            </a:r>
            <a:endParaRPr lang="en-US" sz="3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914400" y="457200"/>
            <a:ext cx="10058400" cy="9144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The 3 AM Loop</a:t>
            </a:r>
            <a:endParaRPr lang="en-US" sz="4000" dirty="0"/>
          </a:p>
        </p:txBody>
      </p:sp>
      <p:sp>
        <p:nvSpPr>
          <p:cNvPr id="3" name="Text 1"/>
          <p:cNvSpPr/>
          <p:nvPr/>
        </p:nvSpPr>
        <p:spPr>
          <a:xfrm>
            <a:off x="548640" y="2560320"/>
            <a:ext cx="1920240" cy="1097280"/>
          </a:xfrm>
          <a:prstGeom prst="roundRect">
            <a:avLst>
              <a:gd name="adj" fmla="val 8333"/>
            </a:avLst>
          </a:prstGeom>
          <a:solidFill>
            <a:srgbClr val="FF4444">
              <a:alpha val="40000"/>
            </a:srgbClr>
          </a:solid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Alert</a:t>
            </a:r>
            <a:endParaRPr lang="en-US" sz="2200" dirty="0"/>
          </a:p>
        </p:txBody>
      </p:sp>
      <p:sp>
        <p:nvSpPr>
          <p:cNvPr id="4" name="Text 2"/>
          <p:cNvSpPr/>
          <p:nvPr/>
        </p:nvSpPr>
        <p:spPr>
          <a:xfrm>
            <a:off x="2468880" y="2834640"/>
            <a:ext cx="365760" cy="548640"/>
          </a:xfrm>
          <a:prstGeom prst="rect">
            <a:avLst/>
          </a:prstGeom>
          <a:noFill/>
          <a:ln/>
        </p:spPr>
        <p:txBody>
          <a:bodyPr wrap="square" lIns="0" tIns="0" rIns="0" bIns="0" rtlCol="0" anchor="ctr"/>
          <a:lstStyle/>
          <a:p>
            <a:pPr marL="0" indent="0" algn="ctr">
              <a:buNone/>
            </a:pPr>
            <a:r>
              <a:rPr lang="en-US" sz="2800" dirty="0">
                <a:solidFill>
                  <a:srgbClr val="666666"/>
                </a:solidFill>
                <a:latin typeface="Calibri" pitchFamily="34" charset="0"/>
                <a:ea typeface="Calibri" pitchFamily="34" charset="-122"/>
                <a:cs typeface="Calibri" pitchFamily="34" charset="-120"/>
              </a:rPr>
              <a:t>→</a:t>
            </a:r>
            <a:endParaRPr lang="en-US" sz="2800" dirty="0"/>
          </a:p>
        </p:txBody>
      </p:sp>
      <p:sp>
        <p:nvSpPr>
          <p:cNvPr id="5" name="Text 3"/>
          <p:cNvSpPr/>
          <p:nvPr/>
        </p:nvSpPr>
        <p:spPr>
          <a:xfrm>
            <a:off x="2834640" y="2560320"/>
            <a:ext cx="1920240" cy="1097280"/>
          </a:xfrm>
          <a:prstGeom prst="roundRect">
            <a:avLst>
              <a:gd name="adj" fmla="val 8333"/>
            </a:avLst>
          </a:prstGeom>
          <a:solidFill>
            <a:srgbClr val="FF6B35">
              <a:alpha val="40000"/>
            </a:srgbClr>
          </a:solid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Wake</a:t>
            </a:r>
            <a:endParaRPr lang="en-US" sz="2200" dirty="0"/>
          </a:p>
        </p:txBody>
      </p:sp>
      <p:sp>
        <p:nvSpPr>
          <p:cNvPr id="6" name="Text 4"/>
          <p:cNvSpPr/>
          <p:nvPr/>
        </p:nvSpPr>
        <p:spPr>
          <a:xfrm>
            <a:off x="4754880" y="2834640"/>
            <a:ext cx="365760" cy="548640"/>
          </a:xfrm>
          <a:prstGeom prst="rect">
            <a:avLst/>
          </a:prstGeom>
          <a:noFill/>
          <a:ln/>
        </p:spPr>
        <p:txBody>
          <a:bodyPr wrap="square" lIns="0" tIns="0" rIns="0" bIns="0" rtlCol="0" anchor="ctr"/>
          <a:lstStyle/>
          <a:p>
            <a:pPr marL="0" indent="0" algn="ctr">
              <a:buNone/>
            </a:pPr>
            <a:r>
              <a:rPr lang="en-US" sz="2800" dirty="0">
                <a:solidFill>
                  <a:srgbClr val="666666"/>
                </a:solidFill>
                <a:latin typeface="Calibri" pitchFamily="34" charset="0"/>
                <a:ea typeface="Calibri" pitchFamily="34" charset="-122"/>
                <a:cs typeface="Calibri" pitchFamily="34" charset="-120"/>
              </a:rPr>
              <a:t>→</a:t>
            </a:r>
            <a:endParaRPr lang="en-US" sz="2800" dirty="0"/>
          </a:p>
        </p:txBody>
      </p:sp>
      <p:sp>
        <p:nvSpPr>
          <p:cNvPr id="7" name="Text 5"/>
          <p:cNvSpPr/>
          <p:nvPr/>
        </p:nvSpPr>
        <p:spPr>
          <a:xfrm>
            <a:off x="5120640" y="2560320"/>
            <a:ext cx="1920240" cy="1097280"/>
          </a:xfrm>
          <a:prstGeom prst="roundRect">
            <a:avLst>
              <a:gd name="adj" fmla="val 8333"/>
            </a:avLst>
          </a:prstGeom>
          <a:solidFill>
            <a:srgbClr val="FFB800">
              <a:alpha val="40000"/>
            </a:srgbClr>
          </a:solid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Dashboard</a:t>
            </a:r>
            <a:endParaRPr lang="en-US" sz="2200" dirty="0"/>
          </a:p>
        </p:txBody>
      </p:sp>
      <p:sp>
        <p:nvSpPr>
          <p:cNvPr id="8" name="Text 6"/>
          <p:cNvSpPr/>
          <p:nvPr/>
        </p:nvSpPr>
        <p:spPr>
          <a:xfrm>
            <a:off x="7040880" y="2834640"/>
            <a:ext cx="365760" cy="548640"/>
          </a:xfrm>
          <a:prstGeom prst="rect">
            <a:avLst/>
          </a:prstGeom>
          <a:noFill/>
          <a:ln/>
        </p:spPr>
        <p:txBody>
          <a:bodyPr wrap="square" lIns="0" tIns="0" rIns="0" bIns="0" rtlCol="0" anchor="ctr"/>
          <a:lstStyle/>
          <a:p>
            <a:pPr marL="0" indent="0" algn="ctr">
              <a:buNone/>
            </a:pPr>
            <a:r>
              <a:rPr lang="en-US" sz="2800" dirty="0">
                <a:solidFill>
                  <a:srgbClr val="666666"/>
                </a:solidFill>
                <a:latin typeface="Calibri" pitchFamily="34" charset="0"/>
                <a:ea typeface="Calibri" pitchFamily="34" charset="-122"/>
                <a:cs typeface="Calibri" pitchFamily="34" charset="-120"/>
              </a:rPr>
              <a:t>→</a:t>
            </a:r>
            <a:endParaRPr lang="en-US" sz="2800" dirty="0"/>
          </a:p>
        </p:txBody>
      </p:sp>
      <p:sp>
        <p:nvSpPr>
          <p:cNvPr id="9" name="Text 7"/>
          <p:cNvSpPr/>
          <p:nvPr/>
        </p:nvSpPr>
        <p:spPr>
          <a:xfrm>
            <a:off x="7406640" y="2560320"/>
            <a:ext cx="1920240" cy="1097280"/>
          </a:xfrm>
          <a:prstGeom prst="roundRect">
            <a:avLst>
              <a:gd name="adj" fmla="val 8333"/>
            </a:avLst>
          </a:prstGeom>
          <a:solidFill>
            <a:srgbClr val="FF6B35">
              <a:alpha val="40000"/>
            </a:srgbClr>
          </a:solid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Runbook</a:t>
            </a:r>
            <a:endParaRPr lang="en-US" sz="2200" dirty="0"/>
          </a:p>
        </p:txBody>
      </p:sp>
      <p:sp>
        <p:nvSpPr>
          <p:cNvPr id="10" name="Text 8"/>
          <p:cNvSpPr/>
          <p:nvPr/>
        </p:nvSpPr>
        <p:spPr>
          <a:xfrm>
            <a:off x="9326880" y="2834640"/>
            <a:ext cx="365760" cy="548640"/>
          </a:xfrm>
          <a:prstGeom prst="rect">
            <a:avLst/>
          </a:prstGeom>
          <a:noFill/>
          <a:ln/>
        </p:spPr>
        <p:txBody>
          <a:bodyPr wrap="square" lIns="0" tIns="0" rIns="0" bIns="0" rtlCol="0" anchor="ctr"/>
          <a:lstStyle/>
          <a:p>
            <a:pPr marL="0" indent="0" algn="ctr">
              <a:buNone/>
            </a:pPr>
            <a:r>
              <a:rPr lang="en-US" sz="2800" dirty="0">
                <a:solidFill>
                  <a:srgbClr val="666666"/>
                </a:solidFill>
                <a:latin typeface="Calibri" pitchFamily="34" charset="0"/>
                <a:ea typeface="Calibri" pitchFamily="34" charset="-122"/>
                <a:cs typeface="Calibri" pitchFamily="34" charset="-120"/>
              </a:rPr>
              <a:t>→</a:t>
            </a:r>
            <a:endParaRPr lang="en-US" sz="2800" dirty="0"/>
          </a:p>
        </p:txBody>
      </p:sp>
      <p:sp>
        <p:nvSpPr>
          <p:cNvPr id="11" name="Text 9"/>
          <p:cNvSpPr/>
          <p:nvPr/>
        </p:nvSpPr>
        <p:spPr>
          <a:xfrm>
            <a:off x="9692640" y="2560320"/>
            <a:ext cx="1920240" cy="1097280"/>
          </a:xfrm>
          <a:prstGeom prst="roundRect">
            <a:avLst>
              <a:gd name="adj" fmla="val 8333"/>
            </a:avLst>
          </a:prstGeom>
          <a:solidFill>
            <a:srgbClr val="FF4444">
              <a:alpha val="40000"/>
            </a:srgbClr>
          </a:solid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Fix</a:t>
            </a:r>
            <a:endParaRPr lang="en-US" sz="2200" dirty="0"/>
          </a:p>
        </p:txBody>
      </p:sp>
      <p:sp>
        <p:nvSpPr>
          <p:cNvPr id="12" name="Text 10"/>
          <p:cNvSpPr/>
          <p:nvPr/>
        </p:nvSpPr>
        <p:spPr>
          <a:xfrm>
            <a:off x="914400" y="4754880"/>
            <a:ext cx="10058400" cy="1097280"/>
          </a:xfrm>
          <a:prstGeom prst="rect">
            <a:avLst/>
          </a:prstGeom>
          <a:noFill/>
          <a:ln/>
        </p:spPr>
        <p:txBody>
          <a:bodyPr wrap="square" lIns="0" tIns="0" rIns="0" bIns="0" rtlCol="0" anchor="ctr"/>
          <a:lstStyle/>
          <a:p>
            <a:pPr marL="0" indent="0" algn="ctr">
              <a:buNone/>
            </a:pPr>
            <a:r>
              <a:rPr lang="en-US" sz="2400" i="1" dirty="0">
                <a:solidFill>
                  <a:srgbClr val="99BBCC"/>
                </a:solidFill>
                <a:latin typeface="Calibri" pitchFamily="34" charset="0"/>
                <a:ea typeface="Calibri" pitchFamily="34" charset="-122"/>
                <a:cs typeface="Calibri" pitchFamily="34" charset="-120"/>
              </a:rPr>
              <a:t>The machine breaks. The human fixes.</a:t>
            </a:r>
            <a:endParaRPr lang="en-US" sz="2400" dirty="0"/>
          </a:p>
          <a:p>
            <a:pPr marL="0" indent="0" algn="ctr">
              <a:buNone/>
            </a:pPr>
            <a:r>
              <a:rPr lang="en-US" sz="2400" i="1" dirty="0">
                <a:solidFill>
                  <a:srgbClr val="99BBCC"/>
                </a:solidFill>
                <a:latin typeface="Calibri" pitchFamily="34" charset="0"/>
                <a:ea typeface="Calibri" pitchFamily="34" charset="-122"/>
                <a:cs typeface="Calibri" pitchFamily="34" charset="-120"/>
              </a:rPr>
              <a:t>10 years. Same workflow.</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914400" y="457200"/>
            <a:ext cx="10058400" cy="9144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2026: The Shift</a:t>
            </a:r>
            <a:endParaRPr lang="en-US" sz="4000" dirty="0"/>
          </a:p>
        </p:txBody>
      </p:sp>
      <p:sp>
        <p:nvSpPr>
          <p:cNvPr id="3" name="Text 1"/>
          <p:cNvSpPr/>
          <p:nvPr/>
        </p:nvSpPr>
        <p:spPr>
          <a:xfrm>
            <a:off x="731520" y="1645920"/>
            <a:ext cx="5029200" cy="4114800"/>
          </a:xfrm>
          <a:prstGeom prst="roundRect">
            <a:avLst>
              <a:gd name="adj" fmla="val 3333"/>
            </a:avLst>
          </a:prstGeom>
          <a:solidFill>
            <a:srgbClr val="1A3A5C">
              <a:alpha val="50000"/>
            </a:srgbClr>
          </a:solidFill>
          <a:ln w="25400">
            <a:solidFill>
              <a:srgbClr val="334455"/>
            </a:solidFill>
          </a:ln>
        </p:spPr>
        <p:txBody>
          <a:bodyPr wrap="square" rtlCol="0" anchor="ctr"/>
          <a:lstStyle/>
          <a:p>
            <a:pPr marL="0" indent="0">
              <a:buNone/>
            </a:pPr>
            <a:endParaRPr lang="en-US" dirty="0"/>
          </a:p>
        </p:txBody>
      </p:sp>
      <p:sp>
        <p:nvSpPr>
          <p:cNvPr id="4" name="Text 2"/>
          <p:cNvSpPr/>
          <p:nvPr/>
        </p:nvSpPr>
        <p:spPr>
          <a:xfrm>
            <a:off x="6400800" y="1645920"/>
            <a:ext cx="5029200" cy="4114800"/>
          </a:xfrm>
          <a:prstGeom prst="roundRect">
            <a:avLst>
              <a:gd name="adj" fmla="val 3333"/>
            </a:avLst>
          </a:prstGeom>
          <a:solidFill>
            <a:srgbClr val="0D3D3D">
              <a:alpha val="60000"/>
            </a:srgbClr>
          </a:solidFill>
          <a:ln w="25400">
            <a:solidFill>
              <a:srgbClr val="00BFA5"/>
            </a:solidFill>
          </a:ln>
        </p:spPr>
        <p:txBody>
          <a:bodyPr wrap="square" rtlCol="0" anchor="ctr"/>
          <a:lstStyle/>
          <a:p>
            <a:pPr marL="0" indent="0">
              <a:buNone/>
            </a:pPr>
            <a:endParaRPr lang="en-US" dirty="0"/>
          </a:p>
        </p:txBody>
      </p:sp>
      <p:sp>
        <p:nvSpPr>
          <p:cNvPr id="5" name="Text 3"/>
          <p:cNvSpPr/>
          <p:nvPr/>
        </p:nvSpPr>
        <p:spPr>
          <a:xfrm>
            <a:off x="5669280" y="3291840"/>
            <a:ext cx="822960" cy="731520"/>
          </a:xfrm>
          <a:prstGeom prst="rect">
            <a:avLst/>
          </a:prstGeom>
          <a:noFill/>
          <a:ln/>
        </p:spPr>
        <p:txBody>
          <a:bodyPr wrap="square" lIns="0" tIns="0" rIns="0" bIns="0" rtlCol="0" anchor="ctr"/>
          <a:lstStyle/>
          <a:p>
            <a:pPr marL="0" indent="0" algn="ctr">
              <a:buNone/>
            </a:pPr>
            <a:r>
              <a:rPr lang="en-US" sz="3600" b="1" dirty="0">
                <a:solidFill>
                  <a:srgbClr val="00BFA5"/>
                </a:solidFill>
                <a:latin typeface="Calibri" pitchFamily="34" charset="0"/>
                <a:ea typeface="Calibri" pitchFamily="34" charset="-122"/>
                <a:cs typeface="Calibri" pitchFamily="34" charset="-120"/>
              </a:rPr>
              <a:t>→</a:t>
            </a:r>
            <a:endParaRPr lang="en-US" sz="3600" dirty="0"/>
          </a:p>
        </p:txBody>
      </p:sp>
      <p:sp>
        <p:nvSpPr>
          <p:cNvPr id="6" name="Text 4"/>
          <p:cNvSpPr/>
          <p:nvPr/>
        </p:nvSpPr>
        <p:spPr>
          <a:xfrm>
            <a:off x="1097280" y="2103120"/>
            <a:ext cx="4297680" cy="731520"/>
          </a:xfrm>
          <a:prstGeom prst="rect">
            <a:avLst/>
          </a:prstGeom>
          <a:noFill/>
          <a:ln/>
        </p:spPr>
        <p:txBody>
          <a:bodyPr wrap="square" lIns="0" tIns="0" rIns="0" bIns="0" rtlCol="0" anchor="ctr"/>
          <a:lstStyle/>
          <a:p>
            <a:pPr marL="0" indent="0" algn="ctr">
              <a:buNone/>
            </a:pPr>
            <a:r>
              <a:rPr lang="en-US" sz="2800" b="1" dirty="0">
                <a:solidFill>
                  <a:srgbClr val="99AABB"/>
                </a:solidFill>
                <a:latin typeface="Calibri" pitchFamily="34" charset="0"/>
                <a:ea typeface="Calibri" pitchFamily="34" charset="-122"/>
                <a:cs typeface="Calibri" pitchFamily="34" charset="-120"/>
              </a:rPr>
              <a:t>Automated Ops</a:t>
            </a:r>
            <a:endParaRPr lang="en-US" sz="2800" dirty="0"/>
          </a:p>
        </p:txBody>
      </p:sp>
      <p:sp>
        <p:nvSpPr>
          <p:cNvPr id="7" name="Text 5"/>
          <p:cNvSpPr/>
          <p:nvPr/>
        </p:nvSpPr>
        <p:spPr>
          <a:xfrm>
            <a:off x="1097280" y="3200400"/>
            <a:ext cx="4297680" cy="1371600"/>
          </a:xfrm>
          <a:prstGeom prst="rect">
            <a:avLst/>
          </a:prstGeom>
          <a:noFill/>
          <a:ln/>
        </p:spPr>
        <p:txBody>
          <a:bodyPr wrap="square" lIns="0" tIns="0" rIns="0" bIns="0" rtlCol="0" anchor="ctr"/>
          <a:lstStyle/>
          <a:p>
            <a:pPr marL="0" indent="0" algn="ctr">
              <a:buNone/>
            </a:pPr>
            <a:r>
              <a:rPr lang="en-US" sz="2200" dirty="0">
                <a:solidFill>
                  <a:srgbClr val="778899"/>
                </a:solidFill>
                <a:latin typeface="Calibri" pitchFamily="34" charset="0"/>
                <a:ea typeface="Calibri" pitchFamily="34" charset="-122"/>
                <a:cs typeface="Calibri" pitchFamily="34" charset="-120"/>
              </a:rPr>
              <a:t>Scripts that obey</a:t>
            </a:r>
            <a:endParaRPr lang="en-US" sz="2200" dirty="0"/>
          </a:p>
          <a:p>
            <a:pPr marL="0" indent="0" algn="ctr">
              <a:buNone/>
            </a:pPr>
            <a:r>
              <a:rPr lang="en-US" sz="2200" dirty="0">
                <a:solidFill>
                  <a:srgbClr val="778899"/>
                </a:solidFill>
                <a:latin typeface="Calibri" pitchFamily="34" charset="0"/>
                <a:ea typeface="Calibri" pitchFamily="34" charset="-122"/>
                <a:cs typeface="Calibri" pitchFamily="34" charset="-120"/>
              </a:rPr>
              <a:t>Human IN the loop</a:t>
            </a:r>
            <a:endParaRPr lang="en-US" sz="2200" dirty="0"/>
          </a:p>
        </p:txBody>
      </p:sp>
      <p:sp>
        <p:nvSpPr>
          <p:cNvPr id="8" name="Text 6"/>
          <p:cNvSpPr/>
          <p:nvPr/>
        </p:nvSpPr>
        <p:spPr>
          <a:xfrm>
            <a:off x="6766560" y="2103120"/>
            <a:ext cx="4297680" cy="731520"/>
          </a:xfrm>
          <a:prstGeom prst="rect">
            <a:avLst/>
          </a:prstGeom>
          <a:noFill/>
          <a:ln/>
        </p:spPr>
        <p:txBody>
          <a:bodyPr wrap="square" lIns="0" tIns="0" rIns="0" bIns="0" rtlCol="0" anchor="ctr"/>
          <a:lstStyle/>
          <a:p>
            <a:pPr marL="0" indent="0" algn="ctr">
              <a:buNone/>
            </a:pPr>
            <a:r>
              <a:rPr lang="en-US" sz="2800" b="1" dirty="0">
                <a:solidFill>
                  <a:srgbClr val="00BFA5"/>
                </a:solidFill>
                <a:latin typeface="Calibri" pitchFamily="34" charset="0"/>
                <a:ea typeface="Calibri" pitchFamily="34" charset="-122"/>
                <a:cs typeface="Calibri" pitchFamily="34" charset="-120"/>
              </a:rPr>
              <a:t>Agentic Ops</a:t>
            </a:r>
            <a:endParaRPr lang="en-US" sz="2800" dirty="0"/>
          </a:p>
        </p:txBody>
      </p:sp>
      <p:sp>
        <p:nvSpPr>
          <p:cNvPr id="9" name="Text 7"/>
          <p:cNvSpPr/>
          <p:nvPr/>
        </p:nvSpPr>
        <p:spPr>
          <a:xfrm>
            <a:off x="6766560" y="3200400"/>
            <a:ext cx="4297680" cy="1371600"/>
          </a:xfrm>
          <a:prstGeom prst="rect">
            <a:avLst/>
          </a:prstGeom>
          <a:noFill/>
          <a:ln/>
        </p:spPr>
        <p:txBody>
          <a:bodyPr wrap="square" lIns="0" tIns="0" rIns="0" bIns="0" rtlCol="0" anchor="ctr"/>
          <a:lstStyle/>
          <a:p>
            <a:pPr marL="0" indent="0" algn="ctr">
              <a:buNone/>
            </a:pPr>
            <a:r>
              <a:rPr lang="en-US" sz="2200" dirty="0">
                <a:solidFill>
                  <a:srgbClr val="AADDCC"/>
                </a:solidFill>
                <a:latin typeface="Calibri" pitchFamily="34" charset="0"/>
                <a:ea typeface="Calibri" pitchFamily="34" charset="-122"/>
                <a:cs typeface="Calibri" pitchFamily="34" charset="-120"/>
              </a:rPr>
              <a:t>Systems that reason</a:t>
            </a:r>
            <a:endParaRPr lang="en-US" sz="2200" dirty="0"/>
          </a:p>
          <a:p>
            <a:pPr marL="0" indent="0" algn="ctr">
              <a:buNone/>
            </a:pPr>
            <a:r>
              <a:rPr lang="en-US" sz="2200" dirty="0">
                <a:solidFill>
                  <a:srgbClr val="AADDCC"/>
                </a:solidFill>
                <a:latin typeface="Calibri" pitchFamily="34" charset="0"/>
                <a:ea typeface="Calibri" pitchFamily="34" charset="-122"/>
                <a:cs typeface="Calibri" pitchFamily="34" charset="-120"/>
              </a:rPr>
              <a:t>Human ON the loop</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914400" y="457200"/>
            <a:ext cx="10058400" cy="9144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What You'll See Today</a:t>
            </a:r>
            <a:endParaRPr lang="en-US" sz="4000" dirty="0"/>
          </a:p>
        </p:txBody>
      </p:sp>
      <p:sp>
        <p:nvSpPr>
          <p:cNvPr id="3" name="Shape 1"/>
          <p:cNvSpPr/>
          <p:nvPr/>
        </p:nvSpPr>
        <p:spPr>
          <a:xfrm>
            <a:off x="1097280" y="1828800"/>
            <a:ext cx="91440" cy="1188720"/>
          </a:xfrm>
          <a:prstGeom prst="rect">
            <a:avLst/>
          </a:prstGeom>
          <a:solidFill>
            <a:srgbClr val="00BFA5"/>
          </a:solidFill>
          <a:ln/>
        </p:spPr>
        <p:txBody>
          <a:bodyPr/>
          <a:lstStyle/>
          <a:p>
            <a:endParaRPr lang="en-US"/>
          </a:p>
        </p:txBody>
      </p:sp>
      <p:sp>
        <p:nvSpPr>
          <p:cNvPr id="4" name="Text 2"/>
          <p:cNvSpPr/>
          <p:nvPr/>
        </p:nvSpPr>
        <p:spPr>
          <a:xfrm>
            <a:off x="1645920" y="1828800"/>
            <a:ext cx="8229600" cy="7315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AI detects + auto-fixes</a:t>
            </a:r>
            <a:endParaRPr lang="en-US" sz="2600" dirty="0"/>
          </a:p>
        </p:txBody>
      </p:sp>
      <p:sp>
        <p:nvSpPr>
          <p:cNvPr id="5" name="Text 3"/>
          <p:cNvSpPr/>
          <p:nvPr/>
        </p:nvSpPr>
        <p:spPr>
          <a:xfrm>
            <a:off x="1645920" y="2468880"/>
            <a:ext cx="8229600" cy="548640"/>
          </a:xfrm>
          <a:prstGeom prst="rect">
            <a:avLst/>
          </a:prstGeom>
          <a:noFill/>
          <a:ln/>
        </p:spPr>
        <p:txBody>
          <a:bodyPr wrap="square" lIns="0" tIns="0" rIns="0" bIns="0" rtlCol="0" anchor="ctr"/>
          <a:lstStyle/>
          <a:p>
            <a:pPr marL="0" indent="0">
              <a:buNone/>
            </a:pPr>
            <a:r>
              <a:rPr lang="en-US" sz="2000" dirty="0">
                <a:solidFill>
                  <a:srgbClr val="00BFA5"/>
                </a:solidFill>
                <a:latin typeface="Calibri" pitchFamily="34" charset="0"/>
                <a:ea typeface="Calibri" pitchFamily="34" charset="-122"/>
                <a:cs typeface="Calibri" pitchFamily="34" charset="-120"/>
              </a:rPr>
              <a:t>K8sGPT</a:t>
            </a:r>
            <a:endParaRPr lang="en-US" sz="2000" dirty="0"/>
          </a:p>
        </p:txBody>
      </p:sp>
      <p:sp>
        <p:nvSpPr>
          <p:cNvPr id="6" name="Shape 4"/>
          <p:cNvSpPr/>
          <p:nvPr/>
        </p:nvSpPr>
        <p:spPr>
          <a:xfrm>
            <a:off x="1097280" y="3383280"/>
            <a:ext cx="91440" cy="1188720"/>
          </a:xfrm>
          <a:prstGeom prst="rect">
            <a:avLst/>
          </a:prstGeom>
          <a:solidFill>
            <a:srgbClr val="FF6B35"/>
          </a:solidFill>
          <a:ln/>
        </p:spPr>
        <p:txBody>
          <a:bodyPr/>
          <a:lstStyle/>
          <a:p>
            <a:endParaRPr lang="en-US"/>
          </a:p>
        </p:txBody>
      </p:sp>
      <p:sp>
        <p:nvSpPr>
          <p:cNvPr id="7" name="Text 5"/>
          <p:cNvSpPr/>
          <p:nvPr/>
        </p:nvSpPr>
        <p:spPr>
          <a:xfrm>
            <a:off x="1645920" y="3383280"/>
            <a:ext cx="8229600" cy="7315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Policy blocks the AI</a:t>
            </a:r>
            <a:endParaRPr lang="en-US" sz="2600" dirty="0"/>
          </a:p>
        </p:txBody>
      </p:sp>
      <p:sp>
        <p:nvSpPr>
          <p:cNvPr id="8" name="Text 6"/>
          <p:cNvSpPr/>
          <p:nvPr/>
        </p:nvSpPr>
        <p:spPr>
          <a:xfrm>
            <a:off x="1645920" y="4023360"/>
            <a:ext cx="8229600" cy="548640"/>
          </a:xfrm>
          <a:prstGeom prst="rect">
            <a:avLst/>
          </a:prstGeom>
          <a:noFill/>
          <a:ln/>
        </p:spPr>
        <p:txBody>
          <a:bodyPr wrap="square" lIns="0" tIns="0" rIns="0" bIns="0" rtlCol="0" anchor="ctr"/>
          <a:lstStyle/>
          <a:p>
            <a:pPr marL="0" indent="0">
              <a:buNone/>
            </a:pPr>
            <a:r>
              <a:rPr lang="en-US" sz="2000" dirty="0">
                <a:solidFill>
                  <a:srgbClr val="FF6B35"/>
                </a:solidFill>
                <a:latin typeface="Calibri" pitchFamily="34" charset="0"/>
                <a:ea typeface="Calibri" pitchFamily="34" charset="-122"/>
                <a:cs typeface="Calibri" pitchFamily="34" charset="-120"/>
              </a:rPr>
              <a:t>Kyverno</a:t>
            </a:r>
            <a:endParaRPr lang="en-US" sz="2000" dirty="0"/>
          </a:p>
        </p:txBody>
      </p:sp>
      <p:sp>
        <p:nvSpPr>
          <p:cNvPr id="9" name="Shape 7"/>
          <p:cNvSpPr/>
          <p:nvPr/>
        </p:nvSpPr>
        <p:spPr>
          <a:xfrm>
            <a:off x="1097280" y="4937760"/>
            <a:ext cx="91440" cy="1188720"/>
          </a:xfrm>
          <a:prstGeom prst="rect">
            <a:avLst/>
          </a:prstGeom>
          <a:solidFill>
            <a:srgbClr val="7C3AED"/>
          </a:solidFill>
          <a:ln/>
        </p:spPr>
        <p:txBody>
          <a:bodyPr/>
          <a:lstStyle/>
          <a:p>
            <a:endParaRPr lang="en-US"/>
          </a:p>
        </p:txBody>
      </p:sp>
      <p:sp>
        <p:nvSpPr>
          <p:cNvPr id="10" name="Text 8"/>
          <p:cNvSpPr/>
          <p:nvPr/>
        </p:nvSpPr>
        <p:spPr>
          <a:xfrm>
            <a:off x="1645920" y="4937760"/>
            <a:ext cx="8229600" cy="7315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AI investigates + posts RCA</a:t>
            </a:r>
            <a:endParaRPr lang="en-US" sz="2600" dirty="0"/>
          </a:p>
        </p:txBody>
      </p:sp>
      <p:sp>
        <p:nvSpPr>
          <p:cNvPr id="11" name="Text 9"/>
          <p:cNvSpPr/>
          <p:nvPr/>
        </p:nvSpPr>
        <p:spPr>
          <a:xfrm>
            <a:off x="1645920" y="5577840"/>
            <a:ext cx="8229600" cy="548640"/>
          </a:xfrm>
          <a:prstGeom prst="rect">
            <a:avLst/>
          </a:prstGeom>
          <a:noFill/>
          <a:ln/>
        </p:spPr>
        <p:txBody>
          <a:bodyPr wrap="square" lIns="0" tIns="0" rIns="0" bIns="0" rtlCol="0" anchor="ctr"/>
          <a:lstStyle/>
          <a:p>
            <a:pPr marL="0" indent="0">
              <a:buNone/>
            </a:pPr>
            <a:r>
              <a:rPr lang="en-US" sz="2000" dirty="0">
                <a:solidFill>
                  <a:srgbClr val="7C3AED"/>
                </a:solidFill>
                <a:latin typeface="Calibri" pitchFamily="34" charset="0"/>
                <a:ea typeface="Calibri" pitchFamily="34" charset="-122"/>
                <a:cs typeface="Calibri" pitchFamily="34" charset="-120"/>
              </a:rPr>
              <a:t>HolmesGPT</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914400" y="274320"/>
            <a:ext cx="10058400" cy="82296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The Architecture</a:t>
            </a:r>
            <a:endParaRPr lang="en-US" sz="3600" dirty="0"/>
          </a:p>
        </p:txBody>
      </p:sp>
      <p:sp>
        <p:nvSpPr>
          <p:cNvPr id="3" name="Text 1"/>
          <p:cNvSpPr/>
          <p:nvPr/>
        </p:nvSpPr>
        <p:spPr>
          <a:xfrm>
            <a:off x="457200" y="1188720"/>
            <a:ext cx="11247120" cy="5212080"/>
          </a:xfrm>
          <a:prstGeom prst="roundRect">
            <a:avLst>
              <a:gd name="adj" fmla="val 2632"/>
            </a:avLst>
          </a:prstGeom>
          <a:solidFill>
            <a:srgbClr val="0F1B2D"/>
          </a:solidFill>
          <a:ln w="25400">
            <a:solidFill>
              <a:srgbClr val="1A3A5C"/>
            </a:solidFill>
          </a:ln>
        </p:spPr>
        <p:txBody>
          <a:bodyPr wrap="square" rtlCol="0" anchor="ctr"/>
          <a:lstStyle/>
          <a:p>
            <a:pPr marL="0" indent="0">
              <a:buNone/>
            </a:pPr>
            <a:endParaRPr lang="en-US" dirty="0"/>
          </a:p>
        </p:txBody>
      </p:sp>
      <p:sp>
        <p:nvSpPr>
          <p:cNvPr id="4" name="Text 2"/>
          <p:cNvSpPr/>
          <p:nvPr/>
        </p:nvSpPr>
        <p:spPr>
          <a:xfrm>
            <a:off x="731520" y="1280160"/>
            <a:ext cx="3657600" cy="457200"/>
          </a:xfrm>
          <a:prstGeom prst="rect">
            <a:avLst/>
          </a:prstGeom>
          <a:noFill/>
          <a:ln/>
        </p:spPr>
        <p:txBody>
          <a:bodyPr wrap="square" lIns="0" tIns="0" rIns="0" bIns="0" rtlCol="0" anchor="ctr"/>
          <a:lstStyle/>
          <a:p>
            <a:pPr marL="0" indent="0">
              <a:buNone/>
            </a:pPr>
            <a:r>
              <a:rPr lang="en-US" sz="1800" dirty="0">
                <a:solidFill>
                  <a:srgbClr val="7799AA"/>
                </a:solidFill>
                <a:latin typeface="Calibri" pitchFamily="34" charset="0"/>
                <a:ea typeface="Calibri" pitchFamily="34" charset="-122"/>
                <a:cs typeface="Calibri" pitchFamily="34" charset="-120"/>
              </a:rPr>
              <a:t>EKS Cluster (us-east-1)</a:t>
            </a:r>
            <a:endParaRPr lang="en-US" sz="1800" dirty="0"/>
          </a:p>
        </p:txBody>
      </p:sp>
      <p:sp>
        <p:nvSpPr>
          <p:cNvPr id="5" name="Text 3"/>
          <p:cNvSpPr/>
          <p:nvPr/>
        </p:nvSpPr>
        <p:spPr>
          <a:xfrm>
            <a:off x="914400" y="1920240"/>
            <a:ext cx="3017520" cy="2286000"/>
          </a:xfrm>
          <a:prstGeom prst="roundRect">
            <a:avLst>
              <a:gd name="adj" fmla="val 4000"/>
            </a:avLst>
          </a:prstGeom>
          <a:solidFill>
            <a:srgbClr val="0D3D3D">
              <a:alpha val="60000"/>
            </a:srgbClr>
          </a:solidFill>
          <a:ln w="25400">
            <a:solidFill>
              <a:srgbClr val="00BFA5"/>
            </a:solidFill>
          </a:ln>
        </p:spPr>
        <p:txBody>
          <a:bodyPr wrap="square" rtlCol="0" anchor="ctr"/>
          <a:lstStyle/>
          <a:p>
            <a:pPr marL="0" indent="0" algn="ctr">
              <a:buNone/>
            </a:pPr>
            <a:r>
              <a:rPr lang="en-US" sz="1800" dirty="0">
                <a:solidFill>
                  <a:srgbClr val="AADDCC"/>
                </a:solidFill>
                <a:latin typeface="Calibri" pitchFamily="34" charset="0"/>
                <a:ea typeface="Calibri" pitchFamily="34" charset="-122"/>
                <a:cs typeface="Calibri" pitchFamily="34" charset="-120"/>
              </a:rPr>
              <a:t>demo ns</a:t>
            </a:r>
            <a:endParaRPr lang="en-US" sz="1800" dirty="0"/>
          </a:p>
          <a:p>
            <a:pPr marL="0" indent="0" algn="ctr">
              <a:buNone/>
            </a:pPr>
            <a:endParaRPr lang="en-US" sz="1800" dirty="0"/>
          </a:p>
          <a:p>
            <a:pPr marL="0" indent="0" algn="ctr">
              <a:buNone/>
            </a:pPr>
            <a:r>
              <a:rPr lang="en-US" sz="1800" dirty="0">
                <a:solidFill>
                  <a:srgbClr val="AADDCC"/>
                </a:solidFill>
                <a:latin typeface="Calibri" pitchFamily="34" charset="0"/>
                <a:ea typeface="Calibri" pitchFamily="34" charset="-122"/>
                <a:cs typeface="Calibri" pitchFamily="34" charset="-120"/>
              </a:rPr>
              <a:t>memory-hog</a:t>
            </a:r>
            <a:endParaRPr lang="en-US" sz="1800" dirty="0"/>
          </a:p>
          <a:p>
            <a:pPr marL="0" indent="0" algn="ctr">
              <a:buNone/>
            </a:pPr>
            <a:r>
              <a:rPr lang="en-US" sz="1800" dirty="0">
                <a:solidFill>
                  <a:srgbClr val="AADDCC"/>
                </a:solidFill>
                <a:latin typeface="Calibri" pitchFamily="34" charset="0"/>
                <a:ea typeface="Calibri" pitchFamily="34" charset="-122"/>
                <a:cs typeface="Calibri" pitchFamily="34" charset="-120"/>
              </a:rPr>
              <a:t>order-svc</a:t>
            </a:r>
            <a:endParaRPr lang="en-US" sz="1800" dirty="0"/>
          </a:p>
        </p:txBody>
      </p:sp>
      <p:sp>
        <p:nvSpPr>
          <p:cNvPr id="6" name="Text 4"/>
          <p:cNvSpPr/>
          <p:nvPr/>
        </p:nvSpPr>
        <p:spPr>
          <a:xfrm>
            <a:off x="4297680" y="1920240"/>
            <a:ext cx="3017520" cy="2286000"/>
          </a:xfrm>
          <a:prstGeom prst="roundRect">
            <a:avLst>
              <a:gd name="adj" fmla="val 4000"/>
            </a:avLst>
          </a:prstGeom>
          <a:solidFill>
            <a:srgbClr val="2D0A0A">
              <a:alpha val="60000"/>
            </a:srgbClr>
          </a:solidFill>
          <a:ln w="25400">
            <a:solidFill>
              <a:srgbClr val="FF4444"/>
            </a:solidFill>
          </a:ln>
        </p:spPr>
        <p:txBody>
          <a:bodyPr wrap="square" rtlCol="0" anchor="ctr"/>
          <a:lstStyle/>
          <a:p>
            <a:pPr marL="0" indent="0" algn="ctr">
              <a:buNone/>
            </a:pPr>
            <a:r>
              <a:rPr lang="en-US" sz="1800" dirty="0">
                <a:solidFill>
                  <a:srgbClr val="FFAAAA"/>
                </a:solidFill>
                <a:latin typeface="Calibri" pitchFamily="34" charset="0"/>
                <a:ea typeface="Calibri" pitchFamily="34" charset="-122"/>
                <a:cs typeface="Calibri" pitchFamily="34" charset="-120"/>
              </a:rPr>
              <a:t>critical ns</a:t>
            </a:r>
            <a:endParaRPr lang="en-US" sz="1800" dirty="0"/>
          </a:p>
          <a:p>
            <a:pPr marL="0" indent="0" algn="ctr">
              <a:buNone/>
            </a:pPr>
            <a:endParaRPr lang="en-US" sz="1800" dirty="0"/>
          </a:p>
          <a:p>
            <a:pPr marL="0" indent="0" algn="ctr">
              <a:buNone/>
            </a:pPr>
            <a:r>
              <a:rPr lang="en-US" sz="1800" dirty="0">
                <a:solidFill>
                  <a:srgbClr val="FFAAAA"/>
                </a:solidFill>
                <a:latin typeface="Calibri" pitchFamily="34" charset="0"/>
                <a:ea typeface="Calibri" pitchFamily="34" charset="-122"/>
                <a:cs typeface="Calibri" pitchFamily="34" charset="-120"/>
              </a:rPr>
              <a:t>payment-svc</a:t>
            </a:r>
            <a:endParaRPr lang="en-US" sz="1800" dirty="0"/>
          </a:p>
        </p:txBody>
      </p:sp>
      <p:sp>
        <p:nvSpPr>
          <p:cNvPr id="7" name="Text 5"/>
          <p:cNvSpPr/>
          <p:nvPr/>
        </p:nvSpPr>
        <p:spPr>
          <a:xfrm>
            <a:off x="7680960" y="1920240"/>
            <a:ext cx="3200400" cy="2286000"/>
          </a:xfrm>
          <a:prstGeom prst="roundRect">
            <a:avLst>
              <a:gd name="adj" fmla="val 4000"/>
            </a:avLst>
          </a:prstGeom>
          <a:solidFill>
            <a:srgbClr val="0A1A3D">
              <a:alpha val="60000"/>
            </a:srgbClr>
          </a:solidFill>
          <a:ln w="25400">
            <a:solidFill>
              <a:srgbClr val="4488FF"/>
            </a:solidFill>
          </a:ln>
        </p:spPr>
        <p:txBody>
          <a:bodyPr wrap="square" rtlCol="0" anchor="ctr"/>
          <a:lstStyle/>
          <a:p>
            <a:pPr marL="0" indent="0" algn="ctr">
              <a:buNone/>
            </a:pPr>
            <a:r>
              <a:rPr lang="en-US" sz="2000" dirty="0">
                <a:solidFill>
                  <a:srgbClr val="AABBFF"/>
                </a:solidFill>
                <a:latin typeface="Calibri" pitchFamily="34" charset="0"/>
                <a:ea typeface="Calibri" pitchFamily="34" charset="-122"/>
                <a:cs typeface="Calibri" pitchFamily="34" charset="-120"/>
              </a:rPr>
              <a:t>K8sGPT</a:t>
            </a:r>
            <a:endParaRPr lang="en-US" sz="2000" dirty="0"/>
          </a:p>
          <a:p>
            <a:pPr marL="0" indent="0" algn="ctr">
              <a:buNone/>
            </a:pPr>
            <a:r>
              <a:rPr lang="en-US" sz="2000" dirty="0">
                <a:solidFill>
                  <a:srgbClr val="AABBFF"/>
                </a:solidFill>
                <a:latin typeface="Calibri" pitchFamily="34" charset="0"/>
                <a:ea typeface="Calibri" pitchFamily="34" charset="-122"/>
                <a:cs typeface="Calibri" pitchFamily="34" charset="-120"/>
              </a:rPr>
              <a:t>Operator</a:t>
            </a:r>
            <a:endParaRPr lang="en-US" sz="2000" dirty="0"/>
          </a:p>
        </p:txBody>
      </p:sp>
      <p:sp>
        <p:nvSpPr>
          <p:cNvPr id="8" name="Text 6"/>
          <p:cNvSpPr/>
          <p:nvPr/>
        </p:nvSpPr>
        <p:spPr>
          <a:xfrm>
            <a:off x="914400" y="4572000"/>
            <a:ext cx="5029200" cy="1280160"/>
          </a:xfrm>
          <a:prstGeom prst="roundRect">
            <a:avLst>
              <a:gd name="adj" fmla="val 7143"/>
            </a:avLst>
          </a:prstGeom>
          <a:solidFill>
            <a:srgbClr val="1A0A3D">
              <a:alpha val="60000"/>
            </a:srgbClr>
          </a:solidFill>
          <a:ln w="25400">
            <a:solidFill>
              <a:srgbClr val="7C3AED"/>
            </a:solidFill>
          </a:ln>
        </p:spPr>
        <p:txBody>
          <a:bodyPr wrap="square" rtlCol="0" anchor="ctr"/>
          <a:lstStyle/>
          <a:p>
            <a:pPr marL="0" indent="0" algn="ctr">
              <a:buNone/>
            </a:pPr>
            <a:r>
              <a:rPr lang="en-US" sz="2000" dirty="0">
                <a:solidFill>
                  <a:srgbClr val="BB99FF"/>
                </a:solidFill>
                <a:latin typeface="Calibri" pitchFamily="34" charset="0"/>
                <a:ea typeface="Calibri" pitchFamily="34" charset="-122"/>
                <a:cs typeface="Calibri" pitchFamily="34" charset="-120"/>
              </a:rPr>
              <a:t>HolmesGPT  →  Slack RCA</a:t>
            </a:r>
            <a:endParaRPr lang="en-US" sz="2000" dirty="0"/>
          </a:p>
        </p:txBody>
      </p:sp>
      <p:sp>
        <p:nvSpPr>
          <p:cNvPr id="9" name="Text 7"/>
          <p:cNvSpPr/>
          <p:nvPr/>
        </p:nvSpPr>
        <p:spPr>
          <a:xfrm>
            <a:off x="6400800" y="4572000"/>
            <a:ext cx="2560320" cy="1280160"/>
          </a:xfrm>
          <a:prstGeom prst="roundRect">
            <a:avLst>
              <a:gd name="adj" fmla="val 7143"/>
            </a:avLst>
          </a:prstGeom>
          <a:solidFill>
            <a:srgbClr val="1A3A5C">
              <a:alpha val="70000"/>
            </a:srgbClr>
          </a:solidFill>
          <a:ln w="25400">
            <a:solidFill>
              <a:srgbClr val="FFB800"/>
            </a:solidFill>
          </a:ln>
        </p:spPr>
        <p:txBody>
          <a:bodyPr wrap="square" rtlCol="0" anchor="ctr"/>
          <a:lstStyle/>
          <a:p>
            <a:pPr marL="0" indent="0" algn="ctr">
              <a:buNone/>
            </a:pPr>
            <a:r>
              <a:rPr lang="en-US" sz="2000" dirty="0">
                <a:solidFill>
                  <a:srgbClr val="FFB800"/>
                </a:solidFill>
                <a:latin typeface="Calibri" pitchFamily="34" charset="0"/>
                <a:ea typeface="Calibri" pitchFamily="34" charset="-122"/>
                <a:cs typeface="Calibri" pitchFamily="34" charset="-120"/>
              </a:rPr>
              <a:t>Amazon</a:t>
            </a:r>
            <a:endParaRPr lang="en-US" sz="2000" dirty="0"/>
          </a:p>
          <a:p>
            <a:pPr marL="0" indent="0" algn="ctr">
              <a:buNone/>
            </a:pPr>
            <a:r>
              <a:rPr lang="en-US" sz="2000" dirty="0">
                <a:solidFill>
                  <a:srgbClr val="FFB800"/>
                </a:solidFill>
                <a:latin typeface="Calibri" pitchFamily="34" charset="0"/>
                <a:ea typeface="Calibri" pitchFamily="34" charset="-122"/>
                <a:cs typeface="Calibri" pitchFamily="34" charset="-120"/>
              </a:rPr>
              <a:t>Bedrock</a:t>
            </a:r>
            <a:endParaRPr lang="en-US" sz="2000" dirty="0"/>
          </a:p>
        </p:txBody>
      </p:sp>
      <p:sp>
        <p:nvSpPr>
          <p:cNvPr id="10" name="Text 8"/>
          <p:cNvSpPr/>
          <p:nvPr/>
        </p:nvSpPr>
        <p:spPr>
          <a:xfrm>
            <a:off x="9326880" y="4572000"/>
            <a:ext cx="2103120" cy="1280160"/>
          </a:xfrm>
          <a:prstGeom prst="roundRect">
            <a:avLst>
              <a:gd name="adj" fmla="val 7143"/>
            </a:avLst>
          </a:prstGeom>
          <a:solidFill>
            <a:srgbClr val="3D1A00">
              <a:alpha val="60000"/>
            </a:srgbClr>
          </a:solidFill>
          <a:ln w="25400">
            <a:solidFill>
              <a:srgbClr val="FF6B35"/>
            </a:solidFill>
          </a:ln>
        </p:spPr>
        <p:txBody>
          <a:bodyPr wrap="square" rtlCol="0" anchor="ctr"/>
          <a:lstStyle/>
          <a:p>
            <a:pPr marL="0" indent="0" algn="ctr">
              <a:buNone/>
            </a:pPr>
            <a:r>
              <a:rPr lang="en-US" sz="2000" dirty="0">
                <a:solidFill>
                  <a:srgbClr val="FF6B35"/>
                </a:solidFill>
                <a:latin typeface="Calibri" pitchFamily="34" charset="0"/>
                <a:ea typeface="Calibri" pitchFamily="34" charset="-122"/>
                <a:cs typeface="Calibri" pitchFamily="34" charset="-120"/>
              </a:rPr>
              <a:t>Kyverno</a:t>
            </a:r>
            <a:endParaRPr lang="en-US" sz="2000" dirty="0"/>
          </a:p>
          <a:p>
            <a:pPr marL="0" indent="0" algn="ctr">
              <a:buNone/>
            </a:pPr>
            <a:r>
              <a:rPr lang="en-US" sz="2000" dirty="0">
                <a:solidFill>
                  <a:srgbClr val="FF6B35"/>
                </a:solidFill>
                <a:latin typeface="Calibri" pitchFamily="34" charset="0"/>
                <a:ea typeface="Calibri" pitchFamily="34" charset="-122"/>
                <a:cs typeface="Calibri" pitchFamily="34" charset="-120"/>
              </a:rPr>
              <a:t>(admission)</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914400" y="457200"/>
            <a:ext cx="10058400" cy="9144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Three Layers</a:t>
            </a:r>
            <a:endParaRPr lang="en-US" sz="4000" dirty="0"/>
          </a:p>
        </p:txBody>
      </p:sp>
      <p:sp>
        <p:nvSpPr>
          <p:cNvPr id="3" name="Shape 1"/>
          <p:cNvSpPr/>
          <p:nvPr/>
        </p:nvSpPr>
        <p:spPr>
          <a:xfrm>
            <a:off x="914400" y="1645920"/>
            <a:ext cx="109728" cy="1280160"/>
          </a:xfrm>
          <a:prstGeom prst="rect">
            <a:avLst/>
          </a:prstGeom>
          <a:solidFill>
            <a:srgbClr val="00BFA5"/>
          </a:solidFill>
          <a:ln/>
        </p:spPr>
        <p:txBody>
          <a:bodyPr/>
          <a:lstStyle/>
          <a:p>
            <a:endParaRPr lang="en-US"/>
          </a:p>
        </p:txBody>
      </p:sp>
      <p:sp>
        <p:nvSpPr>
          <p:cNvPr id="4" name="Text 2"/>
          <p:cNvSpPr/>
          <p:nvPr/>
        </p:nvSpPr>
        <p:spPr>
          <a:xfrm>
            <a:off x="1371600" y="1737360"/>
            <a:ext cx="731520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K8sGPT</a:t>
            </a:r>
            <a:endParaRPr lang="en-US" sz="2800" dirty="0"/>
          </a:p>
        </p:txBody>
      </p:sp>
      <p:sp>
        <p:nvSpPr>
          <p:cNvPr id="5" name="Text 3"/>
          <p:cNvSpPr/>
          <p:nvPr/>
        </p:nvSpPr>
        <p:spPr>
          <a:xfrm>
            <a:off x="1371600" y="2377440"/>
            <a:ext cx="7315200" cy="548640"/>
          </a:xfrm>
          <a:prstGeom prst="rect">
            <a:avLst/>
          </a:prstGeom>
          <a:noFill/>
          <a:ln/>
        </p:spPr>
        <p:txBody>
          <a:bodyPr wrap="square" lIns="0" tIns="0" rIns="0" bIns="0" rtlCol="0" anchor="ctr"/>
          <a:lstStyle/>
          <a:p>
            <a:pPr marL="0" indent="0">
              <a:buNone/>
            </a:pPr>
            <a:r>
              <a:rPr lang="en-US" sz="2200" dirty="0">
                <a:solidFill>
                  <a:srgbClr val="00BFA5"/>
                </a:solidFill>
                <a:latin typeface="Calibri" pitchFamily="34" charset="0"/>
                <a:ea typeface="Calibri" pitchFamily="34" charset="-122"/>
                <a:cs typeface="Calibri" pitchFamily="34" charset="-120"/>
              </a:rPr>
              <a:t>Detect + Auto-Fix</a:t>
            </a:r>
            <a:endParaRPr lang="en-US" sz="2200" dirty="0"/>
          </a:p>
        </p:txBody>
      </p:sp>
      <p:sp>
        <p:nvSpPr>
          <p:cNvPr id="6" name="Shape 4"/>
          <p:cNvSpPr/>
          <p:nvPr/>
        </p:nvSpPr>
        <p:spPr>
          <a:xfrm>
            <a:off x="914400" y="3291840"/>
            <a:ext cx="109728" cy="1280160"/>
          </a:xfrm>
          <a:prstGeom prst="rect">
            <a:avLst/>
          </a:prstGeom>
          <a:solidFill>
            <a:srgbClr val="FF6B35"/>
          </a:solidFill>
          <a:ln/>
        </p:spPr>
        <p:txBody>
          <a:bodyPr/>
          <a:lstStyle/>
          <a:p>
            <a:endParaRPr lang="en-US"/>
          </a:p>
        </p:txBody>
      </p:sp>
      <p:sp>
        <p:nvSpPr>
          <p:cNvPr id="7" name="Text 5"/>
          <p:cNvSpPr/>
          <p:nvPr/>
        </p:nvSpPr>
        <p:spPr>
          <a:xfrm>
            <a:off x="1371600" y="3383280"/>
            <a:ext cx="731520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Kyverno</a:t>
            </a:r>
            <a:endParaRPr lang="en-US" sz="2800" dirty="0"/>
          </a:p>
        </p:txBody>
      </p:sp>
      <p:sp>
        <p:nvSpPr>
          <p:cNvPr id="8" name="Text 6"/>
          <p:cNvSpPr/>
          <p:nvPr/>
        </p:nvSpPr>
        <p:spPr>
          <a:xfrm>
            <a:off x="1371600" y="4023360"/>
            <a:ext cx="7315200" cy="548640"/>
          </a:xfrm>
          <a:prstGeom prst="rect">
            <a:avLst/>
          </a:prstGeom>
          <a:noFill/>
          <a:ln/>
        </p:spPr>
        <p:txBody>
          <a:bodyPr wrap="square" lIns="0" tIns="0" rIns="0" bIns="0" rtlCol="0" anchor="ctr"/>
          <a:lstStyle/>
          <a:p>
            <a:pPr marL="0" indent="0">
              <a:buNone/>
            </a:pPr>
            <a:r>
              <a:rPr lang="en-US" sz="2200" dirty="0">
                <a:solidFill>
                  <a:srgbClr val="FF6B35"/>
                </a:solidFill>
                <a:latin typeface="Calibri" pitchFamily="34" charset="0"/>
                <a:ea typeface="Calibri" pitchFamily="34" charset="-122"/>
                <a:cs typeface="Calibri" pitchFamily="34" charset="-120"/>
              </a:rPr>
              <a:t>Policy Guardrails</a:t>
            </a:r>
            <a:endParaRPr lang="en-US" sz="2200" dirty="0"/>
          </a:p>
        </p:txBody>
      </p:sp>
      <p:sp>
        <p:nvSpPr>
          <p:cNvPr id="9" name="Shape 7"/>
          <p:cNvSpPr/>
          <p:nvPr/>
        </p:nvSpPr>
        <p:spPr>
          <a:xfrm>
            <a:off x="914400" y="4937760"/>
            <a:ext cx="109728" cy="1280160"/>
          </a:xfrm>
          <a:prstGeom prst="rect">
            <a:avLst/>
          </a:prstGeom>
          <a:solidFill>
            <a:srgbClr val="7C3AED"/>
          </a:solidFill>
          <a:ln/>
        </p:spPr>
        <p:txBody>
          <a:bodyPr/>
          <a:lstStyle/>
          <a:p>
            <a:endParaRPr lang="en-US"/>
          </a:p>
        </p:txBody>
      </p:sp>
      <p:sp>
        <p:nvSpPr>
          <p:cNvPr id="10" name="Text 8"/>
          <p:cNvSpPr/>
          <p:nvPr/>
        </p:nvSpPr>
        <p:spPr>
          <a:xfrm>
            <a:off x="1371600" y="5029200"/>
            <a:ext cx="731520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HolmesGPT</a:t>
            </a:r>
            <a:endParaRPr lang="en-US" sz="2800" dirty="0"/>
          </a:p>
        </p:txBody>
      </p:sp>
      <p:sp>
        <p:nvSpPr>
          <p:cNvPr id="11" name="Text 9"/>
          <p:cNvSpPr/>
          <p:nvPr/>
        </p:nvSpPr>
        <p:spPr>
          <a:xfrm>
            <a:off x="1371600" y="5669280"/>
            <a:ext cx="7315200" cy="548640"/>
          </a:xfrm>
          <a:prstGeom prst="rect">
            <a:avLst/>
          </a:prstGeom>
          <a:noFill/>
          <a:ln/>
        </p:spPr>
        <p:txBody>
          <a:bodyPr wrap="square" lIns="0" tIns="0" rIns="0" bIns="0" rtlCol="0" anchor="ctr"/>
          <a:lstStyle/>
          <a:p>
            <a:pPr marL="0" indent="0">
              <a:buNone/>
            </a:pPr>
            <a:r>
              <a:rPr lang="en-US" sz="2200" dirty="0">
                <a:solidFill>
                  <a:srgbClr val="7C3AED"/>
                </a:solidFill>
                <a:latin typeface="Calibri" pitchFamily="34" charset="0"/>
                <a:ea typeface="Calibri" pitchFamily="34" charset="-122"/>
                <a:cs typeface="Calibri" pitchFamily="34" charset="-120"/>
              </a:rPr>
              <a:t>Deep Investigation</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914400" y="457200"/>
            <a:ext cx="10058400" cy="91440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K8sGPT: How It Works</a:t>
            </a:r>
            <a:endParaRPr lang="en-US" sz="3600" dirty="0"/>
          </a:p>
        </p:txBody>
      </p:sp>
      <p:sp>
        <p:nvSpPr>
          <p:cNvPr id="3" name="Text 1"/>
          <p:cNvSpPr/>
          <p:nvPr/>
        </p:nvSpPr>
        <p:spPr>
          <a:xfrm>
            <a:off x="1097280" y="1554480"/>
            <a:ext cx="731520" cy="731520"/>
          </a:xfrm>
          <a:prstGeom prst="rect">
            <a:avLst/>
          </a:prstGeom>
          <a:noFill/>
          <a:ln/>
        </p:spPr>
        <p:txBody>
          <a:bodyPr wrap="square" lIns="0" tIns="0" rIns="0" bIns="0" rtlCol="0" anchor="ctr"/>
          <a:lstStyle/>
          <a:p>
            <a:pPr marL="0" indent="0" algn="ctr">
              <a:buNone/>
            </a:pPr>
            <a:r>
              <a:rPr lang="en-US" sz="2800" b="1" dirty="0">
                <a:solidFill>
                  <a:srgbClr val="00BFA5"/>
                </a:solidFill>
                <a:latin typeface="Calibri" pitchFamily="34" charset="0"/>
                <a:ea typeface="Calibri" pitchFamily="34" charset="-122"/>
                <a:cs typeface="Calibri" pitchFamily="34" charset="-120"/>
              </a:rPr>
              <a:t>1</a:t>
            </a:r>
            <a:endParaRPr lang="en-US" sz="2800" dirty="0"/>
          </a:p>
        </p:txBody>
      </p:sp>
      <p:sp>
        <p:nvSpPr>
          <p:cNvPr id="4" name="Text 2"/>
          <p:cNvSpPr/>
          <p:nvPr/>
        </p:nvSpPr>
        <p:spPr>
          <a:xfrm>
            <a:off x="2011680" y="1554480"/>
            <a:ext cx="8229600" cy="731520"/>
          </a:xfrm>
          <a:prstGeom prst="rect">
            <a:avLst/>
          </a:prstGeom>
          <a:noFill/>
          <a:ln/>
        </p:spPr>
        <p:txBody>
          <a:bodyPr wrap="square" lIns="0" tIns="0" rIns="0" bIns="0" rtlCol="0" anchor="ctr"/>
          <a:lstStyle/>
          <a:p>
            <a:pPr marL="0" indent="0">
              <a:buNone/>
            </a:pPr>
            <a:r>
              <a:rPr lang="en-US" sz="2400" dirty="0">
                <a:solidFill>
                  <a:srgbClr val="FFFFFF"/>
                </a:solidFill>
                <a:latin typeface="Calibri" pitchFamily="34" charset="0"/>
                <a:ea typeface="Calibri" pitchFamily="34" charset="-122"/>
                <a:cs typeface="Calibri" pitchFamily="34" charset="-120"/>
              </a:rPr>
              <a:t>Scans every 30s → Detects issues</a:t>
            </a:r>
            <a:endParaRPr lang="en-US" sz="2400" dirty="0"/>
          </a:p>
        </p:txBody>
      </p:sp>
      <p:sp>
        <p:nvSpPr>
          <p:cNvPr id="5" name="Text 3"/>
          <p:cNvSpPr/>
          <p:nvPr/>
        </p:nvSpPr>
        <p:spPr>
          <a:xfrm>
            <a:off x="1097280" y="2286000"/>
            <a:ext cx="731520" cy="457200"/>
          </a:xfrm>
          <a:prstGeom prst="rect">
            <a:avLst/>
          </a:prstGeom>
          <a:noFill/>
          <a:ln/>
        </p:spPr>
        <p:txBody>
          <a:bodyPr wrap="square" lIns="0" tIns="0" rIns="0" bIns="0" rtlCol="0" anchor="ctr"/>
          <a:lstStyle/>
          <a:p>
            <a:pPr marL="0" indent="0" algn="ctr">
              <a:buNone/>
            </a:pPr>
            <a:r>
              <a:rPr lang="en-US" sz="2200" dirty="0">
                <a:solidFill>
                  <a:srgbClr val="00BFA5"/>
                </a:solidFill>
                <a:latin typeface="Calibri" pitchFamily="34" charset="0"/>
                <a:ea typeface="Calibri" pitchFamily="34" charset="-122"/>
                <a:cs typeface="Calibri" pitchFamily="34" charset="-120"/>
              </a:rPr>
              <a:t>↓</a:t>
            </a:r>
            <a:endParaRPr lang="en-US" sz="2200" dirty="0"/>
          </a:p>
        </p:txBody>
      </p:sp>
      <p:sp>
        <p:nvSpPr>
          <p:cNvPr id="6" name="Text 4"/>
          <p:cNvSpPr/>
          <p:nvPr/>
        </p:nvSpPr>
        <p:spPr>
          <a:xfrm>
            <a:off x="1097280" y="2834640"/>
            <a:ext cx="731520" cy="731520"/>
          </a:xfrm>
          <a:prstGeom prst="rect">
            <a:avLst/>
          </a:prstGeom>
          <a:noFill/>
          <a:ln/>
        </p:spPr>
        <p:txBody>
          <a:bodyPr wrap="square" lIns="0" tIns="0" rIns="0" bIns="0" rtlCol="0" anchor="ctr"/>
          <a:lstStyle/>
          <a:p>
            <a:pPr marL="0" indent="0" algn="ctr">
              <a:buNone/>
            </a:pPr>
            <a:r>
              <a:rPr lang="en-US" sz="2800" b="1" dirty="0">
                <a:solidFill>
                  <a:srgbClr val="00BFA5"/>
                </a:solidFill>
                <a:latin typeface="Calibri" pitchFamily="34" charset="0"/>
                <a:ea typeface="Calibri" pitchFamily="34" charset="-122"/>
                <a:cs typeface="Calibri" pitchFamily="34" charset="-120"/>
              </a:rPr>
              <a:t>2</a:t>
            </a:r>
            <a:endParaRPr lang="en-US" sz="2800" dirty="0"/>
          </a:p>
        </p:txBody>
      </p:sp>
      <p:sp>
        <p:nvSpPr>
          <p:cNvPr id="7" name="Text 5"/>
          <p:cNvSpPr/>
          <p:nvPr/>
        </p:nvSpPr>
        <p:spPr>
          <a:xfrm>
            <a:off x="2011680" y="2834640"/>
            <a:ext cx="8229600" cy="731520"/>
          </a:xfrm>
          <a:prstGeom prst="rect">
            <a:avLst/>
          </a:prstGeom>
          <a:noFill/>
          <a:ln/>
        </p:spPr>
        <p:txBody>
          <a:bodyPr wrap="square" lIns="0" tIns="0" rIns="0" bIns="0" rtlCol="0" anchor="ctr"/>
          <a:lstStyle/>
          <a:p>
            <a:pPr marL="0" indent="0">
              <a:buNone/>
            </a:pPr>
            <a:r>
              <a:rPr lang="en-US" sz="2400" dirty="0">
                <a:solidFill>
                  <a:srgbClr val="FFFFFF"/>
                </a:solidFill>
                <a:latin typeface="Calibri" pitchFamily="34" charset="0"/>
                <a:ea typeface="Calibri" pitchFamily="34" charset="-122"/>
                <a:cs typeface="Calibri" pitchFamily="34" charset="-120"/>
              </a:rPr>
              <a:t>Calls Bedrock → Generates fix YAML</a:t>
            </a:r>
            <a:endParaRPr lang="en-US" sz="2400" dirty="0"/>
          </a:p>
        </p:txBody>
      </p:sp>
      <p:sp>
        <p:nvSpPr>
          <p:cNvPr id="8" name="Text 6"/>
          <p:cNvSpPr/>
          <p:nvPr/>
        </p:nvSpPr>
        <p:spPr>
          <a:xfrm>
            <a:off x="1097280" y="3566160"/>
            <a:ext cx="731520" cy="457200"/>
          </a:xfrm>
          <a:prstGeom prst="rect">
            <a:avLst/>
          </a:prstGeom>
          <a:noFill/>
          <a:ln/>
        </p:spPr>
        <p:txBody>
          <a:bodyPr wrap="square" lIns="0" tIns="0" rIns="0" bIns="0" rtlCol="0" anchor="ctr"/>
          <a:lstStyle/>
          <a:p>
            <a:pPr marL="0" indent="0" algn="ctr">
              <a:buNone/>
            </a:pPr>
            <a:r>
              <a:rPr lang="en-US" sz="2200" dirty="0">
                <a:solidFill>
                  <a:srgbClr val="00BFA5"/>
                </a:solidFill>
                <a:latin typeface="Calibri" pitchFamily="34" charset="0"/>
                <a:ea typeface="Calibri" pitchFamily="34" charset="-122"/>
                <a:cs typeface="Calibri" pitchFamily="34" charset="-120"/>
              </a:rPr>
              <a:t>↓</a:t>
            </a:r>
            <a:endParaRPr lang="en-US" sz="2200" dirty="0"/>
          </a:p>
        </p:txBody>
      </p:sp>
      <p:sp>
        <p:nvSpPr>
          <p:cNvPr id="9" name="Text 7"/>
          <p:cNvSpPr/>
          <p:nvPr/>
        </p:nvSpPr>
        <p:spPr>
          <a:xfrm>
            <a:off x="1097280" y="4114800"/>
            <a:ext cx="731520" cy="731520"/>
          </a:xfrm>
          <a:prstGeom prst="rect">
            <a:avLst/>
          </a:prstGeom>
          <a:noFill/>
          <a:ln/>
        </p:spPr>
        <p:txBody>
          <a:bodyPr wrap="square" lIns="0" tIns="0" rIns="0" bIns="0" rtlCol="0" anchor="ctr"/>
          <a:lstStyle/>
          <a:p>
            <a:pPr marL="0" indent="0" algn="ctr">
              <a:buNone/>
            </a:pPr>
            <a:r>
              <a:rPr lang="en-US" sz="2800" b="1" dirty="0">
                <a:solidFill>
                  <a:srgbClr val="00BFA5"/>
                </a:solidFill>
                <a:latin typeface="Calibri" pitchFamily="34" charset="0"/>
                <a:ea typeface="Calibri" pitchFamily="34" charset="-122"/>
                <a:cs typeface="Calibri" pitchFamily="34" charset="-120"/>
              </a:rPr>
              <a:t>3</a:t>
            </a:r>
            <a:endParaRPr lang="en-US" sz="2800" dirty="0"/>
          </a:p>
        </p:txBody>
      </p:sp>
      <p:sp>
        <p:nvSpPr>
          <p:cNvPr id="10" name="Text 8"/>
          <p:cNvSpPr/>
          <p:nvPr/>
        </p:nvSpPr>
        <p:spPr>
          <a:xfrm>
            <a:off x="2011680" y="4114800"/>
            <a:ext cx="8229600" cy="731520"/>
          </a:xfrm>
          <a:prstGeom prst="rect">
            <a:avLst/>
          </a:prstGeom>
          <a:noFill/>
          <a:ln/>
        </p:spPr>
        <p:txBody>
          <a:bodyPr wrap="square" lIns="0" tIns="0" rIns="0" bIns="0" rtlCol="0" anchor="ctr"/>
          <a:lstStyle/>
          <a:p>
            <a:pPr marL="0" indent="0">
              <a:buNone/>
            </a:pPr>
            <a:r>
              <a:rPr lang="en-US" sz="2400" dirty="0">
                <a:solidFill>
                  <a:srgbClr val="FFFFFF"/>
                </a:solidFill>
                <a:latin typeface="Calibri" pitchFamily="34" charset="0"/>
                <a:ea typeface="Calibri" pitchFamily="34" charset="-122"/>
                <a:cs typeface="Calibri" pitchFamily="34" charset="-120"/>
              </a:rPr>
              <a:t>Similarity ≥ 40% → Auto-patches</a:t>
            </a:r>
            <a:endParaRPr lang="en-US" sz="2400" dirty="0"/>
          </a:p>
        </p:txBody>
      </p:sp>
      <p:sp>
        <p:nvSpPr>
          <p:cNvPr id="11" name="Text 9"/>
          <p:cNvSpPr/>
          <p:nvPr/>
        </p:nvSpPr>
        <p:spPr>
          <a:xfrm>
            <a:off x="1097280" y="4846320"/>
            <a:ext cx="731520" cy="457200"/>
          </a:xfrm>
          <a:prstGeom prst="rect">
            <a:avLst/>
          </a:prstGeom>
          <a:noFill/>
          <a:ln/>
        </p:spPr>
        <p:txBody>
          <a:bodyPr wrap="square" lIns="0" tIns="0" rIns="0" bIns="0" rtlCol="0" anchor="ctr"/>
          <a:lstStyle/>
          <a:p>
            <a:pPr marL="0" indent="0" algn="ctr">
              <a:buNone/>
            </a:pPr>
            <a:r>
              <a:rPr lang="en-US" sz="2200" dirty="0">
                <a:solidFill>
                  <a:srgbClr val="00BFA5"/>
                </a:solidFill>
                <a:latin typeface="Calibri" pitchFamily="34" charset="0"/>
                <a:ea typeface="Calibri" pitchFamily="34" charset="-122"/>
                <a:cs typeface="Calibri" pitchFamily="34" charset="-120"/>
              </a:rPr>
              <a:t>↓</a:t>
            </a:r>
            <a:endParaRPr lang="en-US" sz="2200" dirty="0"/>
          </a:p>
        </p:txBody>
      </p:sp>
      <p:sp>
        <p:nvSpPr>
          <p:cNvPr id="12" name="Text 10"/>
          <p:cNvSpPr/>
          <p:nvPr/>
        </p:nvSpPr>
        <p:spPr>
          <a:xfrm>
            <a:off x="1097280" y="5394960"/>
            <a:ext cx="731520" cy="731520"/>
          </a:xfrm>
          <a:prstGeom prst="rect">
            <a:avLst/>
          </a:prstGeom>
          <a:noFill/>
          <a:ln/>
        </p:spPr>
        <p:txBody>
          <a:bodyPr wrap="square" lIns="0" tIns="0" rIns="0" bIns="0" rtlCol="0" anchor="ctr"/>
          <a:lstStyle/>
          <a:p>
            <a:pPr marL="0" indent="0" algn="ctr">
              <a:buNone/>
            </a:pPr>
            <a:r>
              <a:rPr lang="en-US" sz="2800" b="1" dirty="0">
                <a:solidFill>
                  <a:srgbClr val="00BFA5"/>
                </a:solidFill>
                <a:latin typeface="Calibri" pitchFamily="34" charset="0"/>
                <a:ea typeface="Calibri" pitchFamily="34" charset="-122"/>
                <a:cs typeface="Calibri" pitchFamily="34" charset="-120"/>
              </a:rPr>
              <a:t>4</a:t>
            </a:r>
            <a:endParaRPr lang="en-US" sz="2800" dirty="0"/>
          </a:p>
        </p:txBody>
      </p:sp>
      <p:sp>
        <p:nvSpPr>
          <p:cNvPr id="13" name="Text 11"/>
          <p:cNvSpPr/>
          <p:nvPr/>
        </p:nvSpPr>
        <p:spPr>
          <a:xfrm>
            <a:off x="2011680" y="5394960"/>
            <a:ext cx="8229600" cy="731520"/>
          </a:xfrm>
          <a:prstGeom prst="rect">
            <a:avLst/>
          </a:prstGeom>
          <a:noFill/>
          <a:ln/>
        </p:spPr>
        <p:txBody>
          <a:bodyPr wrap="square" lIns="0" tIns="0" rIns="0" bIns="0" rtlCol="0" anchor="ctr"/>
          <a:lstStyle/>
          <a:p>
            <a:pPr marL="0" indent="0">
              <a:buNone/>
            </a:pPr>
            <a:r>
              <a:rPr lang="en-US" sz="2400" dirty="0">
                <a:solidFill>
                  <a:srgbClr val="FFFFFF"/>
                </a:solidFill>
                <a:latin typeface="Calibri" pitchFamily="34" charset="0"/>
                <a:ea typeface="Calibri" pitchFamily="34" charset="-122"/>
                <a:cs typeface="Calibri" pitchFamily="34" charset="-120"/>
              </a:rPr>
              <a:t>Stored as K8s CRDs</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657600" y="1371600"/>
            <a:ext cx="4572000" cy="4114800"/>
          </a:xfrm>
          <a:prstGeom prst="ellipse">
            <a:avLst/>
          </a:prstGeom>
          <a:solidFill>
            <a:srgbClr val="00BFA5">
              <a:alpha val="12000"/>
            </a:srgbClr>
          </a:solidFill>
          <a:ln/>
        </p:spPr>
        <p:txBody>
          <a:bodyPr/>
          <a:lstStyle/>
          <a:p>
            <a:endParaRPr lang="en-US"/>
          </a:p>
        </p:txBody>
      </p:sp>
      <p:sp>
        <p:nvSpPr>
          <p:cNvPr id="3" name="Text 1"/>
          <p:cNvSpPr/>
          <p:nvPr/>
        </p:nvSpPr>
        <p:spPr>
          <a:xfrm>
            <a:off x="2286000" y="1828800"/>
            <a:ext cx="7315200" cy="1645920"/>
          </a:xfrm>
          <a:prstGeom prst="rect">
            <a:avLst/>
          </a:prstGeom>
          <a:noFill/>
          <a:ln/>
        </p:spPr>
        <p:txBody>
          <a:bodyPr wrap="square" lIns="0" tIns="0" rIns="0" bIns="0" rtlCol="0" anchor="ctr"/>
          <a:lstStyle/>
          <a:p>
            <a:pPr marL="0" indent="0" algn="ctr">
              <a:buNone/>
            </a:pPr>
            <a:r>
              <a:rPr lang="en-US" sz="7200" b="1" dirty="0">
                <a:solidFill>
                  <a:srgbClr val="FFFFFF"/>
                </a:solidFill>
                <a:latin typeface="Calibri" pitchFamily="34" charset="0"/>
                <a:ea typeface="Calibri" pitchFamily="34" charset="-122"/>
                <a:cs typeface="Calibri" pitchFamily="34" charset="-120"/>
              </a:rPr>
              <a:t>DEMO 1</a:t>
            </a:r>
            <a:endParaRPr lang="en-US" sz="7200" dirty="0"/>
          </a:p>
        </p:txBody>
      </p:sp>
      <p:sp>
        <p:nvSpPr>
          <p:cNvPr id="4" name="Text 2"/>
          <p:cNvSpPr/>
          <p:nvPr/>
        </p:nvSpPr>
        <p:spPr>
          <a:xfrm>
            <a:off x="2286000" y="3657600"/>
            <a:ext cx="7315200" cy="731520"/>
          </a:xfrm>
          <a:prstGeom prst="rect">
            <a:avLst/>
          </a:prstGeom>
          <a:noFill/>
          <a:ln/>
        </p:spPr>
        <p:txBody>
          <a:bodyPr wrap="square" lIns="0" tIns="0" rIns="0" bIns="0" rtlCol="0" anchor="ctr"/>
          <a:lstStyle/>
          <a:p>
            <a:pPr marL="0" indent="0" algn="ctr">
              <a:buNone/>
            </a:pPr>
            <a:r>
              <a:rPr lang="en-US" sz="2800" dirty="0">
                <a:solidFill>
                  <a:srgbClr val="00BFA5"/>
                </a:solidFill>
                <a:latin typeface="Calibri" pitchFamily="34" charset="0"/>
                <a:ea typeface="Calibri" pitchFamily="34" charset="-122"/>
                <a:cs typeface="Calibri" pitchFamily="34" charset="-120"/>
              </a:rPr>
              <a:t>OOMKill → AI Auto-Fix</a:t>
            </a:r>
            <a:endParaRPr lang="en-US" sz="2800" dirty="0"/>
          </a:p>
        </p:txBody>
      </p:sp>
      <p:sp>
        <p:nvSpPr>
          <p:cNvPr id="5" name="Text 3"/>
          <p:cNvSpPr/>
          <p:nvPr/>
        </p:nvSpPr>
        <p:spPr>
          <a:xfrm>
            <a:off x="2286000" y="4572000"/>
            <a:ext cx="7315200" cy="548640"/>
          </a:xfrm>
          <a:prstGeom prst="rect">
            <a:avLst/>
          </a:prstGeom>
          <a:noFill/>
          <a:ln/>
        </p:spPr>
        <p:txBody>
          <a:bodyPr wrap="square" lIns="0" tIns="0" rIns="0" bIns="0" rtlCol="0" anchor="ctr"/>
          <a:lstStyle/>
          <a:p>
            <a:pPr marL="0" indent="0" algn="ctr">
              <a:buNone/>
            </a:pPr>
            <a:r>
              <a:rPr lang="en-US" sz="2200" dirty="0">
                <a:solidFill>
                  <a:srgbClr val="99BBCC"/>
                </a:solidFill>
                <a:latin typeface="Calibri" pitchFamily="34" charset="0"/>
                <a:ea typeface="Calibri" pitchFamily="34" charset="-122"/>
                <a:cs typeface="Calibri" pitchFamily="34" charset="-120"/>
              </a:rPr>
              <a:t>64Mi limit. 128M demand.</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914400" y="457200"/>
            <a:ext cx="10058400" cy="91440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What Just Happened</a:t>
            </a:r>
            <a:endParaRPr lang="en-US" sz="3600" dirty="0"/>
          </a:p>
        </p:txBody>
      </p:sp>
      <p:sp>
        <p:nvSpPr>
          <p:cNvPr id="3" name="Text 1"/>
          <p:cNvSpPr/>
          <p:nvPr/>
        </p:nvSpPr>
        <p:spPr>
          <a:xfrm>
            <a:off x="457200" y="2286000"/>
            <a:ext cx="2560320" cy="2011680"/>
          </a:xfrm>
          <a:prstGeom prst="roundRect">
            <a:avLst>
              <a:gd name="adj" fmla="val 4545"/>
            </a:avLst>
          </a:prstGeom>
          <a:solidFill>
            <a:srgbClr val="0D3D3D">
              <a:alpha val="60000"/>
            </a:srgbClr>
          </a:solidFill>
          <a:ln w="25400">
            <a:solidFill>
              <a:srgbClr val="00BFA5"/>
            </a:solidFill>
          </a:ln>
        </p:spPr>
        <p:txBody>
          <a:bodyPr wrap="square"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OOMKill</a:t>
            </a:r>
            <a:endParaRPr lang="en-US" sz="2000" dirty="0"/>
          </a:p>
        </p:txBody>
      </p:sp>
      <p:sp>
        <p:nvSpPr>
          <p:cNvPr id="4" name="Text 2"/>
          <p:cNvSpPr/>
          <p:nvPr/>
        </p:nvSpPr>
        <p:spPr>
          <a:xfrm>
            <a:off x="457200" y="4389120"/>
            <a:ext cx="2560320" cy="457200"/>
          </a:xfrm>
          <a:prstGeom prst="rect">
            <a:avLst/>
          </a:prstGeom>
          <a:noFill/>
          <a:ln/>
        </p:spPr>
        <p:txBody>
          <a:bodyPr wrap="square" lIns="0" tIns="0" rIns="0" bIns="0" rtlCol="0" anchor="ctr"/>
          <a:lstStyle/>
          <a:p>
            <a:pPr marL="0" indent="0" algn="ctr">
              <a:buNone/>
            </a:pPr>
            <a:r>
              <a:rPr lang="en-US" sz="1800" dirty="0">
                <a:solidFill>
                  <a:srgbClr val="00BFA5"/>
                </a:solidFill>
                <a:latin typeface="Calibri" pitchFamily="34" charset="0"/>
                <a:ea typeface="Calibri" pitchFamily="34" charset="-122"/>
                <a:cs typeface="Calibri" pitchFamily="34" charset="-120"/>
              </a:rPr>
              <a:t>0s</a:t>
            </a:r>
            <a:endParaRPr lang="en-US" sz="1800" dirty="0"/>
          </a:p>
        </p:txBody>
      </p:sp>
      <p:sp>
        <p:nvSpPr>
          <p:cNvPr id="5" name="Text 3"/>
          <p:cNvSpPr/>
          <p:nvPr/>
        </p:nvSpPr>
        <p:spPr>
          <a:xfrm>
            <a:off x="3017520" y="3017520"/>
            <a:ext cx="365760" cy="548640"/>
          </a:xfrm>
          <a:prstGeom prst="rect">
            <a:avLst/>
          </a:prstGeom>
          <a:noFill/>
          <a:ln/>
        </p:spPr>
        <p:txBody>
          <a:bodyPr wrap="square" lIns="0" tIns="0" rIns="0" bIns="0" rtlCol="0" anchor="ctr"/>
          <a:lstStyle/>
          <a:p>
            <a:pPr marL="0" indent="0" algn="ctr">
              <a:buNone/>
            </a:pPr>
            <a:r>
              <a:rPr lang="en-US" sz="2800" dirty="0">
                <a:solidFill>
                  <a:srgbClr val="555555"/>
                </a:solidFill>
                <a:latin typeface="Calibri" pitchFamily="34" charset="0"/>
                <a:ea typeface="Calibri" pitchFamily="34" charset="-122"/>
                <a:cs typeface="Calibri" pitchFamily="34" charset="-120"/>
              </a:rPr>
              <a:t>→</a:t>
            </a:r>
            <a:endParaRPr lang="en-US" sz="2800" dirty="0"/>
          </a:p>
        </p:txBody>
      </p:sp>
      <p:sp>
        <p:nvSpPr>
          <p:cNvPr id="6" name="Text 4"/>
          <p:cNvSpPr/>
          <p:nvPr/>
        </p:nvSpPr>
        <p:spPr>
          <a:xfrm>
            <a:off x="3383280" y="2286000"/>
            <a:ext cx="2560320" cy="2011680"/>
          </a:xfrm>
          <a:prstGeom prst="roundRect">
            <a:avLst>
              <a:gd name="adj" fmla="val 4545"/>
            </a:avLst>
          </a:prstGeom>
          <a:solidFill>
            <a:srgbClr val="0D3D3D">
              <a:alpha val="60000"/>
            </a:srgbClr>
          </a:solidFill>
          <a:ln w="25400">
            <a:solidFill>
              <a:srgbClr val="00BFA5"/>
            </a:solidFill>
          </a:ln>
        </p:spPr>
        <p:txBody>
          <a:bodyPr wrap="square"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Bedrock</a:t>
            </a:r>
            <a:endParaRPr lang="en-US" sz="2000" dirty="0"/>
          </a:p>
          <a:p>
            <a:pPr marL="0" indent="0" algn="ctr">
              <a:buNone/>
            </a:pPr>
            <a:r>
              <a:rPr lang="en-US" sz="2000" dirty="0">
                <a:solidFill>
                  <a:srgbClr val="FFFFFF"/>
                </a:solidFill>
                <a:latin typeface="Calibri" pitchFamily="34" charset="0"/>
                <a:ea typeface="Calibri" pitchFamily="34" charset="-122"/>
                <a:cs typeface="Calibri" pitchFamily="34" charset="-120"/>
              </a:rPr>
              <a:t>generates fix</a:t>
            </a:r>
            <a:endParaRPr lang="en-US" sz="2000" dirty="0"/>
          </a:p>
        </p:txBody>
      </p:sp>
      <p:sp>
        <p:nvSpPr>
          <p:cNvPr id="7" name="Text 5"/>
          <p:cNvSpPr/>
          <p:nvPr/>
        </p:nvSpPr>
        <p:spPr>
          <a:xfrm>
            <a:off x="3383280" y="4389120"/>
            <a:ext cx="2560320" cy="457200"/>
          </a:xfrm>
          <a:prstGeom prst="rect">
            <a:avLst/>
          </a:prstGeom>
          <a:noFill/>
          <a:ln/>
        </p:spPr>
        <p:txBody>
          <a:bodyPr wrap="square" lIns="0" tIns="0" rIns="0" bIns="0" rtlCol="0" anchor="ctr"/>
          <a:lstStyle/>
          <a:p>
            <a:pPr marL="0" indent="0" algn="ctr">
              <a:buNone/>
            </a:pPr>
            <a:r>
              <a:rPr lang="en-US" sz="1800" dirty="0">
                <a:solidFill>
                  <a:srgbClr val="00BFA5"/>
                </a:solidFill>
                <a:latin typeface="Calibri" pitchFamily="34" charset="0"/>
                <a:ea typeface="Calibri" pitchFamily="34" charset="-122"/>
                <a:cs typeface="Calibri" pitchFamily="34" charset="-120"/>
              </a:rPr>
              <a:t>30s</a:t>
            </a:r>
            <a:endParaRPr lang="en-US" sz="1800" dirty="0"/>
          </a:p>
        </p:txBody>
      </p:sp>
      <p:sp>
        <p:nvSpPr>
          <p:cNvPr id="8" name="Text 6"/>
          <p:cNvSpPr/>
          <p:nvPr/>
        </p:nvSpPr>
        <p:spPr>
          <a:xfrm>
            <a:off x="5943600" y="3017520"/>
            <a:ext cx="365760" cy="548640"/>
          </a:xfrm>
          <a:prstGeom prst="rect">
            <a:avLst/>
          </a:prstGeom>
          <a:noFill/>
          <a:ln/>
        </p:spPr>
        <p:txBody>
          <a:bodyPr wrap="square" lIns="0" tIns="0" rIns="0" bIns="0" rtlCol="0" anchor="ctr"/>
          <a:lstStyle/>
          <a:p>
            <a:pPr marL="0" indent="0" algn="ctr">
              <a:buNone/>
            </a:pPr>
            <a:r>
              <a:rPr lang="en-US" sz="2800" dirty="0">
                <a:solidFill>
                  <a:srgbClr val="555555"/>
                </a:solidFill>
                <a:latin typeface="Calibri" pitchFamily="34" charset="0"/>
                <a:ea typeface="Calibri" pitchFamily="34" charset="-122"/>
                <a:cs typeface="Calibri" pitchFamily="34" charset="-120"/>
              </a:rPr>
              <a:t>→</a:t>
            </a:r>
            <a:endParaRPr lang="en-US" sz="2800" dirty="0"/>
          </a:p>
        </p:txBody>
      </p:sp>
      <p:sp>
        <p:nvSpPr>
          <p:cNvPr id="9" name="Text 7"/>
          <p:cNvSpPr/>
          <p:nvPr/>
        </p:nvSpPr>
        <p:spPr>
          <a:xfrm>
            <a:off x="6309360" y="2286000"/>
            <a:ext cx="2560320" cy="2011680"/>
          </a:xfrm>
          <a:prstGeom prst="roundRect">
            <a:avLst>
              <a:gd name="adj" fmla="val 4545"/>
            </a:avLst>
          </a:prstGeom>
          <a:solidFill>
            <a:srgbClr val="0D3D3D">
              <a:alpha val="60000"/>
            </a:srgbClr>
          </a:solidFill>
          <a:ln w="25400">
            <a:solidFill>
              <a:srgbClr val="00BFA5"/>
            </a:solidFill>
          </a:ln>
        </p:spPr>
        <p:txBody>
          <a:bodyPr wrap="square"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Similarity</a:t>
            </a:r>
            <a:endParaRPr lang="en-US" sz="2000" dirty="0"/>
          </a:p>
          <a:p>
            <a:pPr marL="0" indent="0" algn="ctr">
              <a:buNone/>
            </a:pPr>
            <a:r>
              <a:rPr lang="en-US" sz="2000" dirty="0">
                <a:solidFill>
                  <a:srgbClr val="FFFFFF"/>
                </a:solidFill>
                <a:latin typeface="Calibri" pitchFamily="34" charset="0"/>
                <a:ea typeface="Calibri" pitchFamily="34" charset="-122"/>
                <a:cs typeface="Calibri" pitchFamily="34" charset="-120"/>
              </a:rPr>
              <a:t>76%</a:t>
            </a:r>
            <a:endParaRPr lang="en-US" sz="2000" dirty="0"/>
          </a:p>
        </p:txBody>
      </p:sp>
      <p:sp>
        <p:nvSpPr>
          <p:cNvPr id="10" name="Text 8"/>
          <p:cNvSpPr/>
          <p:nvPr/>
        </p:nvSpPr>
        <p:spPr>
          <a:xfrm>
            <a:off x="6309360" y="4389120"/>
            <a:ext cx="2560320" cy="457200"/>
          </a:xfrm>
          <a:prstGeom prst="rect">
            <a:avLst/>
          </a:prstGeom>
          <a:noFill/>
          <a:ln/>
        </p:spPr>
        <p:txBody>
          <a:bodyPr wrap="square" lIns="0" tIns="0" rIns="0" bIns="0" rtlCol="0" anchor="ctr"/>
          <a:lstStyle/>
          <a:p>
            <a:pPr marL="0" indent="0" algn="ctr">
              <a:buNone/>
            </a:pPr>
            <a:r>
              <a:rPr lang="en-US" sz="1800" dirty="0">
                <a:solidFill>
                  <a:srgbClr val="00BFA5"/>
                </a:solidFill>
                <a:latin typeface="Calibri" pitchFamily="34" charset="0"/>
                <a:ea typeface="Calibri" pitchFamily="34" charset="-122"/>
                <a:cs typeface="Calibri" pitchFamily="34" charset="-120"/>
              </a:rPr>
              <a:t>40s</a:t>
            </a:r>
            <a:endParaRPr lang="en-US" sz="1800" dirty="0"/>
          </a:p>
        </p:txBody>
      </p:sp>
      <p:sp>
        <p:nvSpPr>
          <p:cNvPr id="11" name="Text 9"/>
          <p:cNvSpPr/>
          <p:nvPr/>
        </p:nvSpPr>
        <p:spPr>
          <a:xfrm>
            <a:off x="8869680" y="3017520"/>
            <a:ext cx="365760" cy="548640"/>
          </a:xfrm>
          <a:prstGeom prst="rect">
            <a:avLst/>
          </a:prstGeom>
          <a:noFill/>
          <a:ln/>
        </p:spPr>
        <p:txBody>
          <a:bodyPr wrap="square" lIns="0" tIns="0" rIns="0" bIns="0" rtlCol="0" anchor="ctr"/>
          <a:lstStyle/>
          <a:p>
            <a:pPr marL="0" indent="0" algn="ctr">
              <a:buNone/>
            </a:pPr>
            <a:r>
              <a:rPr lang="en-US" sz="2800" dirty="0">
                <a:solidFill>
                  <a:srgbClr val="555555"/>
                </a:solidFill>
                <a:latin typeface="Calibri" pitchFamily="34" charset="0"/>
                <a:ea typeface="Calibri" pitchFamily="34" charset="-122"/>
                <a:cs typeface="Calibri" pitchFamily="34" charset="-120"/>
              </a:rPr>
              <a:t>→</a:t>
            </a:r>
            <a:endParaRPr lang="en-US" sz="2800" dirty="0"/>
          </a:p>
        </p:txBody>
      </p:sp>
      <p:sp>
        <p:nvSpPr>
          <p:cNvPr id="12" name="Text 10"/>
          <p:cNvSpPr/>
          <p:nvPr/>
        </p:nvSpPr>
        <p:spPr>
          <a:xfrm>
            <a:off x="9235440" y="2286000"/>
            <a:ext cx="2560320" cy="2011680"/>
          </a:xfrm>
          <a:prstGeom prst="roundRect">
            <a:avLst>
              <a:gd name="adj" fmla="val 4545"/>
            </a:avLst>
          </a:prstGeom>
          <a:solidFill>
            <a:srgbClr val="0D3D3D">
              <a:alpha val="60000"/>
            </a:srgbClr>
          </a:solidFill>
          <a:ln w="25400">
            <a:solidFill>
              <a:srgbClr val="00BFA5"/>
            </a:solidFill>
          </a:ln>
        </p:spPr>
        <p:txBody>
          <a:bodyPr wrap="square"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Pod Running</a:t>
            </a:r>
            <a:endParaRPr lang="en-US" sz="2000" dirty="0"/>
          </a:p>
          <a:p>
            <a:pPr marL="0" indent="0" algn="ctr">
              <a:buNone/>
            </a:pPr>
            <a:r>
              <a:rPr lang="en-US" sz="2000" dirty="0">
                <a:solidFill>
                  <a:srgbClr val="FFFFFF"/>
                </a:solidFill>
                <a:latin typeface="Calibri" pitchFamily="34" charset="0"/>
                <a:ea typeface="Calibri" pitchFamily="34" charset="-122"/>
                <a:cs typeface="Calibri" pitchFamily="34" charset="-120"/>
              </a:rPr>
              <a:t>✅</a:t>
            </a:r>
            <a:endParaRPr lang="en-US" sz="2000" dirty="0"/>
          </a:p>
        </p:txBody>
      </p:sp>
      <p:sp>
        <p:nvSpPr>
          <p:cNvPr id="13" name="Text 11"/>
          <p:cNvSpPr/>
          <p:nvPr/>
        </p:nvSpPr>
        <p:spPr>
          <a:xfrm>
            <a:off x="9235440" y="4389120"/>
            <a:ext cx="2560320" cy="457200"/>
          </a:xfrm>
          <a:prstGeom prst="rect">
            <a:avLst/>
          </a:prstGeom>
          <a:noFill/>
          <a:ln/>
        </p:spPr>
        <p:txBody>
          <a:bodyPr wrap="square" lIns="0" tIns="0" rIns="0" bIns="0" rtlCol="0" anchor="ctr"/>
          <a:lstStyle/>
          <a:p>
            <a:pPr marL="0" indent="0" algn="ctr">
              <a:buNone/>
            </a:pPr>
            <a:r>
              <a:rPr lang="en-US" sz="1800" dirty="0">
                <a:solidFill>
                  <a:srgbClr val="00BFA5"/>
                </a:solidFill>
                <a:latin typeface="Calibri" pitchFamily="34" charset="0"/>
                <a:ea typeface="Calibri" pitchFamily="34" charset="-122"/>
                <a:cs typeface="Calibri" pitchFamily="34" charset="-120"/>
              </a:rPr>
              <a:t>45s</a:t>
            </a:r>
            <a:endParaRPr lang="en-US" sz="1800" dirty="0"/>
          </a:p>
        </p:txBody>
      </p:sp>
      <p:sp>
        <p:nvSpPr>
          <p:cNvPr id="14" name="Text 12"/>
          <p:cNvSpPr/>
          <p:nvPr/>
        </p:nvSpPr>
        <p:spPr>
          <a:xfrm>
            <a:off x="914400" y="5303520"/>
            <a:ext cx="10058400" cy="640080"/>
          </a:xfrm>
          <a:prstGeom prst="rect">
            <a:avLst/>
          </a:prstGeom>
          <a:noFill/>
          <a:ln/>
        </p:spPr>
        <p:txBody>
          <a:bodyPr wrap="square" lIns="0" tIns="0" rIns="0" bIns="0" rtlCol="0" anchor="ctr"/>
          <a:lstStyle/>
          <a:p>
            <a:pPr marL="0" indent="0" algn="ctr">
              <a:buNone/>
            </a:pPr>
            <a:r>
              <a:rPr lang="en-US" sz="2200" i="1" dirty="0">
                <a:solidFill>
                  <a:srgbClr val="99BBCC"/>
                </a:solidFill>
                <a:latin typeface="Calibri" pitchFamily="34" charset="0"/>
                <a:ea typeface="Calibri" pitchFamily="34" charset="-122"/>
                <a:cs typeface="Calibri" pitchFamily="34" charset="-120"/>
              </a:rPr>
              <a:t>~45 seconds. No human touched kubectl.</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0A0A"/>
        </a:solidFill>
        <a:effectLst/>
      </p:bgPr>
    </p:bg>
    <p:spTree>
      <p:nvGrpSpPr>
        <p:cNvPr id="1" name=""/>
        <p:cNvGrpSpPr/>
        <p:nvPr/>
      </p:nvGrpSpPr>
      <p:grpSpPr>
        <a:xfrm>
          <a:off x="0" y="0"/>
          <a:ext cx="0" cy="0"/>
          <a:chOff x="0" y="0"/>
          <a:chExt cx="0" cy="0"/>
        </a:xfrm>
      </p:grpSpPr>
      <p:sp>
        <p:nvSpPr>
          <p:cNvPr id="2" name="Text 0"/>
          <p:cNvSpPr/>
          <p:nvPr/>
        </p:nvSpPr>
        <p:spPr>
          <a:xfrm>
            <a:off x="914400" y="1828800"/>
            <a:ext cx="10058400" cy="2743200"/>
          </a:xfrm>
          <a:prstGeom prst="rect">
            <a:avLst/>
          </a:prstGeom>
          <a:noFill/>
          <a:ln/>
        </p:spPr>
        <p:txBody>
          <a:bodyPr wrap="square" lIns="0" tIns="0" rIns="0" bIns="0" rtlCol="0" anchor="ctr"/>
          <a:lstStyle/>
          <a:p>
            <a:pPr marL="0" indent="0" algn="ctr">
              <a:buNone/>
            </a:pPr>
            <a:r>
              <a:rPr lang="en-US" sz="3600" b="1" dirty="0">
                <a:solidFill>
                  <a:srgbClr val="FF6666"/>
                </a:solidFill>
                <a:latin typeface="Calibri" pitchFamily="34" charset="0"/>
                <a:ea typeface="Calibri" pitchFamily="34" charset="-122"/>
                <a:cs typeface="Calibri" pitchFamily="34" charset="-120"/>
              </a:rPr>
              <a:t>But should AI auto-patch</a:t>
            </a:r>
            <a:endParaRPr lang="en-US" sz="3600" dirty="0"/>
          </a:p>
          <a:p>
            <a:pPr marL="0" indent="0" algn="ctr">
              <a:buNone/>
            </a:pPr>
            <a:r>
              <a:rPr lang="en-US" sz="3600" b="1" dirty="0">
                <a:solidFill>
                  <a:srgbClr val="FF6666"/>
                </a:solidFill>
                <a:latin typeface="Calibri" pitchFamily="34" charset="0"/>
                <a:ea typeface="Calibri" pitchFamily="34" charset="-122"/>
                <a:cs typeface="Calibri" pitchFamily="34" charset="-120"/>
              </a:rPr>
              <a:t>your payment service?</a:t>
            </a:r>
            <a:endParaRPr lang="en-US" sz="3600" dirty="0"/>
          </a:p>
        </p:txBody>
      </p:sp>
      <p:sp>
        <p:nvSpPr>
          <p:cNvPr id="3" name="Text 1"/>
          <p:cNvSpPr/>
          <p:nvPr/>
        </p:nvSpPr>
        <p:spPr>
          <a:xfrm>
            <a:off x="914400" y="5029200"/>
            <a:ext cx="10058400" cy="731520"/>
          </a:xfrm>
          <a:prstGeom prst="rect">
            <a:avLst/>
          </a:prstGeom>
          <a:noFill/>
          <a:ln/>
        </p:spPr>
        <p:txBody>
          <a:bodyPr wrap="square" lIns="0" tIns="0" rIns="0" bIns="0" rtlCol="0" anchor="ctr"/>
          <a:lstStyle/>
          <a:p>
            <a:pPr marL="0" indent="0" algn="ctr">
              <a:buNone/>
            </a:pPr>
            <a:r>
              <a:rPr lang="en-US" sz="2400" i="1" dirty="0">
                <a:solidFill>
                  <a:srgbClr val="555555"/>
                </a:solidFill>
                <a:latin typeface="Calibri" pitchFamily="34" charset="0"/>
                <a:ea typeface="Calibri" pitchFamily="34" charset="-122"/>
                <a:cs typeface="Calibri" pitchFamily="34" charset="-120"/>
              </a:rPr>
              <a:t>(Probably not.)</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914400" y="457200"/>
            <a:ext cx="10058400" cy="91440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Kyverno: The Guardrail</a:t>
            </a:r>
            <a:endParaRPr lang="en-US" sz="3600" dirty="0"/>
          </a:p>
        </p:txBody>
      </p:sp>
      <p:sp>
        <p:nvSpPr>
          <p:cNvPr id="3" name="Text 1"/>
          <p:cNvSpPr/>
          <p:nvPr/>
        </p:nvSpPr>
        <p:spPr>
          <a:xfrm>
            <a:off x="5943600" y="1645920"/>
            <a:ext cx="5303520" cy="4389120"/>
          </a:xfrm>
          <a:prstGeom prst="roundRect">
            <a:avLst>
              <a:gd name="adj" fmla="val 2500"/>
            </a:avLst>
          </a:prstGeom>
          <a:solidFill>
            <a:srgbClr val="1A0A0A">
              <a:alpha val="70000"/>
            </a:srgbClr>
          </a:solidFill>
          <a:ln w="38100">
            <a:solidFill>
              <a:srgbClr val="FF6B35"/>
            </a:solidFill>
          </a:ln>
        </p:spPr>
        <p:txBody>
          <a:bodyPr wrap="square" rtlCol="0" anchor="ctr"/>
          <a:lstStyle/>
          <a:p>
            <a:pPr marL="0" indent="0">
              <a:buNone/>
            </a:pPr>
            <a:endParaRPr lang="en-US" dirty="0"/>
          </a:p>
        </p:txBody>
      </p:sp>
      <p:sp>
        <p:nvSpPr>
          <p:cNvPr id="4" name="Text 2"/>
          <p:cNvSpPr/>
          <p:nvPr/>
        </p:nvSpPr>
        <p:spPr>
          <a:xfrm>
            <a:off x="6400800" y="2011680"/>
            <a:ext cx="4572000" cy="3657600"/>
          </a:xfrm>
          <a:prstGeom prst="rect">
            <a:avLst/>
          </a:prstGeom>
          <a:noFill/>
          <a:ln/>
        </p:spPr>
        <p:txBody>
          <a:bodyPr wrap="square" lIns="0" tIns="0" rIns="0" bIns="0" rtlCol="0" anchor="ctr"/>
          <a:lstStyle/>
          <a:p>
            <a:pPr marL="0" indent="0">
              <a:buNone/>
            </a:pPr>
            <a:r>
              <a:rPr lang="en-US" sz="2400" dirty="0">
                <a:solidFill>
                  <a:srgbClr val="FF6B35"/>
                </a:solidFill>
                <a:latin typeface="Calibri" pitchFamily="34" charset="0"/>
                <a:ea typeface="Calibri" pitchFamily="34" charset="-122"/>
                <a:cs typeface="Calibri" pitchFamily="34" charset="-120"/>
              </a:rPr>
              <a:t>WHO:  k8sgpt-sa</a:t>
            </a:r>
            <a:endParaRPr lang="en-US" sz="2400" dirty="0"/>
          </a:p>
          <a:p>
            <a:pPr marL="0" indent="0">
              <a:buNone/>
            </a:pPr>
            <a:endParaRPr lang="en-US" sz="2400" dirty="0"/>
          </a:p>
          <a:p>
            <a:pPr marL="0" indent="0">
              <a:buNone/>
            </a:pPr>
            <a:r>
              <a:rPr lang="en-US" sz="2400" dirty="0">
                <a:solidFill>
                  <a:srgbClr val="FF6B35"/>
                </a:solidFill>
                <a:latin typeface="Calibri" pitchFamily="34" charset="0"/>
                <a:ea typeface="Calibri" pitchFamily="34" charset="-122"/>
                <a:cs typeface="Calibri" pitchFamily="34" charset="-120"/>
              </a:rPr>
              <a:t>WHERE:  critical ns</a:t>
            </a:r>
            <a:endParaRPr lang="en-US" sz="2400" dirty="0"/>
          </a:p>
          <a:p>
            <a:pPr marL="0" indent="0">
              <a:buNone/>
            </a:pPr>
            <a:endParaRPr lang="en-US" sz="2400" dirty="0"/>
          </a:p>
          <a:p>
            <a:pPr marL="0" indent="0">
              <a:buNone/>
            </a:pPr>
            <a:r>
              <a:rPr lang="en-US" sz="2400" dirty="0">
                <a:solidFill>
                  <a:srgbClr val="FF6B35"/>
                </a:solidFill>
                <a:latin typeface="Calibri" pitchFamily="34" charset="0"/>
                <a:ea typeface="Calibri" pitchFamily="34" charset="-122"/>
                <a:cs typeface="Calibri" pitchFamily="34" charset="-120"/>
              </a:rPr>
              <a:t>ACTION:  DENY</a:t>
            </a:r>
            <a:endParaRPr lang="en-US" sz="2400" dirty="0"/>
          </a:p>
        </p:txBody>
      </p:sp>
      <p:sp>
        <p:nvSpPr>
          <p:cNvPr id="5" name="Text 3"/>
          <p:cNvSpPr/>
          <p:nvPr/>
        </p:nvSpPr>
        <p:spPr>
          <a:xfrm>
            <a:off x="914400" y="2011680"/>
            <a:ext cx="4572000" cy="3657600"/>
          </a:xfrm>
          <a:prstGeom prst="rect">
            <a:avLst/>
          </a:prstGeom>
          <a:noFill/>
          <a:ln/>
        </p:spPr>
        <p:txBody>
          <a:bodyPr wrap="square" lIns="0" tIns="0" rIns="0" bIns="0" rtlCol="0" anchor="ctr"/>
          <a:lstStyle/>
          <a:p>
            <a:pPr marL="0" indent="0">
              <a:buNone/>
            </a:pPr>
            <a:r>
              <a:rPr lang="en-US" sz="2200" dirty="0">
                <a:solidFill>
                  <a:srgbClr val="CCCCCC"/>
                </a:solidFill>
                <a:latin typeface="Calibri" pitchFamily="34" charset="0"/>
                <a:ea typeface="Calibri" pitchFamily="34" charset="-122"/>
                <a:cs typeface="Calibri" pitchFamily="34" charset="-120"/>
              </a:rPr>
              <a:t>Admission webhook</a:t>
            </a:r>
            <a:endParaRPr lang="en-US" sz="2200" dirty="0"/>
          </a:p>
          <a:p>
            <a:pPr marL="0" indent="0">
              <a:buNone/>
            </a:pPr>
            <a:r>
              <a:rPr lang="en-US" sz="2200" dirty="0">
                <a:solidFill>
                  <a:srgbClr val="CCCCCC"/>
                </a:solidFill>
                <a:latin typeface="Calibri" pitchFamily="34" charset="0"/>
                <a:ea typeface="Calibri" pitchFamily="34" charset="-122"/>
                <a:cs typeface="Calibri" pitchFamily="34" charset="-120"/>
              </a:rPr>
              <a:t>Intercepts BEFORE persist</a:t>
            </a:r>
            <a:endParaRPr lang="en-US" sz="2200" dirty="0"/>
          </a:p>
          <a:p>
            <a:pPr marL="0" indent="0">
              <a:buNone/>
            </a:pPr>
            <a:r>
              <a:rPr lang="en-US" sz="2200" dirty="0">
                <a:solidFill>
                  <a:srgbClr val="CCCCCC"/>
                </a:solidFill>
                <a:latin typeface="Calibri" pitchFamily="34" charset="0"/>
                <a:ea typeface="Calibri" pitchFamily="34" charset="-122"/>
                <a:cs typeface="Calibri" pitchFamily="34" charset="-120"/>
              </a:rPr>
              <a:t>AI detects everywhere</a:t>
            </a:r>
            <a:endParaRPr lang="en-US" sz="2200" dirty="0"/>
          </a:p>
          <a:p>
            <a:pPr marL="0" indent="0">
              <a:buNone/>
            </a:pPr>
            <a:r>
              <a:rPr lang="en-US" sz="2200" dirty="0">
                <a:solidFill>
                  <a:srgbClr val="CCCCCC"/>
                </a:solidFill>
                <a:latin typeface="Calibri" pitchFamily="34" charset="0"/>
                <a:ea typeface="Calibri" pitchFamily="34" charset="-122"/>
                <a:cs typeface="Calibri" pitchFamily="34" charset="-120"/>
              </a:rPr>
              <a:t>Fixes only where allowed</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657600" y="1371600"/>
            <a:ext cx="4572000" cy="4114800"/>
          </a:xfrm>
          <a:prstGeom prst="ellipse">
            <a:avLst/>
          </a:prstGeom>
          <a:solidFill>
            <a:srgbClr val="FF6B35">
              <a:alpha val="12000"/>
            </a:srgbClr>
          </a:solidFill>
          <a:ln/>
        </p:spPr>
        <p:txBody>
          <a:bodyPr/>
          <a:lstStyle/>
          <a:p>
            <a:endParaRPr lang="en-US"/>
          </a:p>
        </p:txBody>
      </p:sp>
      <p:sp>
        <p:nvSpPr>
          <p:cNvPr id="3" name="Text 1"/>
          <p:cNvSpPr/>
          <p:nvPr/>
        </p:nvSpPr>
        <p:spPr>
          <a:xfrm>
            <a:off x="2286000" y="1828800"/>
            <a:ext cx="7315200" cy="1645920"/>
          </a:xfrm>
          <a:prstGeom prst="rect">
            <a:avLst/>
          </a:prstGeom>
          <a:noFill/>
          <a:ln/>
        </p:spPr>
        <p:txBody>
          <a:bodyPr wrap="square" lIns="0" tIns="0" rIns="0" bIns="0" rtlCol="0" anchor="ctr"/>
          <a:lstStyle/>
          <a:p>
            <a:pPr marL="0" indent="0" algn="ctr">
              <a:buNone/>
            </a:pPr>
            <a:r>
              <a:rPr lang="en-US" sz="7200" b="1" dirty="0">
                <a:solidFill>
                  <a:srgbClr val="FFFFFF"/>
                </a:solidFill>
                <a:latin typeface="Calibri" pitchFamily="34" charset="0"/>
                <a:ea typeface="Calibri" pitchFamily="34" charset="-122"/>
                <a:cs typeface="Calibri" pitchFamily="34" charset="-120"/>
              </a:rPr>
              <a:t>DEMO 2</a:t>
            </a:r>
            <a:endParaRPr lang="en-US" sz="7200" dirty="0"/>
          </a:p>
        </p:txBody>
      </p:sp>
      <p:sp>
        <p:nvSpPr>
          <p:cNvPr id="4" name="Text 2"/>
          <p:cNvSpPr/>
          <p:nvPr/>
        </p:nvSpPr>
        <p:spPr>
          <a:xfrm>
            <a:off x="2286000" y="3657600"/>
            <a:ext cx="7315200" cy="731520"/>
          </a:xfrm>
          <a:prstGeom prst="rect">
            <a:avLst/>
          </a:prstGeom>
          <a:noFill/>
          <a:ln/>
        </p:spPr>
        <p:txBody>
          <a:bodyPr wrap="square" lIns="0" tIns="0" rIns="0" bIns="0" rtlCol="0" anchor="ctr"/>
          <a:lstStyle/>
          <a:p>
            <a:pPr marL="0" indent="0" algn="ctr">
              <a:buNone/>
            </a:pPr>
            <a:r>
              <a:rPr lang="en-US" sz="2800" dirty="0">
                <a:solidFill>
                  <a:srgbClr val="FF6B35"/>
                </a:solidFill>
                <a:latin typeface="Calibri" pitchFamily="34" charset="0"/>
                <a:ea typeface="Calibri" pitchFamily="34" charset="-122"/>
                <a:cs typeface="Calibri" pitchFamily="34" charset="-120"/>
              </a:rPr>
              <a:t>Kyverno: 🚫 DENIED</a:t>
            </a:r>
            <a:endParaRPr lang="en-US" sz="2800" dirty="0"/>
          </a:p>
        </p:txBody>
      </p:sp>
      <p:sp>
        <p:nvSpPr>
          <p:cNvPr id="5" name="Text 3"/>
          <p:cNvSpPr/>
          <p:nvPr/>
        </p:nvSpPr>
        <p:spPr>
          <a:xfrm>
            <a:off x="2286000" y="4572000"/>
            <a:ext cx="7315200" cy="548640"/>
          </a:xfrm>
          <a:prstGeom prst="rect">
            <a:avLst/>
          </a:prstGeom>
          <a:noFill/>
          <a:ln/>
        </p:spPr>
        <p:txBody>
          <a:bodyPr wrap="square" lIns="0" tIns="0" rIns="0" bIns="0" rtlCol="0" anchor="ctr"/>
          <a:lstStyle/>
          <a:p>
            <a:pPr marL="0" indent="0" algn="ctr">
              <a:buNone/>
            </a:pPr>
            <a:r>
              <a:rPr lang="en-US" sz="2200" dirty="0">
                <a:solidFill>
                  <a:srgbClr val="99BBCC"/>
                </a:solidFill>
                <a:latin typeface="Calibri" pitchFamily="34" charset="0"/>
                <a:ea typeface="Calibri" pitchFamily="34" charset="-122"/>
                <a:cs typeface="Calibri" pitchFamily="34" charset="-120"/>
              </a:rPr>
              <a:t>Same issue. Critical namespace. AI blocked.</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914400" y="457200"/>
            <a:ext cx="10058400" cy="91440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The Spectrum of Autonomy</a:t>
            </a:r>
            <a:endParaRPr lang="en-US" sz="3600" dirty="0"/>
          </a:p>
        </p:txBody>
      </p:sp>
      <p:sp>
        <p:nvSpPr>
          <p:cNvPr id="3" name="Shape 1"/>
          <p:cNvSpPr/>
          <p:nvPr/>
        </p:nvSpPr>
        <p:spPr>
          <a:xfrm>
            <a:off x="914400" y="3200400"/>
            <a:ext cx="10332720" cy="731520"/>
          </a:xfrm>
          <a:prstGeom prst="roundRect">
            <a:avLst>
              <a:gd name="adj" fmla="val 50000"/>
            </a:avLst>
          </a:prstGeom>
          <a:solidFill>
            <a:srgbClr val="1A3A5C"/>
          </a:solidFill>
          <a:ln/>
        </p:spPr>
        <p:txBody>
          <a:bodyPr/>
          <a:lstStyle/>
          <a:p>
            <a:endParaRPr lang="en-US"/>
          </a:p>
        </p:txBody>
      </p:sp>
      <p:sp>
        <p:nvSpPr>
          <p:cNvPr id="4" name="Shape 2"/>
          <p:cNvSpPr/>
          <p:nvPr/>
        </p:nvSpPr>
        <p:spPr>
          <a:xfrm>
            <a:off x="914400" y="3200400"/>
            <a:ext cx="3474720" cy="731520"/>
          </a:xfrm>
          <a:prstGeom prst="roundRect">
            <a:avLst>
              <a:gd name="adj" fmla="val 50000"/>
            </a:avLst>
          </a:prstGeom>
          <a:solidFill>
            <a:srgbClr val="00BFA5">
              <a:alpha val="60000"/>
            </a:srgbClr>
          </a:solidFill>
          <a:ln/>
        </p:spPr>
        <p:txBody>
          <a:bodyPr/>
          <a:lstStyle/>
          <a:p>
            <a:endParaRPr lang="en-US"/>
          </a:p>
        </p:txBody>
      </p:sp>
      <p:sp>
        <p:nvSpPr>
          <p:cNvPr id="5" name="Shape 3"/>
          <p:cNvSpPr/>
          <p:nvPr/>
        </p:nvSpPr>
        <p:spPr>
          <a:xfrm>
            <a:off x="4389120" y="3200400"/>
            <a:ext cx="3474720" cy="731520"/>
          </a:xfrm>
          <a:prstGeom prst="roundRect">
            <a:avLst>
              <a:gd name="adj" fmla="val 50000"/>
            </a:avLst>
          </a:prstGeom>
          <a:solidFill>
            <a:srgbClr val="FF6B35">
              <a:alpha val="60000"/>
            </a:srgbClr>
          </a:solidFill>
          <a:ln/>
        </p:spPr>
        <p:txBody>
          <a:bodyPr/>
          <a:lstStyle/>
          <a:p>
            <a:endParaRPr lang="en-US"/>
          </a:p>
        </p:txBody>
      </p:sp>
      <p:sp>
        <p:nvSpPr>
          <p:cNvPr id="6" name="Shape 4"/>
          <p:cNvSpPr/>
          <p:nvPr/>
        </p:nvSpPr>
        <p:spPr>
          <a:xfrm>
            <a:off x="7772400" y="3200400"/>
            <a:ext cx="3474720" cy="731520"/>
          </a:xfrm>
          <a:prstGeom prst="roundRect">
            <a:avLst>
              <a:gd name="adj" fmla="val 50000"/>
            </a:avLst>
          </a:prstGeom>
          <a:solidFill>
            <a:srgbClr val="7C3AED">
              <a:alpha val="60000"/>
            </a:srgbClr>
          </a:solidFill>
          <a:ln/>
        </p:spPr>
        <p:txBody>
          <a:bodyPr/>
          <a:lstStyle/>
          <a:p>
            <a:endParaRPr lang="en-US"/>
          </a:p>
        </p:txBody>
      </p:sp>
      <p:sp>
        <p:nvSpPr>
          <p:cNvPr id="7" name="Text 5"/>
          <p:cNvSpPr/>
          <p:nvPr/>
        </p:nvSpPr>
        <p:spPr>
          <a:xfrm>
            <a:off x="914400" y="2011680"/>
            <a:ext cx="3474720" cy="731520"/>
          </a:xfrm>
          <a:prstGeom prst="rect">
            <a:avLst/>
          </a:prstGeom>
          <a:noFill/>
          <a:ln/>
        </p:spPr>
        <p:txBody>
          <a:bodyPr wrap="square" lIns="0" tIns="0" rIns="0" bIns="0" rtlCol="0" anchor="ctr"/>
          <a:lstStyle/>
          <a:p>
            <a:pPr marL="0" indent="0" algn="ctr">
              <a:buNone/>
            </a:pPr>
            <a:r>
              <a:rPr lang="en-US" sz="2200" b="1" dirty="0">
                <a:solidFill>
                  <a:srgbClr val="00BFA5"/>
                </a:solidFill>
                <a:latin typeface="Calibri" pitchFamily="34" charset="0"/>
                <a:ea typeface="Calibri" pitchFamily="34" charset="-122"/>
                <a:cs typeface="Calibri" pitchFamily="34" charset="-120"/>
              </a:rPr>
              <a:t>Full Auto-Fix</a:t>
            </a:r>
            <a:endParaRPr lang="en-US" sz="2200" dirty="0"/>
          </a:p>
        </p:txBody>
      </p:sp>
      <p:sp>
        <p:nvSpPr>
          <p:cNvPr id="8" name="Text 6"/>
          <p:cNvSpPr/>
          <p:nvPr/>
        </p:nvSpPr>
        <p:spPr>
          <a:xfrm>
            <a:off x="4389120" y="2011680"/>
            <a:ext cx="3474720" cy="731520"/>
          </a:xfrm>
          <a:prstGeom prst="rect">
            <a:avLst/>
          </a:prstGeom>
          <a:noFill/>
          <a:ln/>
        </p:spPr>
        <p:txBody>
          <a:bodyPr wrap="square" lIns="0" tIns="0" rIns="0" bIns="0" rtlCol="0" anchor="ctr"/>
          <a:lstStyle/>
          <a:p>
            <a:pPr marL="0" indent="0" algn="ctr">
              <a:buNone/>
            </a:pPr>
            <a:r>
              <a:rPr lang="en-US" sz="2200" b="1" dirty="0">
                <a:solidFill>
                  <a:srgbClr val="FF6B35"/>
                </a:solidFill>
                <a:latin typeface="Calibri" pitchFamily="34" charset="0"/>
                <a:ea typeface="Calibri" pitchFamily="34" charset="-122"/>
                <a:cs typeface="Calibri" pitchFamily="34" charset="-120"/>
              </a:rPr>
              <a:t>Gated Fix</a:t>
            </a:r>
            <a:endParaRPr lang="en-US" sz="2200" dirty="0"/>
          </a:p>
        </p:txBody>
      </p:sp>
      <p:sp>
        <p:nvSpPr>
          <p:cNvPr id="9" name="Text 7"/>
          <p:cNvSpPr/>
          <p:nvPr/>
        </p:nvSpPr>
        <p:spPr>
          <a:xfrm>
            <a:off x="7772400" y="2011680"/>
            <a:ext cx="3474720" cy="731520"/>
          </a:xfrm>
          <a:prstGeom prst="rect">
            <a:avLst/>
          </a:prstGeom>
          <a:noFill/>
          <a:ln/>
        </p:spPr>
        <p:txBody>
          <a:bodyPr wrap="square" lIns="0" tIns="0" rIns="0" bIns="0" rtlCol="0" anchor="ctr"/>
          <a:lstStyle/>
          <a:p>
            <a:pPr marL="0" indent="0" algn="ctr">
              <a:buNone/>
            </a:pPr>
            <a:r>
              <a:rPr lang="en-US" sz="2200" b="1" dirty="0">
                <a:solidFill>
                  <a:srgbClr val="7C3AED"/>
                </a:solidFill>
                <a:latin typeface="Calibri" pitchFamily="34" charset="0"/>
                <a:ea typeface="Calibri" pitchFamily="34" charset="-122"/>
                <a:cs typeface="Calibri" pitchFamily="34" charset="-120"/>
              </a:rPr>
              <a:t>Investigate Only</a:t>
            </a:r>
            <a:endParaRPr lang="en-US" sz="2200" dirty="0"/>
          </a:p>
        </p:txBody>
      </p:sp>
      <p:sp>
        <p:nvSpPr>
          <p:cNvPr id="10" name="Text 8"/>
          <p:cNvSpPr/>
          <p:nvPr/>
        </p:nvSpPr>
        <p:spPr>
          <a:xfrm>
            <a:off x="914400" y="4206240"/>
            <a:ext cx="3474720" cy="548640"/>
          </a:xfrm>
          <a:prstGeom prst="rect">
            <a:avLst/>
          </a:prstGeom>
          <a:noFill/>
          <a:ln/>
        </p:spPr>
        <p:txBody>
          <a:bodyPr wrap="square" lIns="0" tIns="0" rIns="0" bIns="0" rtlCol="0" anchor="ctr"/>
          <a:lstStyle/>
          <a:p>
            <a:pPr marL="0" indent="0" algn="ctr">
              <a:buNone/>
            </a:pPr>
            <a:r>
              <a:rPr lang="en-US" sz="1800" dirty="0">
                <a:solidFill>
                  <a:srgbClr val="99BBCC"/>
                </a:solidFill>
                <a:latin typeface="Calibri" pitchFamily="34" charset="0"/>
                <a:ea typeface="Calibri" pitchFamily="34" charset="-122"/>
                <a:cs typeface="Calibri" pitchFamily="34" charset="-120"/>
              </a:rPr>
              <a:t>K8sGPT</a:t>
            </a:r>
            <a:endParaRPr lang="en-US" sz="1800" dirty="0"/>
          </a:p>
        </p:txBody>
      </p:sp>
      <p:sp>
        <p:nvSpPr>
          <p:cNvPr id="11" name="Text 9"/>
          <p:cNvSpPr/>
          <p:nvPr/>
        </p:nvSpPr>
        <p:spPr>
          <a:xfrm>
            <a:off x="4389120" y="4206240"/>
            <a:ext cx="3474720" cy="548640"/>
          </a:xfrm>
          <a:prstGeom prst="rect">
            <a:avLst/>
          </a:prstGeom>
          <a:noFill/>
          <a:ln/>
        </p:spPr>
        <p:txBody>
          <a:bodyPr wrap="square" lIns="0" tIns="0" rIns="0" bIns="0" rtlCol="0" anchor="ctr"/>
          <a:lstStyle/>
          <a:p>
            <a:pPr marL="0" indent="0" algn="ctr">
              <a:buNone/>
            </a:pPr>
            <a:r>
              <a:rPr lang="en-US" sz="1800" dirty="0">
                <a:solidFill>
                  <a:srgbClr val="99BBCC"/>
                </a:solidFill>
                <a:latin typeface="Calibri" pitchFamily="34" charset="0"/>
                <a:ea typeface="Calibri" pitchFamily="34" charset="-122"/>
                <a:cs typeface="Calibri" pitchFamily="34" charset="-120"/>
              </a:rPr>
              <a:t>K8sGPT + Kyverno</a:t>
            </a:r>
            <a:endParaRPr lang="en-US" sz="1800" dirty="0"/>
          </a:p>
        </p:txBody>
      </p:sp>
      <p:sp>
        <p:nvSpPr>
          <p:cNvPr id="12" name="Text 10"/>
          <p:cNvSpPr/>
          <p:nvPr/>
        </p:nvSpPr>
        <p:spPr>
          <a:xfrm>
            <a:off x="7772400" y="4206240"/>
            <a:ext cx="3474720" cy="548640"/>
          </a:xfrm>
          <a:prstGeom prst="rect">
            <a:avLst/>
          </a:prstGeom>
          <a:noFill/>
          <a:ln/>
        </p:spPr>
        <p:txBody>
          <a:bodyPr wrap="square" lIns="0" tIns="0" rIns="0" bIns="0" rtlCol="0" anchor="ctr"/>
          <a:lstStyle/>
          <a:p>
            <a:pPr marL="0" indent="0" algn="ctr">
              <a:buNone/>
            </a:pPr>
            <a:r>
              <a:rPr lang="en-US" sz="1800" dirty="0">
                <a:solidFill>
                  <a:srgbClr val="99BBCC"/>
                </a:solidFill>
                <a:latin typeface="Calibri" pitchFamily="34" charset="0"/>
                <a:ea typeface="Calibri" pitchFamily="34" charset="-122"/>
                <a:cs typeface="Calibri" pitchFamily="34" charset="-120"/>
              </a:rPr>
              <a:t>HolmesGPT</a:t>
            </a:r>
            <a:endParaRPr lang="en-US" sz="1800" dirty="0"/>
          </a:p>
        </p:txBody>
      </p:sp>
      <p:sp>
        <p:nvSpPr>
          <p:cNvPr id="13" name="Text 11"/>
          <p:cNvSpPr/>
          <p:nvPr/>
        </p:nvSpPr>
        <p:spPr>
          <a:xfrm>
            <a:off x="914400" y="5303520"/>
            <a:ext cx="10058400" cy="731520"/>
          </a:xfrm>
          <a:prstGeom prst="rect">
            <a:avLst/>
          </a:prstGeom>
          <a:noFill/>
          <a:ln/>
        </p:spPr>
        <p:txBody>
          <a:bodyPr wrap="square" lIns="0" tIns="0" rIns="0" bIns="0" rtlCol="0" anchor="ctr"/>
          <a:lstStyle/>
          <a:p>
            <a:pPr marL="0" indent="0" algn="ctr">
              <a:buNone/>
            </a:pPr>
            <a:r>
              <a:rPr lang="en-US" sz="2200" i="1" dirty="0">
                <a:solidFill>
                  <a:srgbClr val="667788"/>
                </a:solidFill>
                <a:latin typeface="Calibri" pitchFamily="34" charset="0"/>
                <a:ea typeface="Calibri" pitchFamily="34" charset="-122"/>
                <a:cs typeface="Calibri" pitchFamily="34" charset="-120"/>
              </a:rPr>
              <a:t>Start right → Graduate left as trust builds</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914400" y="457200"/>
            <a:ext cx="10058400" cy="91440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HolmesGPT: The Detective</a:t>
            </a:r>
            <a:endParaRPr lang="en-US" sz="3600" dirty="0"/>
          </a:p>
        </p:txBody>
      </p:sp>
      <p:sp>
        <p:nvSpPr>
          <p:cNvPr id="3" name="Shape 1"/>
          <p:cNvSpPr/>
          <p:nvPr/>
        </p:nvSpPr>
        <p:spPr>
          <a:xfrm>
            <a:off x="6400800" y="1828800"/>
            <a:ext cx="4114800" cy="4114800"/>
          </a:xfrm>
          <a:prstGeom prst="ellipse">
            <a:avLst/>
          </a:prstGeom>
          <a:solidFill>
            <a:srgbClr val="7C3AED">
              <a:alpha val="15000"/>
            </a:srgbClr>
          </a:solidFill>
          <a:ln w="25400">
            <a:solidFill>
              <a:srgbClr val="7C3AED"/>
            </a:solidFill>
            <a:prstDash val="solid"/>
          </a:ln>
        </p:spPr>
        <p:txBody>
          <a:bodyPr/>
          <a:lstStyle/>
          <a:p>
            <a:endParaRPr lang="en-US"/>
          </a:p>
        </p:txBody>
      </p:sp>
      <p:sp>
        <p:nvSpPr>
          <p:cNvPr id="4" name="Text 2"/>
          <p:cNvSpPr/>
          <p:nvPr/>
        </p:nvSpPr>
        <p:spPr>
          <a:xfrm>
            <a:off x="6858000" y="2743200"/>
            <a:ext cx="3200400" cy="2286000"/>
          </a:xfrm>
          <a:prstGeom prst="rect">
            <a:avLst/>
          </a:prstGeom>
          <a:noFill/>
          <a:ln/>
        </p:spPr>
        <p:txBody>
          <a:bodyPr wrap="square" lIns="0" tIns="0" rIns="0" bIns="0" rtlCol="0" anchor="ctr"/>
          <a:lstStyle/>
          <a:p>
            <a:pPr marL="0" indent="0" algn="ctr">
              <a:buNone/>
            </a:pPr>
            <a:r>
              <a:rPr lang="en-US" sz="2200" dirty="0">
                <a:solidFill>
                  <a:srgbClr val="BB99FF"/>
                </a:solidFill>
                <a:latin typeface="Calibri" pitchFamily="34" charset="0"/>
                <a:ea typeface="Calibri" pitchFamily="34" charset="-122"/>
                <a:cs typeface="Calibri" pitchFamily="34" charset="-120"/>
              </a:rPr>
              <a:t>Ask → Tool →</a:t>
            </a:r>
            <a:endParaRPr lang="en-US" sz="2200" dirty="0"/>
          </a:p>
          <a:p>
            <a:pPr marL="0" indent="0" algn="ctr">
              <a:buNone/>
            </a:pPr>
            <a:r>
              <a:rPr lang="en-US" sz="2200" dirty="0">
                <a:solidFill>
                  <a:srgbClr val="BB99FF"/>
                </a:solidFill>
                <a:latin typeface="Calibri" pitchFamily="34" charset="0"/>
                <a:ea typeface="Calibri" pitchFamily="34" charset="-122"/>
                <a:cs typeface="Calibri" pitchFamily="34" charset="-120"/>
              </a:rPr>
              <a:t>Analyze →</a:t>
            </a:r>
            <a:endParaRPr lang="en-US" sz="2200" dirty="0"/>
          </a:p>
          <a:p>
            <a:pPr marL="0" indent="0" algn="ctr">
              <a:buNone/>
            </a:pPr>
            <a:r>
              <a:rPr lang="en-US" sz="2200" dirty="0">
                <a:solidFill>
                  <a:srgbClr val="BB99FF"/>
                </a:solidFill>
                <a:latin typeface="Calibri" pitchFamily="34" charset="0"/>
                <a:ea typeface="Calibri" pitchFamily="34" charset="-122"/>
                <a:cs typeface="Calibri" pitchFamily="34" charset="-120"/>
              </a:rPr>
              <a:t>Conclude</a:t>
            </a:r>
            <a:endParaRPr lang="en-US" sz="2200" dirty="0"/>
          </a:p>
        </p:txBody>
      </p:sp>
      <p:sp>
        <p:nvSpPr>
          <p:cNvPr id="5" name="Text 3"/>
          <p:cNvSpPr/>
          <p:nvPr/>
        </p:nvSpPr>
        <p:spPr>
          <a:xfrm>
            <a:off x="914400" y="1828800"/>
            <a:ext cx="5029200" cy="4114800"/>
          </a:xfrm>
          <a:prstGeom prst="rect">
            <a:avLst/>
          </a:prstGeom>
          <a:noFill/>
          <a:ln/>
        </p:spPr>
        <p:txBody>
          <a:bodyPr wrap="square" lIns="0" tIns="0" rIns="0" bIns="0" rtlCol="0" anchor="ctr"/>
          <a:lstStyle/>
          <a:p>
            <a:pPr marL="0" indent="0">
              <a:buNone/>
            </a:pPr>
            <a:r>
              <a:rPr lang="en-US" sz="2200" dirty="0">
                <a:solidFill>
                  <a:srgbClr val="CCCCCC"/>
                </a:solidFill>
                <a:latin typeface="Calibri" pitchFamily="34" charset="0"/>
                <a:ea typeface="Calibri" pitchFamily="34" charset="-122"/>
                <a:cs typeface="Calibri" pitchFamily="34" charset="-120"/>
              </a:rPr>
              <a:t>Agentic investigation loop</a:t>
            </a:r>
            <a:endParaRPr lang="en-US" sz="2200" dirty="0"/>
          </a:p>
          <a:p>
            <a:pPr marL="0" indent="0">
              <a:buNone/>
            </a:pPr>
            <a:endParaRPr lang="en-US" sz="2200" dirty="0"/>
          </a:p>
          <a:p>
            <a:pPr marL="0" indent="0">
              <a:buNone/>
            </a:pPr>
            <a:r>
              <a:rPr lang="en-US" sz="2200" dirty="0">
                <a:solidFill>
                  <a:srgbClr val="CCCCCC"/>
                </a:solidFill>
                <a:latin typeface="Calibri" pitchFamily="34" charset="0"/>
                <a:ea typeface="Calibri" pitchFamily="34" charset="-122"/>
                <a:cs typeface="Calibri" pitchFamily="34" charset="-120"/>
              </a:rPr>
              <a:t>Queries kubectl, logs, Prometheus</a:t>
            </a:r>
            <a:endParaRPr lang="en-US" sz="2200" dirty="0"/>
          </a:p>
          <a:p>
            <a:pPr marL="0" indent="0">
              <a:buNone/>
            </a:pPr>
            <a:endParaRPr lang="en-US" sz="2200" dirty="0"/>
          </a:p>
          <a:p>
            <a:pPr marL="0" indent="0">
              <a:buNone/>
            </a:pPr>
            <a:r>
              <a:rPr lang="en-US" sz="2200" dirty="0">
                <a:solidFill>
                  <a:srgbClr val="CCCCCC"/>
                </a:solidFill>
                <a:latin typeface="Calibri" pitchFamily="34" charset="0"/>
                <a:ea typeface="Calibri" pitchFamily="34" charset="-122"/>
                <a:cs typeface="Calibri" pitchFamily="34" charset="-120"/>
              </a:rPr>
              <a:t>LLM decides what to check next</a:t>
            </a:r>
            <a:endParaRPr lang="en-US" sz="2200" dirty="0"/>
          </a:p>
          <a:p>
            <a:pPr marL="0" indent="0">
              <a:buNone/>
            </a:pPr>
            <a:endParaRPr lang="en-US" sz="2200" dirty="0"/>
          </a:p>
          <a:p>
            <a:pPr marL="0" indent="0">
              <a:buNone/>
            </a:pPr>
            <a:r>
              <a:rPr lang="en-US" sz="2200" dirty="0">
                <a:solidFill>
                  <a:srgbClr val="CCCCCC"/>
                </a:solidFill>
                <a:latin typeface="Calibri" pitchFamily="34" charset="0"/>
                <a:ea typeface="Calibri" pitchFamily="34" charset="-122"/>
                <a:cs typeface="Calibri" pitchFamily="34" charset="-120"/>
              </a:rPr>
              <a:t>Posts full RCA to Slack</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657600" y="1371600"/>
            <a:ext cx="4572000" cy="4114800"/>
          </a:xfrm>
          <a:prstGeom prst="ellipse">
            <a:avLst/>
          </a:prstGeom>
          <a:solidFill>
            <a:srgbClr val="7C3AED">
              <a:alpha val="12000"/>
            </a:srgbClr>
          </a:solidFill>
          <a:ln/>
        </p:spPr>
        <p:txBody>
          <a:bodyPr/>
          <a:lstStyle/>
          <a:p>
            <a:endParaRPr lang="en-US"/>
          </a:p>
        </p:txBody>
      </p:sp>
      <p:sp>
        <p:nvSpPr>
          <p:cNvPr id="3" name="Text 1"/>
          <p:cNvSpPr/>
          <p:nvPr/>
        </p:nvSpPr>
        <p:spPr>
          <a:xfrm>
            <a:off x="2286000" y="1828800"/>
            <a:ext cx="7315200" cy="1645920"/>
          </a:xfrm>
          <a:prstGeom prst="rect">
            <a:avLst/>
          </a:prstGeom>
          <a:noFill/>
          <a:ln/>
        </p:spPr>
        <p:txBody>
          <a:bodyPr wrap="square" lIns="0" tIns="0" rIns="0" bIns="0" rtlCol="0" anchor="ctr"/>
          <a:lstStyle/>
          <a:p>
            <a:pPr marL="0" indent="0" algn="ctr">
              <a:buNone/>
            </a:pPr>
            <a:r>
              <a:rPr lang="en-US" sz="7200" b="1" dirty="0">
                <a:solidFill>
                  <a:srgbClr val="FFFFFF"/>
                </a:solidFill>
                <a:latin typeface="Calibri" pitchFamily="34" charset="0"/>
                <a:ea typeface="Calibri" pitchFamily="34" charset="-122"/>
                <a:cs typeface="Calibri" pitchFamily="34" charset="-120"/>
              </a:rPr>
              <a:t>DEMO 3</a:t>
            </a:r>
            <a:endParaRPr lang="en-US" sz="7200" dirty="0"/>
          </a:p>
        </p:txBody>
      </p:sp>
      <p:sp>
        <p:nvSpPr>
          <p:cNvPr id="4" name="Text 2"/>
          <p:cNvSpPr/>
          <p:nvPr/>
        </p:nvSpPr>
        <p:spPr>
          <a:xfrm>
            <a:off x="2286000" y="3657600"/>
            <a:ext cx="7315200" cy="731520"/>
          </a:xfrm>
          <a:prstGeom prst="rect">
            <a:avLst/>
          </a:prstGeom>
          <a:noFill/>
          <a:ln/>
        </p:spPr>
        <p:txBody>
          <a:bodyPr wrap="square" lIns="0" tIns="0" rIns="0" bIns="0" rtlCol="0" anchor="ctr"/>
          <a:lstStyle/>
          <a:p>
            <a:pPr marL="0" indent="0" algn="ctr">
              <a:buNone/>
            </a:pPr>
            <a:r>
              <a:rPr lang="en-US" sz="2800" dirty="0">
                <a:solidFill>
                  <a:srgbClr val="7C3AED"/>
                </a:solidFill>
                <a:latin typeface="Calibri" pitchFamily="34" charset="0"/>
                <a:ea typeface="Calibri" pitchFamily="34" charset="-122"/>
                <a:cs typeface="Calibri" pitchFamily="34" charset="-120"/>
              </a:rPr>
              <a:t>HolmesGPT → Slack RCA</a:t>
            </a:r>
            <a:endParaRPr lang="en-US" sz="2800" dirty="0"/>
          </a:p>
        </p:txBody>
      </p:sp>
      <p:sp>
        <p:nvSpPr>
          <p:cNvPr id="5" name="Text 3"/>
          <p:cNvSpPr/>
          <p:nvPr/>
        </p:nvSpPr>
        <p:spPr>
          <a:xfrm>
            <a:off x="2286000" y="4572000"/>
            <a:ext cx="7315200" cy="548640"/>
          </a:xfrm>
          <a:prstGeom prst="rect">
            <a:avLst/>
          </a:prstGeom>
          <a:noFill/>
          <a:ln/>
        </p:spPr>
        <p:txBody>
          <a:bodyPr wrap="square" lIns="0" tIns="0" rIns="0" bIns="0" rtlCol="0" anchor="ctr"/>
          <a:lstStyle/>
          <a:p>
            <a:pPr marL="0" indent="0" algn="ctr">
              <a:buNone/>
            </a:pPr>
            <a:r>
              <a:rPr lang="en-US" sz="2200" dirty="0">
                <a:solidFill>
                  <a:srgbClr val="99BBCC"/>
                </a:solidFill>
                <a:latin typeface="Calibri" pitchFamily="34" charset="0"/>
                <a:ea typeface="Calibri" pitchFamily="34" charset="-122"/>
                <a:cs typeface="Calibri" pitchFamily="34" charset="-120"/>
              </a:rPr>
              <a:t>ConfigMap deleted. AI investigates.</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914400" y="274320"/>
            <a:ext cx="10058400" cy="82296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How They Work Together</a:t>
            </a:r>
            <a:endParaRPr lang="en-US" sz="3600" dirty="0"/>
          </a:p>
        </p:txBody>
      </p:sp>
      <p:sp>
        <p:nvSpPr>
          <p:cNvPr id="3" name="Text 1"/>
          <p:cNvSpPr/>
          <p:nvPr/>
        </p:nvSpPr>
        <p:spPr>
          <a:xfrm>
            <a:off x="4114800" y="1280160"/>
            <a:ext cx="3657600" cy="914400"/>
          </a:xfrm>
          <a:prstGeom prst="roundRect">
            <a:avLst>
              <a:gd name="adj" fmla="val 10000"/>
            </a:avLst>
          </a:prstGeom>
          <a:solidFill>
            <a:srgbClr val="1A3A5C"/>
          </a:solidFill>
          <a:ln w="25400">
            <a:solidFill>
              <a:srgbClr val="00BFA5"/>
            </a:solidFill>
          </a:ln>
        </p:spPr>
        <p:txBody>
          <a:bodyPr wrap="square" rtlCol="0" anchor="ctr"/>
          <a:lstStyle/>
          <a:p>
            <a:pPr marL="0" indent="0" algn="ctr">
              <a:buNone/>
            </a:pPr>
            <a:r>
              <a:rPr lang="en-US" sz="2200" dirty="0">
                <a:solidFill>
                  <a:srgbClr val="FFFFFF"/>
                </a:solidFill>
                <a:latin typeface="Calibri" pitchFamily="34" charset="0"/>
                <a:ea typeface="Calibri" pitchFamily="34" charset="-122"/>
                <a:cs typeface="Calibri" pitchFamily="34" charset="-120"/>
              </a:rPr>
              <a:t>Issue Detected</a:t>
            </a:r>
            <a:endParaRPr lang="en-US" sz="2200" dirty="0"/>
          </a:p>
        </p:txBody>
      </p:sp>
      <p:sp>
        <p:nvSpPr>
          <p:cNvPr id="4" name="Text 2"/>
          <p:cNvSpPr/>
          <p:nvPr/>
        </p:nvSpPr>
        <p:spPr>
          <a:xfrm>
            <a:off x="1371600" y="2926080"/>
            <a:ext cx="3200400" cy="914400"/>
          </a:xfrm>
          <a:prstGeom prst="roundRect">
            <a:avLst>
              <a:gd name="adj" fmla="val 10000"/>
            </a:avLst>
          </a:prstGeom>
          <a:solidFill>
            <a:srgbClr val="0D3D3D"/>
          </a:solidFill>
          <a:ln w="12700">
            <a:solidFill>
              <a:srgbClr val="00BFA5"/>
            </a:solidFill>
          </a:ln>
        </p:spPr>
        <p:txBody>
          <a:bodyPr wrap="square" rtlCol="0" anchor="ctr"/>
          <a:lstStyle/>
          <a:p>
            <a:pPr marL="0" indent="0" algn="ctr">
              <a:buNone/>
            </a:pPr>
            <a:r>
              <a:rPr lang="en-US" sz="2200" dirty="0">
                <a:solidFill>
                  <a:srgbClr val="FFFFFF"/>
                </a:solidFill>
                <a:latin typeface="Calibri" pitchFamily="34" charset="0"/>
                <a:ea typeface="Calibri" pitchFamily="34" charset="-122"/>
                <a:cs typeface="Calibri" pitchFamily="34" charset="-120"/>
              </a:rPr>
              <a:t>Simple?</a:t>
            </a:r>
            <a:endParaRPr lang="en-US" sz="2200" dirty="0"/>
          </a:p>
        </p:txBody>
      </p:sp>
      <p:sp>
        <p:nvSpPr>
          <p:cNvPr id="5" name="Text 3"/>
          <p:cNvSpPr/>
          <p:nvPr/>
        </p:nvSpPr>
        <p:spPr>
          <a:xfrm>
            <a:off x="7589520" y="2926080"/>
            <a:ext cx="3200400" cy="914400"/>
          </a:xfrm>
          <a:prstGeom prst="roundRect">
            <a:avLst>
              <a:gd name="adj" fmla="val 10000"/>
            </a:avLst>
          </a:prstGeom>
          <a:solidFill>
            <a:srgbClr val="1A0A3D"/>
          </a:solidFill>
          <a:ln w="12700">
            <a:solidFill>
              <a:srgbClr val="7C3AED"/>
            </a:solidFill>
          </a:ln>
        </p:spPr>
        <p:txBody>
          <a:bodyPr wrap="square" rtlCol="0" anchor="ctr"/>
          <a:lstStyle/>
          <a:p>
            <a:pPr marL="0" indent="0" algn="ctr">
              <a:buNone/>
            </a:pPr>
            <a:r>
              <a:rPr lang="en-US" sz="2200" dirty="0">
                <a:solidFill>
                  <a:srgbClr val="FFFFFF"/>
                </a:solidFill>
                <a:latin typeface="Calibri" pitchFamily="34" charset="0"/>
                <a:ea typeface="Calibri" pitchFamily="34" charset="-122"/>
                <a:cs typeface="Calibri" pitchFamily="34" charset="-120"/>
              </a:rPr>
              <a:t>Complex?</a:t>
            </a:r>
            <a:endParaRPr lang="en-US" sz="2200" dirty="0"/>
          </a:p>
        </p:txBody>
      </p:sp>
      <p:sp>
        <p:nvSpPr>
          <p:cNvPr id="6" name="Text 4"/>
          <p:cNvSpPr/>
          <p:nvPr/>
        </p:nvSpPr>
        <p:spPr>
          <a:xfrm>
            <a:off x="457200" y="4846320"/>
            <a:ext cx="2743200" cy="914400"/>
          </a:xfrm>
          <a:prstGeom prst="roundRect">
            <a:avLst>
              <a:gd name="adj" fmla="val 10000"/>
            </a:avLst>
          </a:prstGeom>
          <a:solidFill>
            <a:srgbClr val="003D3D"/>
          </a:solidFill>
          <a:ln w="25400">
            <a:solidFill>
              <a:srgbClr val="00BFA5"/>
            </a:solidFill>
          </a:ln>
        </p:spPr>
        <p:txBody>
          <a:bodyPr wrap="square" rtlCol="0" anchor="ctr"/>
          <a:lstStyle/>
          <a:p>
            <a:pPr marL="0" indent="0" algn="ctr">
              <a:buNone/>
            </a:pPr>
            <a:r>
              <a:rPr lang="en-US" sz="2200" dirty="0">
                <a:solidFill>
                  <a:srgbClr val="00BFA5"/>
                </a:solidFill>
                <a:latin typeface="Calibri" pitchFamily="34" charset="0"/>
                <a:ea typeface="Calibri" pitchFamily="34" charset="-122"/>
                <a:cs typeface="Calibri" pitchFamily="34" charset="-120"/>
              </a:rPr>
              <a:t>Auto-Fix ✅</a:t>
            </a:r>
            <a:endParaRPr lang="en-US" sz="2200" dirty="0"/>
          </a:p>
        </p:txBody>
      </p:sp>
      <p:sp>
        <p:nvSpPr>
          <p:cNvPr id="7" name="Text 5"/>
          <p:cNvSpPr/>
          <p:nvPr/>
        </p:nvSpPr>
        <p:spPr>
          <a:xfrm>
            <a:off x="3474720" y="4846320"/>
            <a:ext cx="2743200" cy="914400"/>
          </a:xfrm>
          <a:prstGeom prst="roundRect">
            <a:avLst>
              <a:gd name="adj" fmla="val 10000"/>
            </a:avLst>
          </a:prstGeom>
          <a:solidFill>
            <a:srgbClr val="3D0A0A"/>
          </a:solidFill>
          <a:ln w="25400">
            <a:solidFill>
              <a:srgbClr val="FF4444"/>
            </a:solidFill>
          </a:ln>
        </p:spPr>
        <p:txBody>
          <a:bodyPr wrap="square" rtlCol="0" anchor="ctr"/>
          <a:lstStyle/>
          <a:p>
            <a:pPr marL="0" indent="0" algn="ctr">
              <a:buNone/>
            </a:pPr>
            <a:r>
              <a:rPr lang="en-US" sz="2200" dirty="0">
                <a:solidFill>
                  <a:srgbClr val="FF6666"/>
                </a:solidFill>
                <a:latin typeface="Calibri" pitchFamily="34" charset="0"/>
                <a:ea typeface="Calibri" pitchFamily="34" charset="-122"/>
                <a:cs typeface="Calibri" pitchFamily="34" charset="-120"/>
              </a:rPr>
              <a:t>Blocked 🚫</a:t>
            </a:r>
            <a:endParaRPr lang="en-US" sz="2200" dirty="0"/>
          </a:p>
        </p:txBody>
      </p:sp>
      <p:sp>
        <p:nvSpPr>
          <p:cNvPr id="8" name="Text 6"/>
          <p:cNvSpPr/>
          <p:nvPr/>
        </p:nvSpPr>
        <p:spPr>
          <a:xfrm>
            <a:off x="7132320" y="4846320"/>
            <a:ext cx="3657600" cy="914400"/>
          </a:xfrm>
          <a:prstGeom prst="roundRect">
            <a:avLst>
              <a:gd name="adj" fmla="val 10000"/>
            </a:avLst>
          </a:prstGeom>
          <a:solidFill>
            <a:srgbClr val="1A0A3D"/>
          </a:solidFill>
          <a:ln w="25400">
            <a:solidFill>
              <a:srgbClr val="7C3AED"/>
            </a:solidFill>
          </a:ln>
        </p:spPr>
        <p:txBody>
          <a:bodyPr wrap="square" rtlCol="0" anchor="ctr"/>
          <a:lstStyle/>
          <a:p>
            <a:pPr marL="0" indent="0" algn="ctr">
              <a:buNone/>
            </a:pPr>
            <a:r>
              <a:rPr lang="en-US" sz="2200" dirty="0">
                <a:solidFill>
                  <a:srgbClr val="BB99FF"/>
                </a:solidFill>
                <a:latin typeface="Calibri" pitchFamily="34" charset="0"/>
                <a:ea typeface="Calibri" pitchFamily="34" charset="-122"/>
                <a:cs typeface="Calibri" pitchFamily="34" charset="-120"/>
              </a:rPr>
              <a:t>RCA → Slack</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914400" y="457200"/>
            <a:ext cx="10058400" cy="91440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What I Learned</a:t>
            </a:r>
            <a:endParaRPr lang="en-US" sz="3600" dirty="0"/>
          </a:p>
        </p:txBody>
      </p:sp>
      <p:sp>
        <p:nvSpPr>
          <p:cNvPr id="3" name="Shape 1"/>
          <p:cNvSpPr/>
          <p:nvPr/>
        </p:nvSpPr>
        <p:spPr>
          <a:xfrm>
            <a:off x="1097280" y="1645920"/>
            <a:ext cx="109728" cy="914400"/>
          </a:xfrm>
          <a:prstGeom prst="rect">
            <a:avLst/>
          </a:prstGeom>
          <a:solidFill>
            <a:srgbClr val="FFB800"/>
          </a:solidFill>
          <a:ln/>
        </p:spPr>
        <p:txBody>
          <a:bodyPr/>
          <a:lstStyle/>
          <a:p>
            <a:endParaRPr lang="en-US"/>
          </a:p>
        </p:txBody>
      </p:sp>
      <p:sp>
        <p:nvSpPr>
          <p:cNvPr id="4" name="Text 2"/>
          <p:cNvSpPr/>
          <p:nvPr/>
        </p:nvSpPr>
        <p:spPr>
          <a:xfrm>
            <a:off x="1645920" y="1645920"/>
            <a:ext cx="9144000" cy="914400"/>
          </a:xfrm>
          <a:prstGeom prst="rect">
            <a:avLst/>
          </a:prstGeom>
          <a:noFill/>
          <a:ln/>
        </p:spPr>
        <p:txBody>
          <a:bodyPr wrap="square" lIns="0" tIns="0" rIns="0" bIns="0" rtlCol="0" anchor="ctr"/>
          <a:lstStyle/>
          <a:p>
            <a:pPr marL="0" indent="0">
              <a:buNone/>
            </a:pPr>
            <a:r>
              <a:rPr lang="en-US" sz="2400" dirty="0">
                <a:solidFill>
                  <a:srgbClr val="FFFFFF"/>
                </a:solidFill>
                <a:latin typeface="Calibri" pitchFamily="34" charset="0"/>
                <a:ea typeface="Calibri" pitchFamily="34" charset="-122"/>
                <a:cs typeface="Calibri" pitchFamily="34" charset="-120"/>
              </a:rPr>
              <a:t>Guardrails are harder than the AI</a:t>
            </a:r>
            <a:endParaRPr lang="en-US" sz="2400" dirty="0"/>
          </a:p>
        </p:txBody>
      </p:sp>
      <p:sp>
        <p:nvSpPr>
          <p:cNvPr id="5" name="Shape 3"/>
          <p:cNvSpPr/>
          <p:nvPr/>
        </p:nvSpPr>
        <p:spPr>
          <a:xfrm>
            <a:off x="1097280" y="2926080"/>
            <a:ext cx="109728" cy="914400"/>
          </a:xfrm>
          <a:prstGeom prst="rect">
            <a:avLst/>
          </a:prstGeom>
          <a:solidFill>
            <a:srgbClr val="FFB800"/>
          </a:solidFill>
          <a:ln/>
        </p:spPr>
        <p:txBody>
          <a:bodyPr/>
          <a:lstStyle/>
          <a:p>
            <a:endParaRPr lang="en-US"/>
          </a:p>
        </p:txBody>
      </p:sp>
      <p:sp>
        <p:nvSpPr>
          <p:cNvPr id="6" name="Text 4"/>
          <p:cNvSpPr/>
          <p:nvPr/>
        </p:nvSpPr>
        <p:spPr>
          <a:xfrm>
            <a:off x="1645920" y="2926080"/>
            <a:ext cx="9144000" cy="914400"/>
          </a:xfrm>
          <a:prstGeom prst="rect">
            <a:avLst/>
          </a:prstGeom>
          <a:noFill/>
          <a:ln/>
        </p:spPr>
        <p:txBody>
          <a:bodyPr wrap="square" lIns="0" tIns="0" rIns="0" bIns="0" rtlCol="0" anchor="ctr"/>
          <a:lstStyle/>
          <a:p>
            <a:pPr marL="0" indent="0">
              <a:buNone/>
            </a:pPr>
            <a:r>
              <a:rPr lang="en-US" sz="2400" dirty="0">
                <a:solidFill>
                  <a:srgbClr val="FFFFFF"/>
                </a:solidFill>
                <a:latin typeface="Calibri" pitchFamily="34" charset="0"/>
                <a:ea typeface="Calibri" pitchFamily="34" charset="-122"/>
                <a:cs typeface="Calibri" pitchFamily="34" charset="-120"/>
              </a:rPr>
              <a:t>LLM latency = cluster broken while AI thinks</a:t>
            </a:r>
            <a:endParaRPr lang="en-US" sz="2400" dirty="0"/>
          </a:p>
        </p:txBody>
      </p:sp>
      <p:sp>
        <p:nvSpPr>
          <p:cNvPr id="7" name="Shape 5"/>
          <p:cNvSpPr/>
          <p:nvPr/>
        </p:nvSpPr>
        <p:spPr>
          <a:xfrm>
            <a:off x="1097280" y="4206240"/>
            <a:ext cx="109728" cy="914400"/>
          </a:xfrm>
          <a:prstGeom prst="rect">
            <a:avLst/>
          </a:prstGeom>
          <a:solidFill>
            <a:srgbClr val="FFB800"/>
          </a:solidFill>
          <a:ln/>
        </p:spPr>
        <p:txBody>
          <a:bodyPr/>
          <a:lstStyle/>
          <a:p>
            <a:endParaRPr lang="en-US"/>
          </a:p>
        </p:txBody>
      </p:sp>
      <p:sp>
        <p:nvSpPr>
          <p:cNvPr id="8" name="Text 6"/>
          <p:cNvSpPr/>
          <p:nvPr/>
        </p:nvSpPr>
        <p:spPr>
          <a:xfrm>
            <a:off x="1645920" y="4206240"/>
            <a:ext cx="9144000" cy="914400"/>
          </a:xfrm>
          <a:prstGeom prst="rect">
            <a:avLst/>
          </a:prstGeom>
          <a:noFill/>
          <a:ln/>
        </p:spPr>
        <p:txBody>
          <a:bodyPr wrap="square" lIns="0" tIns="0" rIns="0" bIns="0" rtlCol="0" anchor="ctr"/>
          <a:lstStyle/>
          <a:p>
            <a:pPr marL="0" indent="0">
              <a:buNone/>
            </a:pPr>
            <a:r>
              <a:rPr lang="en-US" sz="2400" dirty="0">
                <a:solidFill>
                  <a:srgbClr val="FFFFFF"/>
                </a:solidFill>
                <a:latin typeface="Calibri" pitchFamily="34" charset="0"/>
                <a:ea typeface="Calibri" pitchFamily="34" charset="-122"/>
                <a:cs typeface="Calibri" pitchFamily="34" charset="-120"/>
              </a:rPr>
              <a:t>AI is non-deterministic — scores vary</a:t>
            </a:r>
            <a:endParaRPr lang="en-US" sz="2400" dirty="0"/>
          </a:p>
        </p:txBody>
      </p:sp>
      <p:sp>
        <p:nvSpPr>
          <p:cNvPr id="9" name="Shape 7"/>
          <p:cNvSpPr/>
          <p:nvPr/>
        </p:nvSpPr>
        <p:spPr>
          <a:xfrm>
            <a:off x="1097280" y="5486400"/>
            <a:ext cx="109728" cy="914400"/>
          </a:xfrm>
          <a:prstGeom prst="rect">
            <a:avLst/>
          </a:prstGeom>
          <a:solidFill>
            <a:srgbClr val="FFB800"/>
          </a:solidFill>
          <a:ln/>
        </p:spPr>
        <p:txBody>
          <a:bodyPr/>
          <a:lstStyle/>
          <a:p>
            <a:endParaRPr lang="en-US"/>
          </a:p>
        </p:txBody>
      </p:sp>
      <p:sp>
        <p:nvSpPr>
          <p:cNvPr id="10" name="Text 8"/>
          <p:cNvSpPr/>
          <p:nvPr/>
        </p:nvSpPr>
        <p:spPr>
          <a:xfrm>
            <a:off x="1645920" y="5486400"/>
            <a:ext cx="9144000" cy="914400"/>
          </a:xfrm>
          <a:prstGeom prst="rect">
            <a:avLst/>
          </a:prstGeom>
          <a:noFill/>
          <a:ln/>
        </p:spPr>
        <p:txBody>
          <a:bodyPr wrap="square" lIns="0" tIns="0" rIns="0" bIns="0" rtlCol="0" anchor="ctr"/>
          <a:lstStyle/>
          <a:p>
            <a:pPr marL="0" indent="0">
              <a:buNone/>
            </a:pPr>
            <a:r>
              <a:rPr lang="en-US" sz="2400" dirty="0">
                <a:solidFill>
                  <a:srgbClr val="FFFFFF"/>
                </a:solidFill>
                <a:latin typeface="Calibri" pitchFamily="34" charset="0"/>
                <a:ea typeface="Calibri" pitchFamily="34" charset="-122"/>
                <a:cs typeface="Calibri" pitchFamily="34" charset="-120"/>
              </a:rPr>
              <a:t>Start conservative. Graduate trust.</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914400" y="457200"/>
            <a:ext cx="10058400" cy="91440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The Tools</a:t>
            </a:r>
            <a:endParaRPr lang="en-US" sz="3600" dirty="0"/>
          </a:p>
        </p:txBody>
      </p:sp>
      <p:sp>
        <p:nvSpPr>
          <p:cNvPr id="3" name="Text 1"/>
          <p:cNvSpPr/>
          <p:nvPr/>
        </p:nvSpPr>
        <p:spPr>
          <a:xfrm>
            <a:off x="5486400" y="548640"/>
            <a:ext cx="4572000" cy="731520"/>
          </a:xfrm>
          <a:prstGeom prst="rect">
            <a:avLst/>
          </a:prstGeom>
          <a:noFill/>
          <a:ln/>
        </p:spPr>
        <p:txBody>
          <a:bodyPr wrap="square" lIns="0" tIns="0" rIns="0" bIns="0" rtlCol="0" anchor="ctr"/>
          <a:lstStyle/>
          <a:p>
            <a:pPr marL="0" indent="0">
              <a:buNone/>
            </a:pPr>
            <a:r>
              <a:rPr lang="en-US" sz="2200" dirty="0">
                <a:solidFill>
                  <a:srgbClr val="00BFA5"/>
                </a:solidFill>
                <a:latin typeface="Calibri" pitchFamily="34" charset="0"/>
                <a:ea typeface="Calibri" pitchFamily="34" charset="-122"/>
                <a:cs typeface="Calibri" pitchFamily="34" charset="-120"/>
              </a:rPr>
              <a:t>All Open Source</a:t>
            </a:r>
            <a:endParaRPr lang="en-US" sz="2200" dirty="0"/>
          </a:p>
        </p:txBody>
      </p:sp>
      <p:sp>
        <p:nvSpPr>
          <p:cNvPr id="4" name="Shape 2"/>
          <p:cNvSpPr/>
          <p:nvPr/>
        </p:nvSpPr>
        <p:spPr>
          <a:xfrm>
            <a:off x="1097280" y="1645920"/>
            <a:ext cx="109728" cy="914400"/>
          </a:xfrm>
          <a:prstGeom prst="rect">
            <a:avLst/>
          </a:prstGeom>
          <a:solidFill>
            <a:srgbClr val="00BFA5"/>
          </a:solidFill>
          <a:ln/>
        </p:spPr>
        <p:txBody>
          <a:bodyPr/>
          <a:lstStyle/>
          <a:p>
            <a:endParaRPr lang="en-US"/>
          </a:p>
        </p:txBody>
      </p:sp>
      <p:sp>
        <p:nvSpPr>
          <p:cNvPr id="5" name="Text 3"/>
          <p:cNvSpPr/>
          <p:nvPr/>
        </p:nvSpPr>
        <p:spPr>
          <a:xfrm>
            <a:off x="1645920" y="1645920"/>
            <a:ext cx="4572000" cy="5486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K8sGPT</a:t>
            </a:r>
            <a:endParaRPr lang="en-US" sz="2600" dirty="0"/>
          </a:p>
        </p:txBody>
      </p:sp>
      <p:sp>
        <p:nvSpPr>
          <p:cNvPr id="6" name="Text 4"/>
          <p:cNvSpPr/>
          <p:nvPr/>
        </p:nvSpPr>
        <p:spPr>
          <a:xfrm>
            <a:off x="1645920" y="2103120"/>
            <a:ext cx="4572000" cy="457200"/>
          </a:xfrm>
          <a:prstGeom prst="rect">
            <a:avLst/>
          </a:prstGeom>
          <a:noFill/>
          <a:ln/>
        </p:spPr>
        <p:txBody>
          <a:bodyPr wrap="square" lIns="0" tIns="0" rIns="0" bIns="0" rtlCol="0" anchor="ctr"/>
          <a:lstStyle/>
          <a:p>
            <a:pPr marL="0" indent="0">
              <a:buNone/>
            </a:pPr>
            <a:r>
              <a:rPr lang="en-US" sz="2000" dirty="0">
                <a:solidFill>
                  <a:srgbClr val="00BFA5"/>
                </a:solidFill>
                <a:latin typeface="Calibri" pitchFamily="34" charset="0"/>
                <a:ea typeface="Calibri" pitchFamily="34" charset="-122"/>
                <a:cs typeface="Calibri" pitchFamily="34" charset="-120"/>
              </a:rPr>
              <a:t>CNCF Sandbox</a:t>
            </a:r>
            <a:endParaRPr lang="en-US" sz="2000" dirty="0"/>
          </a:p>
        </p:txBody>
      </p:sp>
      <p:sp>
        <p:nvSpPr>
          <p:cNvPr id="7" name="Shape 5"/>
          <p:cNvSpPr/>
          <p:nvPr/>
        </p:nvSpPr>
        <p:spPr>
          <a:xfrm>
            <a:off x="1097280" y="2926080"/>
            <a:ext cx="109728" cy="914400"/>
          </a:xfrm>
          <a:prstGeom prst="rect">
            <a:avLst/>
          </a:prstGeom>
          <a:solidFill>
            <a:srgbClr val="7C3AED"/>
          </a:solidFill>
          <a:ln/>
        </p:spPr>
        <p:txBody>
          <a:bodyPr/>
          <a:lstStyle/>
          <a:p>
            <a:endParaRPr lang="en-US"/>
          </a:p>
        </p:txBody>
      </p:sp>
      <p:sp>
        <p:nvSpPr>
          <p:cNvPr id="8" name="Text 6"/>
          <p:cNvSpPr/>
          <p:nvPr/>
        </p:nvSpPr>
        <p:spPr>
          <a:xfrm>
            <a:off x="1645920" y="2926080"/>
            <a:ext cx="4572000" cy="5486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HolmesGPT</a:t>
            </a:r>
            <a:endParaRPr lang="en-US" sz="2600" dirty="0"/>
          </a:p>
        </p:txBody>
      </p:sp>
      <p:sp>
        <p:nvSpPr>
          <p:cNvPr id="9" name="Text 7"/>
          <p:cNvSpPr/>
          <p:nvPr/>
        </p:nvSpPr>
        <p:spPr>
          <a:xfrm>
            <a:off x="1645920" y="3383280"/>
            <a:ext cx="4572000" cy="457200"/>
          </a:xfrm>
          <a:prstGeom prst="rect">
            <a:avLst/>
          </a:prstGeom>
          <a:noFill/>
          <a:ln/>
        </p:spPr>
        <p:txBody>
          <a:bodyPr wrap="square" lIns="0" tIns="0" rIns="0" bIns="0" rtlCol="0" anchor="ctr"/>
          <a:lstStyle/>
          <a:p>
            <a:pPr marL="0" indent="0">
              <a:buNone/>
            </a:pPr>
            <a:r>
              <a:rPr lang="en-US" sz="2000" dirty="0">
                <a:solidFill>
                  <a:srgbClr val="7C3AED"/>
                </a:solidFill>
                <a:latin typeface="Calibri" pitchFamily="34" charset="0"/>
                <a:ea typeface="Calibri" pitchFamily="34" charset="-122"/>
                <a:cs typeface="Calibri" pitchFamily="34" charset="-120"/>
              </a:rPr>
              <a:t>CNCF Sandbox</a:t>
            </a:r>
            <a:endParaRPr lang="en-US" sz="2000" dirty="0"/>
          </a:p>
        </p:txBody>
      </p:sp>
      <p:sp>
        <p:nvSpPr>
          <p:cNvPr id="10" name="Shape 8"/>
          <p:cNvSpPr/>
          <p:nvPr/>
        </p:nvSpPr>
        <p:spPr>
          <a:xfrm>
            <a:off x="1097280" y="4206240"/>
            <a:ext cx="109728" cy="914400"/>
          </a:xfrm>
          <a:prstGeom prst="rect">
            <a:avLst/>
          </a:prstGeom>
          <a:solidFill>
            <a:srgbClr val="FF6B35"/>
          </a:solidFill>
          <a:ln/>
        </p:spPr>
        <p:txBody>
          <a:bodyPr/>
          <a:lstStyle/>
          <a:p>
            <a:endParaRPr lang="en-US"/>
          </a:p>
        </p:txBody>
      </p:sp>
      <p:sp>
        <p:nvSpPr>
          <p:cNvPr id="11" name="Text 9"/>
          <p:cNvSpPr/>
          <p:nvPr/>
        </p:nvSpPr>
        <p:spPr>
          <a:xfrm>
            <a:off x="1645920" y="4206240"/>
            <a:ext cx="4572000" cy="5486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Kyverno</a:t>
            </a:r>
            <a:endParaRPr lang="en-US" sz="2600" dirty="0"/>
          </a:p>
        </p:txBody>
      </p:sp>
      <p:sp>
        <p:nvSpPr>
          <p:cNvPr id="12" name="Text 10"/>
          <p:cNvSpPr/>
          <p:nvPr/>
        </p:nvSpPr>
        <p:spPr>
          <a:xfrm>
            <a:off x="1645920" y="4663440"/>
            <a:ext cx="4572000" cy="457200"/>
          </a:xfrm>
          <a:prstGeom prst="rect">
            <a:avLst/>
          </a:prstGeom>
          <a:noFill/>
          <a:ln/>
        </p:spPr>
        <p:txBody>
          <a:bodyPr wrap="square" lIns="0" tIns="0" rIns="0" bIns="0" rtlCol="0" anchor="ctr"/>
          <a:lstStyle/>
          <a:p>
            <a:pPr marL="0" indent="0">
              <a:buNone/>
            </a:pPr>
            <a:r>
              <a:rPr lang="en-US" sz="2000" dirty="0">
                <a:solidFill>
                  <a:srgbClr val="FF6B35"/>
                </a:solidFill>
                <a:latin typeface="Calibri" pitchFamily="34" charset="0"/>
                <a:ea typeface="Calibri" pitchFamily="34" charset="-122"/>
                <a:cs typeface="Calibri" pitchFamily="34" charset="-120"/>
              </a:rPr>
              <a:t>CNCF Graduated</a:t>
            </a:r>
            <a:endParaRPr lang="en-US" sz="2000" dirty="0"/>
          </a:p>
        </p:txBody>
      </p:sp>
      <p:sp>
        <p:nvSpPr>
          <p:cNvPr id="13" name="Shape 11"/>
          <p:cNvSpPr/>
          <p:nvPr/>
        </p:nvSpPr>
        <p:spPr>
          <a:xfrm>
            <a:off x="1097280" y="5486400"/>
            <a:ext cx="109728" cy="914400"/>
          </a:xfrm>
          <a:prstGeom prst="rect">
            <a:avLst/>
          </a:prstGeom>
          <a:solidFill>
            <a:srgbClr val="FFB800"/>
          </a:solidFill>
          <a:ln/>
        </p:spPr>
        <p:txBody>
          <a:bodyPr/>
          <a:lstStyle/>
          <a:p>
            <a:endParaRPr lang="en-US"/>
          </a:p>
        </p:txBody>
      </p:sp>
      <p:sp>
        <p:nvSpPr>
          <p:cNvPr id="14" name="Text 12"/>
          <p:cNvSpPr/>
          <p:nvPr/>
        </p:nvSpPr>
        <p:spPr>
          <a:xfrm>
            <a:off x="1645920" y="5486400"/>
            <a:ext cx="4572000" cy="5486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Amazon Bedrock</a:t>
            </a:r>
            <a:endParaRPr lang="en-US" sz="2600" dirty="0"/>
          </a:p>
        </p:txBody>
      </p:sp>
      <p:sp>
        <p:nvSpPr>
          <p:cNvPr id="15" name="Text 13"/>
          <p:cNvSpPr/>
          <p:nvPr/>
        </p:nvSpPr>
        <p:spPr>
          <a:xfrm>
            <a:off x="1645920" y="5943600"/>
            <a:ext cx="4572000" cy="457200"/>
          </a:xfrm>
          <a:prstGeom prst="rect">
            <a:avLst/>
          </a:prstGeom>
          <a:noFill/>
          <a:ln/>
        </p:spPr>
        <p:txBody>
          <a:bodyPr wrap="square" lIns="0" tIns="0" rIns="0" bIns="0" rtlCol="0" anchor="ctr"/>
          <a:lstStyle/>
          <a:p>
            <a:pPr marL="0" indent="0">
              <a:buNone/>
            </a:pPr>
            <a:r>
              <a:rPr lang="en-US" sz="2000" dirty="0">
                <a:solidFill>
                  <a:srgbClr val="FFB800"/>
                </a:solidFill>
                <a:latin typeface="Calibri" pitchFamily="34" charset="0"/>
                <a:ea typeface="Calibri" pitchFamily="34" charset="-122"/>
                <a:cs typeface="Calibri" pitchFamily="34" charset="-120"/>
              </a:rPr>
              <a:t>Swap for any LLM</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914400" y="457200"/>
            <a:ext cx="10058400" cy="91440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Your Blueprint</a:t>
            </a:r>
            <a:endParaRPr lang="en-US" sz="3600" dirty="0"/>
          </a:p>
        </p:txBody>
      </p:sp>
      <p:sp>
        <p:nvSpPr>
          <p:cNvPr id="3" name="Text 1"/>
          <p:cNvSpPr/>
          <p:nvPr/>
        </p:nvSpPr>
        <p:spPr>
          <a:xfrm>
            <a:off x="1097280" y="1554480"/>
            <a:ext cx="731520" cy="731520"/>
          </a:xfrm>
          <a:prstGeom prst="rect">
            <a:avLst/>
          </a:prstGeom>
          <a:noFill/>
          <a:ln/>
        </p:spPr>
        <p:txBody>
          <a:bodyPr wrap="square" lIns="0" tIns="0" rIns="0" bIns="0" rtlCol="0" anchor="ctr"/>
          <a:lstStyle/>
          <a:p>
            <a:pPr marL="0" indent="0" algn="ctr">
              <a:buNone/>
            </a:pPr>
            <a:r>
              <a:rPr lang="en-US" sz="2800" b="1" dirty="0">
                <a:solidFill>
                  <a:srgbClr val="00BFA5"/>
                </a:solidFill>
                <a:latin typeface="Calibri" pitchFamily="34" charset="0"/>
                <a:ea typeface="Calibri" pitchFamily="34" charset="-122"/>
                <a:cs typeface="Calibri" pitchFamily="34" charset="-120"/>
              </a:rPr>
              <a:t>1</a:t>
            </a:r>
            <a:endParaRPr lang="en-US" sz="2800" dirty="0"/>
          </a:p>
        </p:txBody>
      </p:sp>
      <p:sp>
        <p:nvSpPr>
          <p:cNvPr id="4" name="Text 2"/>
          <p:cNvSpPr/>
          <p:nvPr/>
        </p:nvSpPr>
        <p:spPr>
          <a:xfrm>
            <a:off x="2011680" y="1554480"/>
            <a:ext cx="8229600" cy="731520"/>
          </a:xfrm>
          <a:prstGeom prst="rect">
            <a:avLst/>
          </a:prstGeom>
          <a:noFill/>
          <a:ln/>
        </p:spPr>
        <p:txBody>
          <a:bodyPr wrap="square" lIns="0" tIns="0" rIns="0" bIns="0" rtlCol="0" anchor="ctr"/>
          <a:lstStyle/>
          <a:p>
            <a:pPr marL="0" indent="0">
              <a:buNone/>
            </a:pPr>
            <a:r>
              <a:rPr lang="en-US" sz="2400" dirty="0">
                <a:solidFill>
                  <a:srgbClr val="FFFFFF"/>
                </a:solidFill>
                <a:latin typeface="Calibri" pitchFamily="34" charset="0"/>
                <a:ea typeface="Calibri" pitchFamily="34" charset="-122"/>
                <a:cs typeface="Calibri" pitchFamily="34" charset="-120"/>
              </a:rPr>
              <a:t>Deploy K8sGPT + Bedrock</a:t>
            </a:r>
            <a:endParaRPr lang="en-US" sz="2400" dirty="0"/>
          </a:p>
        </p:txBody>
      </p:sp>
      <p:sp>
        <p:nvSpPr>
          <p:cNvPr id="5" name="Text 3"/>
          <p:cNvSpPr/>
          <p:nvPr/>
        </p:nvSpPr>
        <p:spPr>
          <a:xfrm>
            <a:off x="1097280" y="2560320"/>
            <a:ext cx="731520" cy="731520"/>
          </a:xfrm>
          <a:prstGeom prst="rect">
            <a:avLst/>
          </a:prstGeom>
          <a:noFill/>
          <a:ln/>
        </p:spPr>
        <p:txBody>
          <a:bodyPr wrap="square" lIns="0" tIns="0" rIns="0" bIns="0" rtlCol="0" anchor="ctr"/>
          <a:lstStyle/>
          <a:p>
            <a:pPr marL="0" indent="0" algn="ctr">
              <a:buNone/>
            </a:pPr>
            <a:r>
              <a:rPr lang="en-US" sz="2800" b="1" dirty="0">
                <a:solidFill>
                  <a:srgbClr val="00BFA5"/>
                </a:solidFill>
                <a:latin typeface="Calibri" pitchFamily="34" charset="0"/>
                <a:ea typeface="Calibri" pitchFamily="34" charset="-122"/>
                <a:cs typeface="Calibri" pitchFamily="34" charset="-120"/>
              </a:rPr>
              <a:t>2</a:t>
            </a:r>
            <a:endParaRPr lang="en-US" sz="2800" dirty="0"/>
          </a:p>
        </p:txBody>
      </p:sp>
      <p:sp>
        <p:nvSpPr>
          <p:cNvPr id="6" name="Text 4"/>
          <p:cNvSpPr/>
          <p:nvPr/>
        </p:nvSpPr>
        <p:spPr>
          <a:xfrm>
            <a:off x="2011680" y="2560320"/>
            <a:ext cx="8229600" cy="731520"/>
          </a:xfrm>
          <a:prstGeom prst="rect">
            <a:avLst/>
          </a:prstGeom>
          <a:noFill/>
          <a:ln/>
        </p:spPr>
        <p:txBody>
          <a:bodyPr wrap="square" lIns="0" tIns="0" rIns="0" bIns="0" rtlCol="0" anchor="ctr"/>
          <a:lstStyle/>
          <a:p>
            <a:pPr marL="0" indent="0">
              <a:buNone/>
            </a:pPr>
            <a:r>
              <a:rPr lang="en-US" sz="2400" dirty="0">
                <a:solidFill>
                  <a:srgbClr val="FFFFFF"/>
                </a:solidFill>
                <a:latin typeface="Calibri" pitchFamily="34" charset="0"/>
                <a:ea typeface="Calibri" pitchFamily="34" charset="-122"/>
                <a:cs typeface="Calibri" pitchFamily="34" charset="-120"/>
              </a:rPr>
              <a:t>Auto-remediate in non-prod</a:t>
            </a:r>
            <a:endParaRPr lang="en-US" sz="2400" dirty="0"/>
          </a:p>
        </p:txBody>
      </p:sp>
      <p:sp>
        <p:nvSpPr>
          <p:cNvPr id="7" name="Text 5"/>
          <p:cNvSpPr/>
          <p:nvPr/>
        </p:nvSpPr>
        <p:spPr>
          <a:xfrm>
            <a:off x="1097280" y="3566160"/>
            <a:ext cx="731520" cy="731520"/>
          </a:xfrm>
          <a:prstGeom prst="rect">
            <a:avLst/>
          </a:prstGeom>
          <a:noFill/>
          <a:ln/>
        </p:spPr>
        <p:txBody>
          <a:bodyPr wrap="square" lIns="0" tIns="0" rIns="0" bIns="0" rtlCol="0" anchor="ctr"/>
          <a:lstStyle/>
          <a:p>
            <a:pPr marL="0" indent="0" algn="ctr">
              <a:buNone/>
            </a:pPr>
            <a:r>
              <a:rPr lang="en-US" sz="2800" b="1" dirty="0">
                <a:solidFill>
                  <a:srgbClr val="00BFA5"/>
                </a:solidFill>
                <a:latin typeface="Calibri" pitchFamily="34" charset="0"/>
                <a:ea typeface="Calibri" pitchFamily="34" charset="-122"/>
                <a:cs typeface="Calibri" pitchFamily="34" charset="-120"/>
              </a:rPr>
              <a:t>3</a:t>
            </a:r>
            <a:endParaRPr lang="en-US" sz="2800" dirty="0"/>
          </a:p>
        </p:txBody>
      </p:sp>
      <p:sp>
        <p:nvSpPr>
          <p:cNvPr id="8" name="Text 6"/>
          <p:cNvSpPr/>
          <p:nvPr/>
        </p:nvSpPr>
        <p:spPr>
          <a:xfrm>
            <a:off x="2011680" y="3566160"/>
            <a:ext cx="8229600" cy="731520"/>
          </a:xfrm>
          <a:prstGeom prst="rect">
            <a:avLst/>
          </a:prstGeom>
          <a:noFill/>
          <a:ln/>
        </p:spPr>
        <p:txBody>
          <a:bodyPr wrap="square" lIns="0" tIns="0" rIns="0" bIns="0" rtlCol="0" anchor="ctr"/>
          <a:lstStyle/>
          <a:p>
            <a:pPr marL="0" indent="0">
              <a:buNone/>
            </a:pPr>
            <a:r>
              <a:rPr lang="en-US" sz="2400" dirty="0">
                <a:solidFill>
                  <a:srgbClr val="FFFFFF"/>
                </a:solidFill>
                <a:latin typeface="Calibri" pitchFamily="34" charset="0"/>
                <a:ea typeface="Calibri" pitchFamily="34" charset="-122"/>
                <a:cs typeface="Calibri" pitchFamily="34" charset="-120"/>
              </a:rPr>
              <a:t>Add Kyverno for critical</a:t>
            </a:r>
            <a:endParaRPr lang="en-US" sz="2400" dirty="0"/>
          </a:p>
        </p:txBody>
      </p:sp>
      <p:sp>
        <p:nvSpPr>
          <p:cNvPr id="9" name="Text 7"/>
          <p:cNvSpPr/>
          <p:nvPr/>
        </p:nvSpPr>
        <p:spPr>
          <a:xfrm>
            <a:off x="1097280" y="4572000"/>
            <a:ext cx="731520" cy="731520"/>
          </a:xfrm>
          <a:prstGeom prst="rect">
            <a:avLst/>
          </a:prstGeom>
          <a:noFill/>
          <a:ln/>
        </p:spPr>
        <p:txBody>
          <a:bodyPr wrap="square" lIns="0" tIns="0" rIns="0" bIns="0" rtlCol="0" anchor="ctr"/>
          <a:lstStyle/>
          <a:p>
            <a:pPr marL="0" indent="0" algn="ctr">
              <a:buNone/>
            </a:pPr>
            <a:r>
              <a:rPr lang="en-US" sz="2800" b="1" dirty="0">
                <a:solidFill>
                  <a:srgbClr val="00BFA5"/>
                </a:solidFill>
                <a:latin typeface="Calibri" pitchFamily="34" charset="0"/>
                <a:ea typeface="Calibri" pitchFamily="34" charset="-122"/>
                <a:cs typeface="Calibri" pitchFamily="34" charset="-120"/>
              </a:rPr>
              <a:t>4</a:t>
            </a:r>
            <a:endParaRPr lang="en-US" sz="2800" dirty="0"/>
          </a:p>
        </p:txBody>
      </p:sp>
      <p:sp>
        <p:nvSpPr>
          <p:cNvPr id="10" name="Text 8"/>
          <p:cNvSpPr/>
          <p:nvPr/>
        </p:nvSpPr>
        <p:spPr>
          <a:xfrm>
            <a:off x="2011680" y="4572000"/>
            <a:ext cx="8229600" cy="731520"/>
          </a:xfrm>
          <a:prstGeom prst="rect">
            <a:avLst/>
          </a:prstGeom>
          <a:noFill/>
          <a:ln/>
        </p:spPr>
        <p:txBody>
          <a:bodyPr wrap="square" lIns="0" tIns="0" rIns="0" bIns="0" rtlCol="0" anchor="ctr"/>
          <a:lstStyle/>
          <a:p>
            <a:pPr marL="0" indent="0">
              <a:buNone/>
            </a:pPr>
            <a:r>
              <a:rPr lang="en-US" sz="2400" dirty="0">
                <a:solidFill>
                  <a:srgbClr val="FFFFFF"/>
                </a:solidFill>
                <a:latin typeface="Calibri" pitchFamily="34" charset="0"/>
                <a:ea typeface="Calibri" pitchFamily="34" charset="-122"/>
                <a:cs typeface="Calibri" pitchFamily="34" charset="-120"/>
              </a:rPr>
              <a:t>Layer HolmesGPT</a:t>
            </a:r>
            <a:endParaRPr lang="en-US" sz="2400" dirty="0"/>
          </a:p>
        </p:txBody>
      </p:sp>
      <p:sp>
        <p:nvSpPr>
          <p:cNvPr id="11" name="Text 9"/>
          <p:cNvSpPr/>
          <p:nvPr/>
        </p:nvSpPr>
        <p:spPr>
          <a:xfrm>
            <a:off x="1097280" y="5577840"/>
            <a:ext cx="731520" cy="731520"/>
          </a:xfrm>
          <a:prstGeom prst="rect">
            <a:avLst/>
          </a:prstGeom>
          <a:noFill/>
          <a:ln/>
        </p:spPr>
        <p:txBody>
          <a:bodyPr wrap="square" lIns="0" tIns="0" rIns="0" bIns="0" rtlCol="0" anchor="ctr"/>
          <a:lstStyle/>
          <a:p>
            <a:pPr marL="0" indent="0" algn="ctr">
              <a:buNone/>
            </a:pPr>
            <a:r>
              <a:rPr lang="en-US" sz="2800" b="1" dirty="0">
                <a:solidFill>
                  <a:srgbClr val="00BFA5"/>
                </a:solidFill>
                <a:latin typeface="Calibri" pitchFamily="34" charset="0"/>
                <a:ea typeface="Calibri" pitchFamily="34" charset="-122"/>
                <a:cs typeface="Calibri" pitchFamily="34" charset="-120"/>
              </a:rPr>
              <a:t>5</a:t>
            </a:r>
            <a:endParaRPr lang="en-US" sz="2800" dirty="0"/>
          </a:p>
        </p:txBody>
      </p:sp>
      <p:sp>
        <p:nvSpPr>
          <p:cNvPr id="12" name="Text 10"/>
          <p:cNvSpPr/>
          <p:nvPr/>
        </p:nvSpPr>
        <p:spPr>
          <a:xfrm>
            <a:off x="2011680" y="5577840"/>
            <a:ext cx="8229600" cy="731520"/>
          </a:xfrm>
          <a:prstGeom prst="rect">
            <a:avLst/>
          </a:prstGeom>
          <a:noFill/>
          <a:ln/>
        </p:spPr>
        <p:txBody>
          <a:bodyPr wrap="square" lIns="0" tIns="0" rIns="0" bIns="0" rtlCol="0" anchor="ctr"/>
          <a:lstStyle/>
          <a:p>
            <a:pPr marL="0" indent="0">
              <a:buNone/>
            </a:pPr>
            <a:r>
              <a:rPr lang="en-US" sz="2400" dirty="0">
                <a:solidFill>
                  <a:srgbClr val="FFFFFF"/>
                </a:solidFill>
                <a:latin typeface="Calibri" pitchFamily="34" charset="0"/>
                <a:ea typeface="Calibri" pitchFamily="34" charset="-122"/>
                <a:cs typeface="Calibri" pitchFamily="34" charset="-120"/>
              </a:rPr>
              <a:t>Graduate trust</a:t>
            </a:r>
            <a:endParaRPr lang="en-US" sz="2400" dirty="0"/>
          </a:p>
        </p:txBody>
      </p:sp>
      <p:sp>
        <p:nvSpPr>
          <p:cNvPr id="13" name="Text 11"/>
          <p:cNvSpPr/>
          <p:nvPr/>
        </p:nvSpPr>
        <p:spPr>
          <a:xfrm>
            <a:off x="914400" y="6400800"/>
            <a:ext cx="10058400" cy="365760"/>
          </a:xfrm>
          <a:prstGeom prst="rect">
            <a:avLst/>
          </a:prstGeom>
          <a:noFill/>
          <a:ln/>
        </p:spPr>
        <p:txBody>
          <a:bodyPr wrap="square" lIns="0" tIns="0" rIns="0" bIns="0" rtlCol="0" anchor="ctr"/>
          <a:lstStyle/>
          <a:p>
            <a:pPr marL="0" indent="0" algn="ctr">
              <a:buNone/>
            </a:pPr>
            <a:r>
              <a:rPr lang="en-US" sz="1800" dirty="0">
                <a:solidFill>
                  <a:srgbClr val="556677"/>
                </a:solidFill>
                <a:latin typeface="Calibri" pitchFamily="34" charset="0"/>
                <a:ea typeface="Calibri" pitchFamily="34" charset="-122"/>
                <a:cs typeface="Calibri" pitchFamily="34" charset="-120"/>
              </a:rPr>
              <a:t>~30 minutes with Helm charts</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0" y="914400"/>
            <a:ext cx="5486400" cy="4572000"/>
          </a:xfrm>
          <a:prstGeom prst="ellipse">
            <a:avLst/>
          </a:prstGeom>
          <a:solidFill>
            <a:srgbClr val="00BFA5">
              <a:alpha val="8000"/>
            </a:srgbClr>
          </a:solidFill>
          <a:ln/>
        </p:spPr>
        <p:txBody>
          <a:bodyPr/>
          <a:lstStyle/>
          <a:p>
            <a:endParaRPr lang="en-US"/>
          </a:p>
        </p:txBody>
      </p:sp>
      <p:sp>
        <p:nvSpPr>
          <p:cNvPr id="3" name="Text 1"/>
          <p:cNvSpPr/>
          <p:nvPr/>
        </p:nvSpPr>
        <p:spPr>
          <a:xfrm>
            <a:off x="1371600" y="1828800"/>
            <a:ext cx="9144000" cy="1097280"/>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The system fixed itself.</a:t>
            </a:r>
            <a:endParaRPr lang="en-US" sz="3200" dirty="0"/>
          </a:p>
        </p:txBody>
      </p:sp>
      <p:sp>
        <p:nvSpPr>
          <p:cNvPr id="4" name="Text 2"/>
          <p:cNvSpPr/>
          <p:nvPr/>
        </p:nvSpPr>
        <p:spPr>
          <a:xfrm>
            <a:off x="1371600" y="3200400"/>
            <a:ext cx="9144000" cy="1371600"/>
          </a:xfrm>
          <a:prstGeom prst="rect">
            <a:avLst/>
          </a:prstGeom>
          <a:noFill/>
          <a:ln/>
        </p:spPr>
        <p:txBody>
          <a:bodyPr wrap="square" lIns="0" tIns="0" rIns="0" bIns="0" rtlCol="0" anchor="ctr"/>
          <a:lstStyle/>
          <a:p>
            <a:pPr marL="0" indent="0" algn="ctr">
              <a:buNone/>
            </a:pPr>
            <a:r>
              <a:rPr lang="en-US" sz="2600" dirty="0">
                <a:solidFill>
                  <a:srgbClr val="99DDCC"/>
                </a:solidFill>
                <a:latin typeface="Calibri" pitchFamily="34" charset="0"/>
                <a:ea typeface="Calibri" pitchFamily="34" charset="-122"/>
                <a:cs typeface="Calibri" pitchFamily="34" charset="-120"/>
              </a:rPr>
              <a:t>And sent you the postmortem</a:t>
            </a:r>
            <a:endParaRPr lang="en-US" sz="2600" dirty="0"/>
          </a:p>
          <a:p>
            <a:pPr marL="0" indent="0" algn="ctr">
              <a:buNone/>
            </a:pPr>
            <a:r>
              <a:rPr lang="en-US" sz="2600" dirty="0">
                <a:solidFill>
                  <a:srgbClr val="99DDCC"/>
                </a:solidFill>
                <a:latin typeface="Calibri" pitchFamily="34" charset="0"/>
                <a:ea typeface="Calibri" pitchFamily="34" charset="-122"/>
                <a:cs typeface="Calibri" pitchFamily="34" charset="-120"/>
              </a:rPr>
              <a:t>by morning.</a:t>
            </a:r>
            <a:endParaRPr lang="en-US" sz="2600" dirty="0"/>
          </a:p>
        </p:txBody>
      </p:sp>
      <p:sp>
        <p:nvSpPr>
          <p:cNvPr id="5" name="Text 3"/>
          <p:cNvSpPr/>
          <p:nvPr/>
        </p:nvSpPr>
        <p:spPr>
          <a:xfrm>
            <a:off x="5029200" y="5029200"/>
            <a:ext cx="1828800" cy="1097280"/>
          </a:xfrm>
          <a:prstGeom prst="rect">
            <a:avLst/>
          </a:prstGeom>
          <a:noFill/>
          <a:ln/>
        </p:spPr>
        <p:txBody>
          <a:bodyPr wrap="square" lIns="0" tIns="0" rIns="0" bIns="0" rtlCol="0" anchor="ctr"/>
          <a:lstStyle/>
          <a:p>
            <a:pPr marL="0" indent="0" algn="ctr">
              <a:buNone/>
            </a:pPr>
            <a:r>
              <a:rPr lang="en-US" sz="5200" dirty="0">
                <a:solidFill>
                  <a:srgbClr val="000000"/>
                </a:solidFill>
              </a:rPr>
              <a:t>☕</a:t>
            </a:r>
            <a:endParaRPr lang="en-US" sz="5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6035040"/>
            <a:ext cx="12161520" cy="822960"/>
          </a:xfrm>
          <a:prstGeom prst="rect">
            <a:avLst/>
          </a:prstGeom>
          <a:solidFill>
            <a:srgbClr val="00BFA5">
              <a:alpha val="30000"/>
            </a:srgbClr>
          </a:solidFill>
          <a:ln/>
        </p:spPr>
        <p:txBody>
          <a:bodyPr/>
          <a:lstStyle/>
          <a:p>
            <a:endParaRPr lang="en-US"/>
          </a:p>
        </p:txBody>
      </p:sp>
      <p:sp>
        <p:nvSpPr>
          <p:cNvPr id="3" name="Text 1"/>
          <p:cNvSpPr/>
          <p:nvPr/>
        </p:nvSpPr>
        <p:spPr>
          <a:xfrm>
            <a:off x="914400" y="1371600"/>
            <a:ext cx="9144000" cy="109728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Thank You</a:t>
            </a:r>
            <a:endParaRPr lang="en-US" sz="4400" dirty="0"/>
          </a:p>
        </p:txBody>
      </p:sp>
      <p:sp>
        <p:nvSpPr>
          <p:cNvPr id="4" name="Text 2"/>
          <p:cNvSpPr/>
          <p:nvPr/>
        </p:nvSpPr>
        <p:spPr>
          <a:xfrm>
            <a:off x="914400" y="2743200"/>
            <a:ext cx="5486400" cy="1371600"/>
          </a:xfrm>
          <a:prstGeom prst="rect">
            <a:avLst/>
          </a:prstGeom>
          <a:noFill/>
          <a:ln/>
        </p:spPr>
        <p:txBody>
          <a:bodyPr wrap="square" lIns="0" tIns="0" rIns="0" bIns="0" rtlCol="0" anchor="ctr"/>
          <a:lstStyle/>
          <a:p>
            <a:pPr marL="0" indent="0">
              <a:buNone/>
            </a:pPr>
            <a:r>
              <a:rPr lang="en-US" sz="2400" dirty="0">
                <a:solidFill>
                  <a:srgbClr val="CCCCCC"/>
                </a:solidFill>
                <a:latin typeface="Calibri" pitchFamily="34" charset="0"/>
                <a:ea typeface="Calibri" pitchFamily="34" charset="-122"/>
                <a:cs typeface="Calibri" pitchFamily="34" charset="-120"/>
              </a:rPr>
              <a:t>Jatin Mehrotra</a:t>
            </a:r>
            <a:endParaRPr lang="en-US" sz="2400" dirty="0"/>
          </a:p>
          <a:p>
            <a:pPr marL="0" indent="0">
              <a:buNone/>
            </a:pPr>
            <a:r>
              <a:rPr lang="en-US" sz="2400" dirty="0">
                <a:solidFill>
                  <a:srgbClr val="CCCCCC"/>
                </a:solidFill>
                <a:latin typeface="Calibri" pitchFamily="34" charset="0"/>
                <a:ea typeface="Calibri" pitchFamily="34" charset="-122"/>
                <a:cs typeface="Calibri" pitchFamily="34" charset="-120"/>
              </a:rPr>
              <a:t>Developer Advocate, AWS</a:t>
            </a:r>
            <a:endParaRPr lang="en-US" sz="2400" dirty="0"/>
          </a:p>
        </p:txBody>
      </p:sp>
      <p:sp>
        <p:nvSpPr>
          <p:cNvPr id="6" name="Text 4"/>
          <p:cNvSpPr/>
          <p:nvPr/>
        </p:nvSpPr>
        <p:spPr>
          <a:xfrm>
            <a:off x="8046720" y="2286000"/>
            <a:ext cx="3200400" cy="548640"/>
          </a:xfrm>
          <a:prstGeom prst="rect">
            <a:avLst/>
          </a:prstGeom>
          <a:noFill/>
          <a:ln/>
        </p:spPr>
        <p:txBody>
          <a:bodyPr wrap="square" lIns="0" tIns="0" rIns="0" bIns="0" rtlCol="0" anchor="ctr"/>
          <a:lstStyle/>
          <a:p>
            <a:pPr marL="0" indent="0" algn="ctr">
              <a:buNone/>
            </a:pPr>
            <a:r>
              <a:rPr lang="en-US" sz="2000" dirty="0">
                <a:solidFill>
                  <a:srgbClr val="99BBCC"/>
                </a:solidFill>
                <a:latin typeface="Calibri" pitchFamily="34" charset="0"/>
                <a:ea typeface="Calibri" pitchFamily="34" charset="-122"/>
                <a:cs typeface="Calibri" pitchFamily="34" charset="-120"/>
              </a:rPr>
              <a:t>Connect with me</a:t>
            </a:r>
            <a:endParaRPr lang="en-US" sz="2000" dirty="0"/>
          </a:p>
        </p:txBody>
      </p:sp>
      <p:pic>
        <p:nvPicPr>
          <p:cNvPr id="7" name="Image 0" descr="artifacts/linkedin_qr.png"/>
          <p:cNvPicPr>
            <a:picLocks noChangeAspect="1"/>
          </p:cNvPicPr>
          <p:nvPr/>
        </p:nvPicPr>
        <p:blipFill>
          <a:blip r:embed="rId3"/>
          <a:stretch>
            <a:fillRect/>
          </a:stretch>
        </p:blipFill>
        <p:spPr>
          <a:xfrm>
            <a:off x="7040880" y="1371600"/>
            <a:ext cx="3566160" cy="3566160"/>
          </a:xfrm>
          <a:prstGeom prst="rect">
            <a:avLst/>
          </a:prstGeom>
        </p:spPr>
      </p:pic>
      <p:sp>
        <p:nvSpPr>
          <p:cNvPr id="8" name="Text 5"/>
          <p:cNvSpPr/>
          <p:nvPr/>
        </p:nvSpPr>
        <p:spPr>
          <a:xfrm>
            <a:off x="7141866" y="5394960"/>
            <a:ext cx="3200400" cy="457200"/>
          </a:xfrm>
          <a:prstGeom prst="rect">
            <a:avLst/>
          </a:prstGeom>
          <a:noFill/>
          <a:ln/>
        </p:spPr>
        <p:txBody>
          <a:bodyPr wrap="square" lIns="0" tIns="0" rIns="0" bIns="0" rtlCol="0" anchor="ctr"/>
          <a:lstStyle/>
          <a:p>
            <a:pPr marL="0" indent="0" algn="ctr">
              <a:buNone/>
            </a:pPr>
            <a:r>
              <a:rPr lang="en-US" sz="1800" dirty="0">
                <a:solidFill>
                  <a:srgbClr val="00BFA5"/>
                </a:solidFill>
                <a:latin typeface="Calibri" pitchFamily="34" charset="0"/>
                <a:ea typeface="Calibri" pitchFamily="34" charset="-122"/>
                <a:cs typeface="Calibri" pitchFamily="34" charset="-120"/>
              </a:rPr>
              <a:t>LinkedIn</a:t>
            </a:r>
            <a:endParaRPr lang="en-US" sz="1800" dirty="0"/>
          </a:p>
        </p:txBody>
      </p:sp>
      <p:sp>
        <p:nvSpPr>
          <p:cNvPr id="9" name="Shape 3">
            <a:extLst>
              <a:ext uri="{FF2B5EF4-FFF2-40B4-BE49-F238E27FC236}">
                <a16:creationId xmlns:a16="http://schemas.microsoft.com/office/drawing/2014/main" id="{21DB4C1D-3433-0C27-C036-DC23EFA18852}"/>
              </a:ext>
            </a:extLst>
          </p:cNvPr>
          <p:cNvSpPr/>
          <p:nvPr/>
        </p:nvSpPr>
        <p:spPr>
          <a:xfrm>
            <a:off x="6720840" y="1051560"/>
            <a:ext cx="4206240" cy="4206240"/>
          </a:xfrm>
          <a:prstGeom prst="roundRect">
            <a:avLst>
              <a:gd name="adj" fmla="val 3261"/>
            </a:avLst>
          </a:prstGeom>
          <a:solidFill>
            <a:srgbClr val="FFFFFF">
              <a:alpha val="5000"/>
            </a:srgbClr>
          </a:solidFill>
          <a:ln w="25400">
            <a:solidFill>
              <a:srgbClr val="00BFA5"/>
            </a:solidFill>
            <a:prstDash val="solid"/>
          </a:ln>
        </p:spPr>
        <p:txBody>
          <a:bodyP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914400" y="914400"/>
            <a:ext cx="5486400" cy="109728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Rate This Talk</a:t>
            </a:r>
            <a:endParaRPr lang="en-US" sz="4000" dirty="0"/>
          </a:p>
        </p:txBody>
      </p:sp>
      <p:sp>
        <p:nvSpPr>
          <p:cNvPr id="3" name="Text 1"/>
          <p:cNvSpPr/>
          <p:nvPr/>
        </p:nvSpPr>
        <p:spPr>
          <a:xfrm>
            <a:off x="914400" y="2011680"/>
            <a:ext cx="5486400" cy="731520"/>
          </a:xfrm>
          <a:prstGeom prst="rect">
            <a:avLst/>
          </a:prstGeom>
          <a:noFill/>
          <a:ln/>
        </p:spPr>
        <p:txBody>
          <a:bodyPr wrap="square" lIns="0" tIns="0" rIns="0" bIns="0" rtlCol="0" anchor="ctr"/>
          <a:lstStyle/>
          <a:p>
            <a:pPr marL="0" indent="0">
              <a:buNone/>
            </a:pPr>
            <a:r>
              <a:rPr lang="en-US" sz="2400" dirty="0">
                <a:solidFill>
                  <a:srgbClr val="99BBCC"/>
                </a:solidFill>
                <a:latin typeface="Calibri" pitchFamily="34" charset="0"/>
                <a:ea typeface="Calibri" pitchFamily="34" charset="-122"/>
                <a:cs typeface="Calibri" pitchFamily="34" charset="-120"/>
              </a:rPr>
              <a:t>Scan to share your feedback</a:t>
            </a:r>
            <a:endParaRPr lang="en-US" sz="2400" dirty="0"/>
          </a:p>
        </p:txBody>
      </p:sp>
      <p:sp>
        <p:nvSpPr>
          <p:cNvPr id="4" name="Text 2"/>
          <p:cNvSpPr/>
          <p:nvPr/>
        </p:nvSpPr>
        <p:spPr>
          <a:xfrm>
            <a:off x="914400" y="3200400"/>
            <a:ext cx="4572000" cy="1097280"/>
          </a:xfrm>
          <a:prstGeom prst="rect">
            <a:avLst/>
          </a:prstGeom>
          <a:noFill/>
          <a:ln/>
        </p:spPr>
        <p:txBody>
          <a:bodyPr wrap="square" lIns="0" tIns="0" rIns="0" bIns="0" rtlCol="0" anchor="ctr"/>
          <a:lstStyle/>
          <a:p>
            <a:pPr marL="0" indent="0">
              <a:buNone/>
            </a:pPr>
            <a:r>
              <a:rPr lang="en-US" sz="2200" dirty="0">
                <a:solidFill>
                  <a:srgbClr val="7799AA"/>
                </a:solidFill>
                <a:latin typeface="Calibri" pitchFamily="34" charset="0"/>
                <a:ea typeface="Calibri" pitchFamily="34" charset="-122"/>
                <a:cs typeface="Calibri" pitchFamily="34" charset="-120"/>
              </a:rPr>
              <a:t>Your feedback helps me</a:t>
            </a:r>
            <a:endParaRPr lang="en-US" sz="2200" dirty="0"/>
          </a:p>
          <a:p>
            <a:pPr marL="0" indent="0">
              <a:buNone/>
            </a:pPr>
            <a:r>
              <a:rPr lang="en-US" sz="2200" dirty="0">
                <a:solidFill>
                  <a:srgbClr val="7799AA"/>
                </a:solidFill>
                <a:latin typeface="Calibri" pitchFamily="34" charset="0"/>
                <a:ea typeface="Calibri" pitchFamily="34" charset="-122"/>
                <a:cs typeface="Calibri" pitchFamily="34" charset="-120"/>
              </a:rPr>
              <a:t>improve future talks!</a:t>
            </a:r>
            <a:endParaRPr lang="en-US" sz="2200" dirty="0"/>
          </a:p>
        </p:txBody>
      </p:sp>
      <p:pic>
        <p:nvPicPr>
          <p:cNvPr id="5" name="Image 0" descr="attached_files/QRCode.png"/>
          <p:cNvPicPr>
            <a:picLocks noChangeAspect="1"/>
          </p:cNvPicPr>
          <p:nvPr/>
        </p:nvPicPr>
        <p:blipFill>
          <a:blip r:embed="rId3"/>
          <a:stretch>
            <a:fillRect/>
          </a:stretch>
        </p:blipFill>
        <p:spPr>
          <a:xfrm>
            <a:off x="7315200" y="1371600"/>
            <a:ext cx="3657600" cy="3657600"/>
          </a:xfrm>
          <a:prstGeom prst="rect">
            <a:avLst/>
          </a:prstGeom>
        </p:spPr>
      </p:pic>
      <p:sp>
        <p:nvSpPr>
          <p:cNvPr id="6" name="Shape 3"/>
          <p:cNvSpPr/>
          <p:nvPr/>
        </p:nvSpPr>
        <p:spPr>
          <a:xfrm>
            <a:off x="7040880" y="1097280"/>
            <a:ext cx="4206240" cy="4206240"/>
          </a:xfrm>
          <a:prstGeom prst="roundRect">
            <a:avLst>
              <a:gd name="adj" fmla="val 3261"/>
            </a:avLst>
          </a:prstGeom>
          <a:solidFill>
            <a:srgbClr val="FFFFFF">
              <a:alpha val="5000"/>
            </a:srgbClr>
          </a:solidFill>
          <a:ln w="25400">
            <a:solidFill>
              <a:srgbClr val="00BFA5"/>
            </a:solidFill>
            <a:prstDash val="solid"/>
          </a:ln>
        </p:spPr>
        <p:txBody>
          <a:bodyPr/>
          <a:lstStyle/>
          <a:p>
            <a:endParaRPr lang="en-US"/>
          </a:p>
        </p:txBody>
      </p:sp>
      <p:sp>
        <p:nvSpPr>
          <p:cNvPr id="7" name="Text 4"/>
          <p:cNvSpPr/>
          <p:nvPr/>
        </p:nvSpPr>
        <p:spPr>
          <a:xfrm>
            <a:off x="7315200" y="5303520"/>
            <a:ext cx="3657600" cy="457200"/>
          </a:xfrm>
          <a:prstGeom prst="rect">
            <a:avLst/>
          </a:prstGeom>
          <a:noFill/>
          <a:ln/>
        </p:spPr>
        <p:txBody>
          <a:bodyPr wrap="square" lIns="0" tIns="0" rIns="0" bIns="0" rtlCol="0" anchor="ctr"/>
          <a:lstStyle/>
          <a:p>
            <a:pPr marL="0" indent="0" algn="ctr">
              <a:buNone/>
            </a:pPr>
            <a:r>
              <a:rPr lang="en-US" sz="1800" dirty="0">
                <a:solidFill>
                  <a:srgbClr val="00BFA5"/>
                </a:solidFill>
                <a:latin typeface="Calibri" pitchFamily="34" charset="0"/>
                <a:ea typeface="Calibri" pitchFamily="34" charset="-122"/>
                <a:cs typeface="Calibri" pitchFamily="34" charset="-120"/>
              </a:rPr>
              <a:t>Feedback</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2798</Words>
  <Application>Microsoft Macintosh PowerPoint</Application>
  <PresentationFormat>Widescreen</PresentationFormat>
  <Paragraphs>226</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Alert to Auto-Fix</dc:title>
  <dc:subject>PptxGenJS Presentation</dc:subject>
  <dc:creator>Jatin Mehrotra</dc:creator>
  <cp:lastModifiedBy>Mehrotra, Jatin</cp:lastModifiedBy>
  <cp:revision>2</cp:revision>
  <dcterms:created xsi:type="dcterms:W3CDTF">2026-06-20T04:07:58Z</dcterms:created>
  <dcterms:modified xsi:type="dcterms:W3CDTF">2026-06-20T04:09:44Z</dcterms:modified>
</cp:coreProperties>
</file>